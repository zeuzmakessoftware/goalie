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3afa67379a4d1c" /><Relationship Type="http://schemas.openxmlformats.org/officeDocument/2006/relationships/extended-properties" Target="/docProps/app.xml" Id="Rec0b87f552a342b4" /><Relationship Type="http://schemas.openxmlformats.org/officeDocument/2006/relationships/officeDocument" Target="/ppt/presentation.xml" Id="Rbef634c35b8c4464" /></Relationships>
</file>

<file path=ppt/presentation.xml><?xml version="1.0" encoding="utf-8"?>
<p:presentation xmlns:p="http://schemas.openxmlformats.org/presentationml/2006/main">
  <p:sldMasterIdLst>
    <p:sldMasterId xmlns:r="http://schemas.openxmlformats.org/officeDocument/2006/relationships" id="2147483648" r:id="R2f9cbdf8549e4ba5"/>
  </p:sldMasterIdLst>
  <p:notesMasterIdLst>
    <p:notesMasterId xmlns:r="http://schemas.openxmlformats.org/officeDocument/2006/relationships" r:id="Rec94d720264548e1"/>
  </p:notesMasterIdLst>
  <p:sldIdLst>
    <p:sldId xmlns:r="http://schemas.openxmlformats.org/officeDocument/2006/relationships" id="256" r:id="R05b63160ab8a43c8"/>
    <p:sldId xmlns:r="http://schemas.openxmlformats.org/officeDocument/2006/relationships" id="257" r:id="R05d66dbecaee4c62"/>
    <p:sldId xmlns:r="http://schemas.openxmlformats.org/officeDocument/2006/relationships" id="258" r:id="Rf493ea5b78a5453b"/>
    <p:sldId xmlns:r="http://schemas.openxmlformats.org/officeDocument/2006/relationships" id="259" r:id="R6631e9b2035a41b5"/>
    <p:sldId xmlns:r="http://schemas.openxmlformats.org/officeDocument/2006/relationships" id="260" r:id="R1681d935c7f34f12"/>
    <p:sldId xmlns:r="http://schemas.openxmlformats.org/officeDocument/2006/relationships" id="261" r:id="R3e50aa077cad4e7d"/>
    <p:sldId xmlns:r="http://schemas.openxmlformats.org/officeDocument/2006/relationships" id="262" r:id="R8a692707fa614190"/>
    <p:sldId xmlns:r="http://schemas.openxmlformats.org/officeDocument/2006/relationships" id="263" r:id="R4977e1e3e3e147bc"/>
    <p:sldId xmlns:r="http://schemas.openxmlformats.org/officeDocument/2006/relationships" id="264" r:id="R7baf0a559cea48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d34bc4c6934dc7" /><Relationship Type="http://schemas.openxmlformats.org/officeDocument/2006/relationships/slideMaster" Target="/ppt/slideMasters/slideMaster1.xml" Id="R2f9cbdf8549e4ba5" /><Relationship Type="http://schemas.openxmlformats.org/officeDocument/2006/relationships/notesMaster" Target="/ppt/notesMasters/notesMaster1.xml" Id="Rec94d720264548e1" /><Relationship Type="http://schemas.openxmlformats.org/officeDocument/2006/relationships/presProps" Target="/ppt/presProps.xml" Id="R4baa364a2766434a" /><Relationship Type="http://schemas.openxmlformats.org/officeDocument/2006/relationships/tableStyles" Target="/ppt/tableStyles.xml" Id="Re9bb259a0a724d96" /><Relationship Type="http://schemas.openxmlformats.org/officeDocument/2006/relationships/slide" Target="/ppt/slides/slide1.xml" Id="R05b63160ab8a43c8" /><Relationship Type="http://schemas.openxmlformats.org/officeDocument/2006/relationships/slide" Target="/ppt/slides/slide2.xml" Id="R05d66dbecaee4c62" /><Relationship Type="http://schemas.openxmlformats.org/officeDocument/2006/relationships/slide" Target="/ppt/slides/slide3.xml" Id="Rf493ea5b78a5453b" /><Relationship Type="http://schemas.openxmlformats.org/officeDocument/2006/relationships/slide" Target="/ppt/slides/slide4.xml" Id="R6631e9b2035a41b5" /><Relationship Type="http://schemas.openxmlformats.org/officeDocument/2006/relationships/slide" Target="/ppt/slides/slide5.xml" Id="R1681d935c7f34f12" /><Relationship Type="http://schemas.openxmlformats.org/officeDocument/2006/relationships/slide" Target="/ppt/slides/slide6.xml" Id="R3e50aa077cad4e7d" /><Relationship Type="http://schemas.openxmlformats.org/officeDocument/2006/relationships/slide" Target="/ppt/slides/slide7.xml" Id="R8a692707fa614190" /><Relationship Type="http://schemas.openxmlformats.org/officeDocument/2006/relationships/slide" Target="/ppt/slides/slide8.xml" Id="R4977e1e3e3e147bc" /><Relationship Type="http://schemas.openxmlformats.org/officeDocument/2006/relationships/slide" Target="/ppt/slides/slide9.xml" Id="R7baf0a559cea48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df0320cd5c47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2613af0d234cbf" /><Relationship Type="http://schemas.openxmlformats.org/officeDocument/2006/relationships/notesMaster" Target="/ppt/notesMasters/notesMaster1.xml" Id="R18c3a2bf5e8646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76aac1d4ab4b7b" /><Relationship Type="http://schemas.openxmlformats.org/officeDocument/2006/relationships/notesMaster" Target="/ppt/notesMasters/notesMaster1.xml" Id="R4a650719c95b45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73ad5bde4e4730" /><Relationship Type="http://schemas.openxmlformats.org/officeDocument/2006/relationships/notesMaster" Target="/ppt/notesMasters/notesMaster1.xml" Id="R01a435522a524a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edff9ba4a84118" /><Relationship Type="http://schemas.openxmlformats.org/officeDocument/2006/relationships/notesMaster" Target="/ppt/notesMasters/notesMaster1.xml" Id="Raf83392f291240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441669add64b19" /><Relationship Type="http://schemas.openxmlformats.org/officeDocument/2006/relationships/notesMaster" Target="/ppt/notesMasters/notesMaster1.xml" Id="R6ed891a702614a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88fedaee6e4241" /><Relationship Type="http://schemas.openxmlformats.org/officeDocument/2006/relationships/notesMaster" Target="/ppt/notesMasters/notesMaster1.xml" Id="R142a82f8d59d4d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3f3ed2332b4889" /><Relationship Type="http://schemas.openxmlformats.org/officeDocument/2006/relationships/notesMaster" Target="/ppt/notesMasters/notesMaster1.xml" Id="R19dd4cad285445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81e8912a3d472c" /><Relationship Type="http://schemas.openxmlformats.org/officeDocument/2006/relationships/notesMaster" Target="/ppt/notesMasters/notesMaster1.xml" Id="R63cdb2095a8c49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148dc88de04a38" /><Relationship Type="http://schemas.openxmlformats.org/officeDocument/2006/relationships/notesMaster" Target="/ppt/notesMasters/notesMaster1.xml" Id="R5bdbe931121445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0:00–0:12 — Hello everyone, my name is Joseph Karam, and this is Goalie—the champion of long-horizon harnesses.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OpenAI ImageGen — generated soccer-field cover visual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https://blog.agihouse.org/posts/long-horizon-agents-a-technical-primer — inherited deck context</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0:12–0:48 — Quick question: who watched the World Cup this summer? Raise your hand. If you didn’t, are you at least familiar with soccer—or fútbol? Great. Give anyone here a ball and an empty goal, and I hope we can score. Put Argentina’s World Cup team in defense, and unless you’re Lamine Yamal, probably not on the first try. Long-horizon agent tasks work the same way: the goal is clear, but the path is defended by compounding mistakes.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https://www.fifa.com/en/tournaments/mens/worldcup/canadamexicousa2026/articles/spain-argentina-final-report-highlights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0:48–1:06 — But add a coach after every miss—someone who explains how to improve the scoring strategy—and eventually you score. I believe long-horizon agents need that same relationship with failure.</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User-provided presentation script</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1:06–1:32 — That is Goalie. Offense tackles the problem with the context it has. Defense scrutinizes the result, scores it, and identifies the biggest gap. That gap goes back to offense for the next attempt. Positive trajectory plays GOAL, negative plays SAVE, and uncertainty goes to VAR.</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README.md</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docs/architecture.md</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1:32–1:58 — Let’s see it. Full disclosure: long-horizon tasks take a while, so this is prerecorded—but it works. Watch the feedback loop: each defensive save becomes the next offensive coaching signal. [Play approximately 20 seconds of the recording. Pause after the first save-to-retry transition.]</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docs/demo.md</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1:58–2:18 — Under the animation, the harness owns the match: the goal contract, deterministic checks, durable state, budget, and final gate. The offense proposes; the defense critiques; the host verifies. The animation is the broadcast, not the proof.</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README.md</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docs/architecture.md</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2:18–2:34 — The task only wins when every required check and the fresh final audit pass. A confident answer cannot waive failed evidence. Goalie keeps retrying within explicit time, turn, cost, and plateau limits.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README.md</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docs/architecture.md</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2:34–2:53 — So why does the goalie keep blocking the model? Because failure is fuel. Argentina lost to Saudi Arabia in its first 2022 World Cup match, learned, recovered, and became champion. Humans use failure to get better. Agents should too.</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https://www.fifa.com/es/articles/el-camino-de-argentina-hacia-el-titulo-de-la-copa-mundial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2:53–3:00 — People say, ‘Failure is not an option.’ For the agentic future, I believe failure is the only option—because it is how the next attempt becomes better. Thank you. Find Goalie on GitHub; I need stars.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User-provided presentation script</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[/Sources]</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cb20fd5dc543e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4" name="PlaceHolder 1">
            <a:extLst xmlns:a="http://schemas.openxmlformats.org/drawingml/2006/main">
              <a:ext uri="{FF2B5EF4-FFF2-40B4-BE49-F238E27FC236}">
                <a16:creationId xmlns:a16="http://schemas.microsoft.com/office/drawing/2014/main" id="{C01134DD-C049-4D63-A791-E8F0ADA059D1}"/>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l">
              <a:lnSpc>
                <a:spcPct val="90000"/>
              </a:lnSpc>
              <a:buNone/>
            </a:pPr>
            <a:endParaRPr sz="4400" b="0" u="none">
              <a:solidFill>
                <a:schemeClr val="dk1"/>
              </a:solidFill>
              <a:latin typeface="Calibri Light"/>
              <a:ea typeface="Calibri Light"/>
              <a:cs typeface="Calibri Light"/>
            </a:endParaRPr>
          </a:p>
        </p:txBody>
      </p:sp>
      <p:sp>
        <p:nvSpPr>
          <p:cNvPr id="5" name="PlaceHolder 2">
            <a:extLst xmlns:a="http://schemas.openxmlformats.org/drawingml/2006/main">
              <a:ext uri="{FF2B5EF4-FFF2-40B4-BE49-F238E27FC236}">
                <a16:creationId xmlns:a16="http://schemas.microsoft.com/office/drawing/2014/main" id="{25A7DCAB-27F7-4E42-8329-8D828512D50A}"/>
              </a:ext>
            </a:extLst>
          </p:cNvPr>
          <p:cNvSpPr>
            <a:spLocks xmlns:a="http://schemas.openxmlformats.org/drawingml/2006/main" noGrp="1"/>
          </p:cNvSpPr>
          <p:nvPr>
            <p:ph type="subTitle"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ctr">
              <a:buNone/>
            </a:pPr>
            <a:endParaRPr sz="3200" b="0" u="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f15d0bfd244669" /><Relationship Type="http://schemas.openxmlformats.org/officeDocument/2006/relationships/slideLayout" Target="/ppt/slideLayouts/slideLayout1.xml" Id="Rad8f1e18029e4e62"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B5F0A1BA-AB9E-4145-896D-B0C326AAD449}"/>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l">
              <a:lnSpc>
                <a:spcPct val="90000"/>
              </a:lnSpc>
              <a:buNone/>
              <a:defRPr sz="4400" b="0" u="none">
                <a:solidFill>
                  <a:schemeClr val="dk1"/>
                </a:solidFill>
                <a:latin typeface="Calibri Light"/>
                <a:ea typeface="Calibri Light"/>
                <a:cs typeface="Calibri Light"/>
              </a:defRPr>
            </a:lvl1pPr>
          </a:lstStyle>
          <a:p xmlns:a="http://schemas.openxmlformats.org/drawingml/2006/main">
            <a:pPr indent="0" algn="l">
              <a:lnSpc>
                <a:spcPct val="90000"/>
              </a:lnSpc>
              <a:buNone/>
            </a:pPr>
            <a:r>
              <a:rPr sz="4400" b="0" u="none">
                <a:solidFill>
                  <a:schemeClr val="dk1"/>
                </a:solidFill>
                <a:latin typeface="Calibri Light"/>
                <a:ea typeface="Calibri Light"/>
                <a:cs typeface="Calibri Light"/>
              </a:rPr>
              <a:t>Click to edit the title text format</a:t>
            </a:r>
            <a:endParaRPr sz="4400" b="0" u="none">
              <a:solidFill>
                <a:schemeClr val="dk1"/>
              </a:solidFill>
              <a:latin typeface="Calibri Light"/>
              <a:ea typeface="Calibri Light"/>
              <a:cs typeface="Calibri Light"/>
            </a:endParaRPr>
          </a:p>
        </p:txBody>
      </p:sp>
      <p:sp>
        <p:nvSpPr>
          <p:cNvPr id="3" name="PlaceHolder 2">
            <a:extLst xmlns:a="http://schemas.openxmlformats.org/drawingml/2006/main">
              <a:ext uri="{FF2B5EF4-FFF2-40B4-BE49-F238E27FC236}">
                <a16:creationId xmlns:a16="http://schemas.microsoft.com/office/drawing/2014/main" id="{9468901E-743A-4535-9239-C3E39E203D6F}"/>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lnSpc>
                <a:spcPct val="90000"/>
              </a:lnSpc>
              <a:spcBef>
                <a:spcPts val="1417"/>
              </a:spcBef>
              <a:buClr>
                <a:srgbClr val="000000"/>
              </a:buClr>
              <a:buSzPct val="45000"/>
              <a:buFont typeface="Wingdings"/>
              <a:buChar char=""/>
              <a:defRPr sz="2800" b="0" u="none">
                <a:solidFill>
                  <a:schemeClr val="dk1"/>
                </a:solidFill>
                <a:latin typeface="Calibri"/>
                <a:ea typeface="Calibri"/>
                <a:cs typeface="Calibri"/>
              </a:defRPr>
            </a:lvl1pPr>
            <a:lvl2pPr algn="l">
              <a:lnSpc>
                <a:spcPct val="90000"/>
              </a:lnSpc>
              <a:spcBef>
                <a:spcPts val="1134"/>
              </a:spcBef>
              <a:buClr>
                <a:srgbClr val="000000"/>
              </a:buClr>
              <a:buSzPct val="75000"/>
              <a:buFont typeface="Symbol"/>
              <a:buChar char=""/>
              <a:defRPr sz="2000" b="0" u="none">
                <a:solidFill>
                  <a:schemeClr val="dk1"/>
                </a:solidFill>
                <a:latin typeface="Calibri"/>
                <a:ea typeface="Calibri"/>
                <a:cs typeface="Calibri"/>
              </a:defRPr>
            </a:lvl2pPr>
            <a:lvl3pPr algn="l">
              <a:lnSpc>
                <a:spcPct val="90000"/>
              </a:lnSpc>
              <a:spcBef>
                <a:spcPts val="850"/>
              </a:spcBef>
              <a:buClr>
                <a:srgbClr val="000000"/>
              </a:buClr>
              <a:buSzPct val="45000"/>
              <a:buFont typeface="Wingdings"/>
              <a:buChar char=""/>
              <a:defRPr sz="1800" b="0" u="none">
                <a:solidFill>
                  <a:schemeClr val="dk1"/>
                </a:solidFill>
                <a:latin typeface="Calibri"/>
                <a:ea typeface="Calibri"/>
                <a:cs typeface="Calibri"/>
              </a:defRPr>
            </a:lvl3pPr>
            <a:lvl4pPr algn="l">
              <a:lnSpc>
                <a:spcPct val="90000"/>
              </a:lnSpc>
              <a:spcBef>
                <a:spcPts val="567"/>
              </a:spcBef>
              <a:buClr>
                <a:srgbClr val="000000"/>
              </a:buClr>
              <a:buSzPct val="75000"/>
              <a:buFont typeface="Symbol"/>
              <a:buChar char=""/>
              <a:defRPr sz="1800" b="0" u="none">
                <a:solidFill>
                  <a:schemeClr val="dk1"/>
                </a:solidFill>
                <a:latin typeface="Calibri"/>
                <a:ea typeface="Calibri"/>
                <a:cs typeface="Calibri"/>
              </a:defRPr>
            </a:lvl4pPr>
            <a:lvl5pPr algn="l">
              <a:lnSpc>
                <a:spcPct val="90000"/>
              </a:lnSpc>
              <a:spcBef>
                <a:spcPts val="283"/>
              </a:spcBef>
              <a:buClr>
                <a:srgbClr val="000000"/>
              </a:buClr>
              <a:buSzPct val="45000"/>
              <a:buFont typeface="Wingdings"/>
              <a:buChar char=""/>
              <a:defRPr sz="2000" b="0" u="none">
                <a:solidFill>
                  <a:schemeClr val="dk1"/>
                </a:solidFill>
                <a:latin typeface="Calibri"/>
                <a:ea typeface="Calibri"/>
                <a:cs typeface="Calibri"/>
              </a:defRPr>
            </a:lvl5pPr>
            <a:lvl6pPr algn="l">
              <a:lnSpc>
                <a:spcPct val="90000"/>
              </a:lnSpc>
              <a:spcBef>
                <a:spcPts val="283"/>
              </a:spcBef>
              <a:buClr>
                <a:srgbClr val="000000"/>
              </a:buClr>
              <a:buSzPct val="45000"/>
              <a:buFont typeface="Wingdings"/>
              <a:buChar char=""/>
              <a:defRPr sz="2000" b="0" u="none">
                <a:solidFill>
                  <a:schemeClr val="dk1"/>
                </a:solidFill>
                <a:latin typeface="Calibri"/>
                <a:ea typeface="Calibri"/>
                <a:cs typeface="Calibri"/>
              </a:defRPr>
            </a:lvl6pPr>
            <a:lvl7pPr algn="l">
              <a:lnSpc>
                <a:spcPct val="90000"/>
              </a:lnSpc>
              <a:spcBef>
                <a:spcPts val="283"/>
              </a:spcBef>
              <a:buClr>
                <a:srgbClr val="000000"/>
              </a:buClr>
              <a:buSzPct val="45000"/>
              <a:buFont typeface="Wingdings"/>
              <a:buChar char=""/>
              <a:defRPr sz="2000" b="0" u="none">
                <a:solidFill>
                  <a:schemeClr val="dk1"/>
                </a:solidFill>
                <a:latin typeface="Calibri"/>
                <a:ea typeface="Calibri"/>
                <a:cs typeface="Calibri"/>
              </a:defRPr>
            </a:lvl7pPr>
          </a:lstStyle>
          <a:p xmlns:a="http://schemas.openxmlformats.org/drawingml/2006/main">
            <a:pPr marL="432000" indent="-324000" algn="l">
              <a:lnSpc>
                <a:spcPct val="90000"/>
              </a:lnSpc>
              <a:spcBef>
                <a:spcPts val="1417"/>
              </a:spcBef>
              <a:buClr>
                <a:srgbClr val="000000"/>
              </a:buClr>
              <a:buSzPct val="45000"/>
              <a:buFont typeface="Wingdings"/>
              <a:buChar char=""/>
            </a:pPr>
            <a:r>
              <a:rPr sz="2800" b="0" u="none">
                <a:solidFill>
                  <a:schemeClr val="dk1"/>
                </a:solidFill>
                <a:latin typeface="Calibri"/>
                <a:ea typeface="Calibri"/>
                <a:cs typeface="Calibri"/>
              </a:rPr>
              <a:t>Click to edit the outline text format</a:t>
            </a:r>
            <a:endParaRPr sz="2800" b="0" u="none">
              <a:solidFill>
                <a:schemeClr val="dk1"/>
              </a:solidFill>
              <a:latin typeface="Calibri"/>
              <a:ea typeface="Calibri"/>
              <a:cs typeface="Calibri"/>
            </a:endParaRPr>
          </a:p>
          <a:p xmlns:a="http://schemas.openxmlformats.org/drawingml/2006/main">
            <a:pPr marL="864000" lvl="1" indent="-324000" algn="l">
              <a:lnSpc>
                <a:spcPct val="90000"/>
              </a:lnSpc>
              <a:spcBef>
                <a:spcPts val="1134"/>
              </a:spcBef>
              <a:buClr>
                <a:srgbClr val="000000"/>
              </a:buClr>
              <a:buSzPct val="75000"/>
              <a:buFont typeface="Symbol"/>
              <a:buChar char=""/>
            </a:pPr>
            <a:r>
              <a:rPr sz="2000" b="0" u="none">
                <a:solidFill>
                  <a:schemeClr val="dk1"/>
                </a:solidFill>
                <a:latin typeface="Calibri"/>
                <a:ea typeface="Calibri"/>
                <a:cs typeface="Calibri"/>
              </a:rPr>
              <a:t>Second Outline Level</a:t>
            </a:r>
            <a:endParaRPr sz="2000" b="0" u="none">
              <a:solidFill>
                <a:schemeClr val="dk1"/>
              </a:solidFill>
              <a:latin typeface="Calibri"/>
              <a:ea typeface="Calibri"/>
              <a:cs typeface="Calibri"/>
            </a:endParaRPr>
          </a:p>
          <a:p xmlns:a="http://schemas.openxmlformats.org/drawingml/2006/main">
            <a:pPr marL="1296000" lvl="2" indent="-288000" algn="l">
              <a:lnSpc>
                <a:spcPct val="90000"/>
              </a:lnSpc>
              <a:spcBef>
                <a:spcPts val="850"/>
              </a:spcBef>
              <a:buClr>
                <a:srgbClr val="000000"/>
              </a:buClr>
              <a:buSzPct val="45000"/>
              <a:buFont typeface="Wingdings"/>
              <a:buChar char=""/>
            </a:pPr>
            <a:r>
              <a:rPr sz="1800" b="0" u="none">
                <a:solidFill>
                  <a:schemeClr val="dk1"/>
                </a:solidFill>
                <a:latin typeface="Calibri"/>
                <a:ea typeface="Calibri"/>
                <a:cs typeface="Calibri"/>
              </a:rPr>
              <a:t>Third Outline Level</a:t>
            </a:r>
            <a:endParaRPr sz="1800" b="0" u="none">
              <a:solidFill>
                <a:schemeClr val="dk1"/>
              </a:solidFill>
              <a:latin typeface="Calibri"/>
              <a:ea typeface="Calibri"/>
              <a:cs typeface="Calibri"/>
            </a:endParaRPr>
          </a:p>
          <a:p xmlns:a="http://schemas.openxmlformats.org/drawingml/2006/main">
            <a:pPr marL="1728000" lvl="3" indent="-216000" algn="l">
              <a:lnSpc>
                <a:spcPct val="90000"/>
              </a:lnSpc>
              <a:spcBef>
                <a:spcPts val="567"/>
              </a:spcBef>
              <a:buClr>
                <a:srgbClr val="000000"/>
              </a:buClr>
              <a:buSzPct val="75000"/>
              <a:buFont typeface="Symbol"/>
              <a:buChar char=""/>
            </a:pPr>
            <a:r>
              <a:rPr sz="1800" b="0" u="none">
                <a:solidFill>
                  <a:schemeClr val="dk1"/>
                </a:solidFill>
                <a:latin typeface="Calibri"/>
                <a:ea typeface="Calibri"/>
                <a:cs typeface="Calibri"/>
              </a:rPr>
              <a:t>Fourth Outline Level</a:t>
            </a:r>
            <a:endParaRPr sz="1800" b="0" u="none">
              <a:solidFill>
                <a:schemeClr val="dk1"/>
              </a:solidFill>
              <a:latin typeface="Calibri"/>
              <a:ea typeface="Calibri"/>
              <a:cs typeface="Calibri"/>
            </a:endParaRPr>
          </a:p>
          <a:p xmlns:a="http://schemas.openxmlformats.org/drawingml/2006/main">
            <a:pPr marL="2160000" lvl="4" indent="-216000" algn="l">
              <a:lnSpc>
                <a:spcPct val="90000"/>
              </a:lnSpc>
              <a:spcBef>
                <a:spcPts val="283"/>
              </a:spcBef>
              <a:buClr>
                <a:srgbClr val="000000"/>
              </a:buClr>
              <a:buSzPct val="45000"/>
              <a:buFont typeface="Wingdings"/>
              <a:buChar char=""/>
            </a:pPr>
            <a:r>
              <a:rPr sz="2000" b="0" u="none">
                <a:solidFill>
                  <a:schemeClr val="dk1"/>
                </a:solidFill>
                <a:latin typeface="Calibri"/>
                <a:ea typeface="Calibri"/>
                <a:cs typeface="Calibri"/>
              </a:rPr>
              <a:t>Fifth Outline Level</a:t>
            </a:r>
            <a:endParaRPr sz="2000" b="0" u="none">
              <a:solidFill>
                <a:schemeClr val="dk1"/>
              </a:solidFill>
              <a:latin typeface="Calibri"/>
              <a:ea typeface="Calibri"/>
              <a:cs typeface="Calibri"/>
            </a:endParaRPr>
          </a:p>
          <a:p xmlns:a="http://schemas.openxmlformats.org/drawingml/2006/main">
            <a:pPr marL="2592000" lvl="5" indent="-216000" algn="l">
              <a:lnSpc>
                <a:spcPct val="90000"/>
              </a:lnSpc>
              <a:spcBef>
                <a:spcPts val="283"/>
              </a:spcBef>
              <a:buClr>
                <a:srgbClr val="000000"/>
              </a:buClr>
              <a:buSzPct val="45000"/>
              <a:buFont typeface="Wingdings"/>
              <a:buChar char=""/>
            </a:pPr>
            <a:r>
              <a:rPr sz="2000" b="0" u="none">
                <a:solidFill>
                  <a:schemeClr val="dk1"/>
                </a:solidFill>
                <a:latin typeface="Calibri"/>
                <a:ea typeface="Calibri"/>
                <a:cs typeface="Calibri"/>
              </a:rPr>
              <a:t>Sixth Outline Level</a:t>
            </a:r>
            <a:endParaRPr sz="2000" b="0" u="none">
              <a:solidFill>
                <a:schemeClr val="dk1"/>
              </a:solidFill>
              <a:latin typeface="Calibri"/>
              <a:ea typeface="Calibri"/>
              <a:cs typeface="Calibri"/>
            </a:endParaRPr>
          </a:p>
          <a:p xmlns:a="http://schemas.openxmlformats.org/drawingml/2006/main">
            <a:pPr marL="3024000" lvl="6" indent="-216000" algn="l">
              <a:lnSpc>
                <a:spcPct val="90000"/>
              </a:lnSpc>
              <a:spcBef>
                <a:spcPts val="283"/>
              </a:spcBef>
              <a:buClr>
                <a:srgbClr val="000000"/>
              </a:buClr>
              <a:buSzPct val="45000"/>
              <a:buFont typeface="Wingdings"/>
              <a:buChar char=""/>
            </a:pPr>
            <a:r>
              <a:rPr sz="2000" b="0" u="none">
                <a:solidFill>
                  <a:schemeClr val="dk1"/>
                </a:solidFill>
                <a:latin typeface="Calibri"/>
                <a:ea typeface="Calibri"/>
                <a:cs typeface="Calibri"/>
              </a:rPr>
              <a:t>Seventh Outline Level</a:t>
            </a:r>
            <a:endParaRPr sz="2000" b="0" u="none">
              <a:solidFill>
                <a:schemeClr val="dk1"/>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8f1e18029e4e62"/>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99feb352ec4985" /><Relationship Type="http://schemas.openxmlformats.org/officeDocument/2006/relationships/image" Target="/ppt/media/image.png" Id="R5e9f8d5689c84a60" /><Relationship Type="http://schemas.openxmlformats.org/officeDocument/2006/relationships/notesSlide" Target="/ppt/notesSlides/notesSlide1.xml" Id="Rda7f5135c7f449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ffa3749ce14ab0" /><Relationship Type="http://schemas.openxmlformats.org/officeDocument/2006/relationships/notesSlide" Target="/ppt/notesSlides/notesSlide2.xml" Id="R873192166edf4a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3d4c4e0fdd4037" /><Relationship Type="http://schemas.openxmlformats.org/officeDocument/2006/relationships/notesSlide" Target="/ppt/notesSlides/notesSlide3.xml" Id="R11c938de8a784f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3a325349b14dc3" /><Relationship Type="http://schemas.openxmlformats.org/officeDocument/2006/relationships/notesSlide" Target="/ppt/notesSlides/notesSlide4.xml" Id="Rf57c707d67114e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9bbbad3f7a487e" /><Relationship Type="http://schemas.openxmlformats.org/officeDocument/2006/relationships/notesSlide" Target="/ppt/notesSlides/notesSlide5.xml" Id="Rd5c95b3c6d274e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fa66d12f054a0d" /><Relationship Type="http://schemas.openxmlformats.org/officeDocument/2006/relationships/notesSlide" Target="/ppt/notesSlides/notesSlide6.xml" Id="Rbb92d2048f364b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1ef03e03f64a34" /><Relationship Type="http://schemas.openxmlformats.org/officeDocument/2006/relationships/notesSlide" Target="/ppt/notesSlides/notesSlide7.xml" Id="Rc28e71299d4c4b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9465b166db4534" /><Relationship Type="http://schemas.openxmlformats.org/officeDocument/2006/relationships/notesSlide" Target="/ppt/notesSlides/notesSlide8.xml" Id="R77d57ce8073541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766efea3424db7" /><Relationship Type="http://schemas.openxmlformats.org/officeDocument/2006/relationships/notesSlide" Target="/ppt/notesSlides/notesSlide9.xml" Id="Rd720b4e40fa94159" /></Relationships>
</file>

<file path=ppt/slides/slide1.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2" name="top-bar">
            <a:extLst xmlns:a="http://schemas.openxmlformats.org/drawingml/2006/main">
              <a:ext uri="{FF2B5EF4-FFF2-40B4-BE49-F238E27FC236}">
                <a16:creationId xmlns:a16="http://schemas.microsoft.com/office/drawing/2014/main" id="{225C86D2-4548-4CEB-AE7F-CA5A68B8615A}"/>
              </a:ext>
            </a:extLst>
          </p:cNvPr>
          <p:cNvSpPr>
            <a:spLocks xmlns:a="http://schemas.openxmlformats.org/drawingml/2006/main" noGrp="1"/>
          </p:cNvSpPr>
          <p:nvPr/>
        </p:nvSpPr>
        <p:spPr>
          <a:xfrm xmlns:a="http://schemas.openxmlformats.org/drawingml/2006/main">
            <a:off x="0" y="0"/>
            <a:ext cx="12191760" cy="552240"/>
          </a:xfrm>
          <a:prstGeom xmlns:a="http://schemas.openxmlformats.org/drawingml/2006/main" prst="rect">
            <a:avLst/>
          </a:prstGeom>
          <a:solidFill xmlns:a="http://schemas.openxmlformats.org/drawingml/2006/main">
            <a:srgbClr val="0A0A0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13" name="">
            <a:extLst xmlns:a="http://schemas.openxmlformats.org/drawingml/2006/main">
              <a:ext uri="{FF2B5EF4-FFF2-40B4-BE49-F238E27FC236}">
                <a16:creationId xmlns:a16="http://schemas.microsoft.com/office/drawing/2014/main" id="{B4EA3F3C-6268-4AEB-BE85-B7A4C872AC5D}"/>
              </a:ext>
            </a:extLst>
          </p:cNvPr>
          <p:cNvSpPr>
            <a:spLocks xmlns:a="http://schemas.openxmlformats.org/drawingml/2006/main" noGrp="1"/>
          </p:cNvSpPr>
          <p:nvPr/>
        </p:nvSpPr>
        <p:spPr>
          <a:xfrm xmlns:a="http://schemas.openxmlformats.org/drawingml/2006/main">
            <a:off x="285840" y="171360"/>
            <a:ext cx="247608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1" u="none">
                <a:solidFill>
                  <a:srgbClr val="FFFFFF"/>
                </a:solidFill>
                <a:latin typeface="Aptos"/>
                <a:ea typeface="Aptos"/>
                <a:cs typeface="Aptos"/>
              </a:rPr>
              <a:t>✦  LONG-HORIZON BUILD DAY</a:t>
            </a:r>
            <a:endParaRPr sz="1050" b="0" u="none">
              <a:solidFill>
                <a:srgbClr val="000000"/>
              </a:solidFill>
              <a:latin typeface="Arial"/>
              <a:ea typeface="Arial"/>
              <a:cs typeface="Arial"/>
            </a:endParaRPr>
          </a:p>
        </p:txBody>
      </p:sp>
      <p:sp>
        <p:nvSpPr>
          <p:cNvPr id="14" name="">
            <a:extLst xmlns:a="http://schemas.openxmlformats.org/drawingml/2006/main">
              <a:ext uri="{FF2B5EF4-FFF2-40B4-BE49-F238E27FC236}">
                <a16:creationId xmlns:a16="http://schemas.microsoft.com/office/drawing/2014/main" id="{4448E4EC-4B19-4C90-843E-1E07B7C195D0}"/>
              </a:ext>
            </a:extLst>
          </p:cNvPr>
          <p:cNvSpPr>
            <a:spLocks xmlns:a="http://schemas.openxmlformats.org/drawingml/2006/main" noGrp="1"/>
          </p:cNvSpPr>
          <p:nvPr/>
        </p:nvSpPr>
        <p:spPr>
          <a:xfrm xmlns:a="http://schemas.openxmlformats.org/drawingml/2006/main">
            <a:off x="7810560" y="171360"/>
            <a:ext cx="314280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pPr>
            <a:r>
              <a:rPr sz="900" b="0" u="none">
                <a:solidFill>
                  <a:srgbClr val="C9C7C0"/>
                </a:solidFill>
                <a:latin typeface="Aptos"/>
                <a:ea typeface="Aptos"/>
                <a:cs typeface="Aptos"/>
              </a:rPr>
              <a:t>GOALIE</a:t>
            </a:r>
            <a:endParaRPr sz="900" b="0" u="none">
              <a:solidFill>
                <a:srgbClr val="000000"/>
              </a:solidFill>
              <a:latin typeface="Arial"/>
              <a:ea typeface="Arial"/>
              <a:cs typeface="Arial"/>
            </a:endParaRPr>
          </a:p>
        </p:txBody>
      </p:sp>
      <p:sp>
        <p:nvSpPr>
          <p:cNvPr id="15" name="">
            <a:extLst xmlns:a="http://schemas.openxmlformats.org/drawingml/2006/main">
              <a:ext uri="{FF2B5EF4-FFF2-40B4-BE49-F238E27FC236}">
                <a16:creationId xmlns:a16="http://schemas.microsoft.com/office/drawing/2014/main" id="{A9F606C4-8227-4CE7-AD67-2808439DAF21}"/>
              </a:ext>
            </a:extLst>
          </p:cNvPr>
          <p:cNvSpPr>
            <a:spLocks xmlns:a="http://schemas.openxmlformats.org/drawingml/2006/main" noGrp="1"/>
          </p:cNvSpPr>
          <p:nvPr/>
        </p:nvSpPr>
        <p:spPr>
          <a:xfrm xmlns:a="http://schemas.openxmlformats.org/drawingml/2006/main">
            <a:off x="11239560" y="1713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80" b="1" u="none">
                <a:solidFill>
                  <a:srgbClr val="FFFFFF"/>
                </a:solidFill>
                <a:latin typeface="Aptos"/>
                <a:ea typeface="Aptos"/>
                <a:cs typeface="Aptos"/>
              </a:rPr>
              <a:t>01</a:t>
            </a:r>
            <a:endParaRPr sz="980" b="0" u="none">
              <a:solidFill>
                <a:srgbClr val="000000"/>
              </a:solidFill>
              <a:latin typeface="Arial"/>
              <a:ea typeface="Arial"/>
              <a:cs typeface="Arial"/>
            </a:endParaRPr>
          </a:p>
        </p:txBody>
      </p:sp>
      <p:sp>
        <p:nvSpPr>
          <p:cNvPr id="16" name="">
            <a:extLst xmlns:a="http://schemas.openxmlformats.org/drawingml/2006/main">
              <a:ext uri="{FF2B5EF4-FFF2-40B4-BE49-F238E27FC236}">
                <a16:creationId xmlns:a16="http://schemas.microsoft.com/office/drawing/2014/main" id="{14F2AD3D-B09C-4394-A915-4463EA5B8047}"/>
              </a:ext>
            </a:extLst>
          </p:cNvPr>
          <p:cNvSpPr>
            <a:spLocks xmlns:a="http://schemas.openxmlformats.org/drawingml/2006/main" noGrp="1"/>
          </p:cNvSpPr>
          <p:nvPr/>
        </p:nvSpPr>
        <p:spPr>
          <a:xfrm xmlns:a="http://schemas.openxmlformats.org/drawingml/2006/main">
            <a:off x="609480" y="914400"/>
            <a:ext cx="4762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6D6B65"/>
                </a:solidFill>
                <a:latin typeface="Aptos"/>
                <a:ea typeface="Aptos"/>
                <a:cs typeface="Aptos"/>
              </a:rPr>
              <a:t>LONG-HORIZON AGENTS BUILD DAY</a:t>
            </a:r>
            <a:endParaRPr sz="980" b="0" u="none">
              <a:solidFill>
                <a:srgbClr val="000000"/>
              </a:solidFill>
              <a:latin typeface="Arial"/>
              <a:ea typeface="Arial"/>
              <a:cs typeface="Arial"/>
            </a:endParaRPr>
          </a:p>
        </p:txBody>
      </p:sp>
      <p:sp>
        <p:nvSpPr>
          <p:cNvPr id="17" name="project-name">
            <a:extLst xmlns:a="http://schemas.openxmlformats.org/drawingml/2006/main">
              <a:ext uri="{FF2B5EF4-FFF2-40B4-BE49-F238E27FC236}">
                <a16:creationId xmlns:a16="http://schemas.microsoft.com/office/drawing/2014/main" id="{CCAF069F-CF15-497E-AB86-49E6547D4C2C}"/>
              </a:ext>
            </a:extLst>
          </p:cNvPr>
          <p:cNvSpPr>
            <a:spLocks xmlns:a="http://schemas.openxmlformats.org/drawingml/2006/main" noGrp="1"/>
          </p:cNvSpPr>
          <p:nvPr/>
        </p:nvSpPr>
        <p:spPr>
          <a:xfrm xmlns:a="http://schemas.openxmlformats.org/drawingml/2006/main">
            <a:off x="609480" y="1285920"/>
            <a:ext cx="9715320" cy="1123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90000"/>
              </a:lnSpc>
              <a:buNone/>
            </a:pPr>
            <a:r>
              <a:rPr sz="4650" b="0" u="none">
                <a:solidFill>
                  <a:srgbClr val="0A0A0A"/>
                </a:solidFill>
                <a:latin typeface="Aptos Display"/>
                <a:ea typeface="Aptos Display"/>
                <a:cs typeface="Aptos Display"/>
              </a:rPr>
              <a:t>GOALIE</a:t>
            </a:r>
            <a:endParaRPr sz="4650" b="0" u="none">
              <a:solidFill>
                <a:srgbClr val="000000"/>
              </a:solidFill>
              <a:latin typeface="Arial"/>
              <a:ea typeface="Arial"/>
              <a:cs typeface="Arial"/>
            </a:endParaRPr>
          </a:p>
        </p:txBody>
      </p:sp>
      <p:sp>
        <p:nvSpPr>
          <p:cNvPr id="18" name="one-line-value-proposition">
            <a:extLst xmlns:a="http://schemas.openxmlformats.org/drawingml/2006/main">
              <a:ext uri="{FF2B5EF4-FFF2-40B4-BE49-F238E27FC236}">
                <a16:creationId xmlns:a16="http://schemas.microsoft.com/office/drawing/2014/main" id="{7192AD5A-9C16-418A-B90D-2CC7755BA137}"/>
              </a:ext>
            </a:extLst>
          </p:cNvPr>
          <p:cNvSpPr>
            <a:spLocks xmlns:a="http://schemas.openxmlformats.org/drawingml/2006/main" noGrp="1"/>
          </p:cNvSpPr>
          <p:nvPr/>
        </p:nvSpPr>
        <p:spPr>
          <a:xfrm xmlns:a="http://schemas.openxmlformats.org/drawingml/2006/main">
            <a:off x="647640" y="2543040"/>
            <a:ext cx="8096040" cy="62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pPr>
            <a:r>
              <a:rPr sz="1800" b="0" u="none">
                <a:solidFill>
                  <a:srgbClr val="0A0A0A"/>
                </a:solidFill>
                <a:latin typeface="Georgia"/>
                <a:ea typeface="Georgia"/>
                <a:cs typeface="Georgia"/>
              </a:rPr>
              <a:t>The champion of long-horizon harnesses.</a:t>
            </a:r>
            <a:endParaRPr sz="18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0B0B150-580A-419A-B9ED-CDE3F8B49D44}"/>
              </a:ext>
            </a:extLst>
          </p:cNvPr>
          <p:cNvSpPr>
            <a:spLocks xmlns:a="http://schemas.openxmlformats.org/drawingml/2006/main" noGrp="1"/>
          </p:cNvSpPr>
          <p:nvPr/>
        </p:nvSpPr>
        <p:spPr>
          <a:xfrm xmlns:a="http://schemas.openxmlformats.org/drawingml/2006/main">
            <a:off x="647640" y="3371760"/>
            <a:ext cx="4762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6D6B65"/>
                </a:solidFill>
                <a:latin typeface="Aptos"/>
                <a:ea typeface="Aptos"/>
                <a:cs typeface="Aptos"/>
              </a:rPr>
              <a:t>JOSEPH KARAM  ·  AUG 22, 2026</a:t>
            </a:r>
            <a:endParaRPr sz="980" b="0" u="none">
              <a:solidFill>
                <a:srgbClr val="000000"/>
              </a:solidFill>
              <a:latin typeface="Arial"/>
              <a:ea typeface="Arial"/>
              <a:cs typeface="Arial"/>
            </a:endParaRP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e9f8d5689c84a60"/>
          <a:srcRect xmlns:a="http://schemas.openxmlformats.org/drawingml/2006/main" l="0" t="18548" r="0" b="18548"/>
          <a:stretch xmlns:a="http://schemas.openxmlformats.org/drawingml/2006/main">
            <a:fillRect l="0" t="0" r="0" b="0"/>
          </a:stretch>
        </p:blipFill>
        <p:spPr>
          <a:xfrm xmlns:a="http://schemas.openxmlformats.org/drawingml/2006/main">
            <a:off x="0" y="3790800"/>
            <a:ext cx="12191760" cy="3066840"/>
          </a:xfrm>
          <a:prstGeom xmlns:a="http://schemas.openxmlformats.org/drawingml/2006/main" prst="rect">
            <a:avLst/>
          </a:prstGeom>
          <a:ln xmlns:a="http://schemas.openxmlformats.org/drawingml/2006/main" w="0">
            <a:noFill/>
          </a:ln>
        </p:spPr>
      </p:pic>
      <p:sp>
        <p:nvSpPr>
          <p:cNvPr id="21" name="hero-caption-band">
            <a:extLst xmlns:a="http://schemas.openxmlformats.org/drawingml/2006/main">
              <a:ext uri="{FF2B5EF4-FFF2-40B4-BE49-F238E27FC236}">
                <a16:creationId xmlns:a16="http://schemas.microsoft.com/office/drawing/2014/main" id="{9727766D-83CE-4419-90CC-BE98C05A7E81}"/>
              </a:ext>
            </a:extLst>
          </p:cNvPr>
          <p:cNvSpPr>
            <a:spLocks xmlns:a="http://schemas.openxmlformats.org/drawingml/2006/main" noGrp="1"/>
          </p:cNvSpPr>
          <p:nvPr/>
        </p:nvSpPr>
        <p:spPr>
          <a:xfrm xmlns:a="http://schemas.openxmlformats.org/drawingml/2006/main">
            <a:off x="0" y="6400800"/>
            <a:ext cx="12191760" cy="456840"/>
          </a:xfrm>
          <a:prstGeom xmlns:a="http://schemas.openxmlformats.org/drawingml/2006/main" prst="rect">
            <a:avLst/>
          </a:prstGeom>
          <a:solidFill xmlns:a="http://schemas.openxmlformats.org/drawingml/2006/main">
            <a:srgbClr val="0A0A0A">
              <a:alpha val="80000"/>
            </a:srgbClr>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788B293D-F857-45DA-AC1E-F3A667D155FF}"/>
              </a:ext>
            </a:extLst>
          </p:cNvPr>
          <p:cNvSpPr>
            <a:spLocks xmlns:a="http://schemas.openxmlformats.org/drawingml/2006/main" noGrp="1"/>
          </p:cNvSpPr>
          <p:nvPr/>
        </p:nvSpPr>
        <p:spPr>
          <a:xfrm xmlns:a="http://schemas.openxmlformats.org/drawingml/2006/main">
            <a:off x="304920" y="6534000"/>
            <a:ext cx="3428640" cy="171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00" b="1" u="none">
                <a:solidFill>
                  <a:srgbClr val="FFFFFF"/>
                </a:solidFill>
                <a:latin typeface="Aptos"/>
                <a:ea typeface="Aptos"/>
                <a:cs typeface="Aptos"/>
              </a:rPr>
              <a:t>OFFENSE  ·  DEFENSE  ·  EVIDENCE</a:t>
            </a:r>
            <a:endParaRPr sz="9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D76DBB1A-C827-4A73-83A6-16358FC22DF5}"/>
              </a:ext>
            </a:extLst>
          </p:cNvPr>
          <p:cNvSpPr>
            <a:spLocks xmlns:a="http://schemas.openxmlformats.org/drawingml/2006/main" noGrp="1"/>
          </p:cNvSpPr>
          <p:nvPr/>
        </p:nvSpPr>
        <p:spPr>
          <a:xfrm xmlns:a="http://schemas.openxmlformats.org/drawingml/2006/main">
            <a:off x="7429680" y="6534000"/>
            <a:ext cx="4381200" cy="171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pPr>
            <a:r>
              <a:rPr sz="820" b="0" u="none">
                <a:solidFill>
                  <a:srgbClr val="D8D7D1"/>
                </a:solidFill>
                <a:latin typeface="Aptos"/>
                <a:ea typeface="Aptos"/>
                <a:cs typeface="Aptos"/>
              </a:rPr>
              <a:t>THE HARNESS THAT LEARNS FROM EVERY MISS</a:t>
            </a:r>
            <a:endParaRPr sz="820" b="0" u="none">
              <a:solidFill>
                <a:srgbClr val="000000"/>
              </a:solidFill>
              <a:latin typeface="Arial"/>
              <a:ea typeface="Arial"/>
              <a:cs typeface="Arial"/>
            </a:endParaRPr>
          </a:p>
        </p:txBody>
      </p:sp>
    </p:spTree>
    <p:extLst>
      <p:ext uri="{BB962C8B-B14F-4D97-AF65-F5344CB8AC3E}">
        <p14:creationId xmlns:p14="http://schemas.microsoft.com/office/powerpoint/2010/main" val="2078317669"/>
      </p:ext>
    </p:extLst>
  </p:cSld>
</p:sld>
</file>

<file path=ppt/slides/slide2.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24" name="top-bar">
            <a:extLst xmlns:a="http://schemas.openxmlformats.org/drawingml/2006/main">
              <a:ext uri="{FF2B5EF4-FFF2-40B4-BE49-F238E27FC236}">
                <a16:creationId xmlns:a16="http://schemas.microsoft.com/office/drawing/2014/main" id="{768C7AEB-BB5C-4330-B0D6-A899D2FC0288}"/>
              </a:ext>
            </a:extLst>
          </p:cNvPr>
          <p:cNvSpPr>
            <a:spLocks xmlns:a="http://schemas.openxmlformats.org/drawingml/2006/main" noGrp="1"/>
          </p:cNvSpPr>
          <p:nvPr/>
        </p:nvSpPr>
        <p:spPr>
          <a:xfrm xmlns:a="http://schemas.openxmlformats.org/drawingml/2006/main">
            <a:off x="0" y="0"/>
            <a:ext cx="12191760" cy="552240"/>
          </a:xfrm>
          <a:prstGeom xmlns:a="http://schemas.openxmlformats.org/drawingml/2006/main" prst="rect">
            <a:avLst/>
          </a:prstGeom>
          <a:solidFill xmlns:a="http://schemas.openxmlformats.org/drawingml/2006/main">
            <a:srgbClr val="0A0A0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5A338D9F-BB28-4058-B044-5279C6CE2D27}"/>
              </a:ext>
            </a:extLst>
          </p:cNvPr>
          <p:cNvSpPr>
            <a:spLocks xmlns:a="http://schemas.openxmlformats.org/drawingml/2006/main" noGrp="1"/>
          </p:cNvSpPr>
          <p:nvPr/>
        </p:nvSpPr>
        <p:spPr>
          <a:xfrm xmlns:a="http://schemas.openxmlformats.org/drawingml/2006/main">
            <a:off x="285840" y="171360"/>
            <a:ext cx="247608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1" u="none">
                <a:solidFill>
                  <a:srgbClr val="FFFFFF"/>
                </a:solidFill>
                <a:latin typeface="Aptos"/>
                <a:ea typeface="Aptos"/>
                <a:cs typeface="Aptos"/>
              </a:rPr>
              <a:t>✦  LONG-HORIZON BUILD DAY</a:t>
            </a:r>
            <a:endParaRPr sz="105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66D546F9-A159-4159-B3F7-DFE9FE4082A3}"/>
              </a:ext>
            </a:extLst>
          </p:cNvPr>
          <p:cNvSpPr>
            <a:spLocks xmlns:a="http://schemas.openxmlformats.org/drawingml/2006/main" noGrp="1"/>
          </p:cNvSpPr>
          <p:nvPr/>
        </p:nvSpPr>
        <p:spPr>
          <a:xfrm xmlns:a="http://schemas.openxmlformats.org/drawingml/2006/main">
            <a:off x="7810560" y="171360"/>
            <a:ext cx="314280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pPr>
            <a:r>
              <a:rPr sz="900" b="0" u="none">
                <a:solidFill>
                  <a:srgbClr val="C9C7C0"/>
                </a:solidFill>
                <a:latin typeface="Aptos"/>
                <a:ea typeface="Aptos"/>
                <a:cs typeface="Aptos"/>
              </a:rPr>
              <a:t>THE CHALLENGE</a:t>
            </a:r>
            <a:endParaRPr sz="900" b="0" u="non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B27CF447-044C-4BC3-BB82-8B6115B090D7}"/>
              </a:ext>
            </a:extLst>
          </p:cNvPr>
          <p:cNvSpPr>
            <a:spLocks xmlns:a="http://schemas.openxmlformats.org/drawingml/2006/main" noGrp="1"/>
          </p:cNvSpPr>
          <p:nvPr/>
        </p:nvSpPr>
        <p:spPr>
          <a:xfrm xmlns:a="http://schemas.openxmlformats.org/drawingml/2006/main">
            <a:off x="11239560" y="1713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80" b="1" u="none">
                <a:solidFill>
                  <a:srgbClr val="FFFFFF"/>
                </a:solidFill>
                <a:latin typeface="Aptos"/>
                <a:ea typeface="Aptos"/>
                <a:cs typeface="Aptos"/>
              </a:rPr>
              <a:t>02</a:t>
            </a:r>
            <a:endParaRPr sz="980" b="0" u="non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05C06A76-2524-4F1B-A208-58D269D90C41}"/>
              </a:ext>
            </a:extLst>
          </p:cNvPr>
          <p:cNvSpPr>
            <a:spLocks xmlns:a="http://schemas.openxmlformats.org/drawingml/2006/main" noGrp="1"/>
          </p:cNvSpPr>
          <p:nvPr/>
        </p:nvSpPr>
        <p:spPr>
          <a:xfrm xmlns:a="http://schemas.openxmlformats.org/drawingml/2006/main">
            <a:off x="609480" y="952560"/>
            <a:ext cx="1618920" cy="190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1" u="none">
                <a:solidFill>
                  <a:srgbClr val="0A0A0A"/>
                </a:solidFill>
                <a:latin typeface="Aptos"/>
                <a:ea typeface="Aptos"/>
                <a:cs typeface="Aptos"/>
              </a:rPr>
              <a:t>THE SETUP</a:t>
            </a:r>
            <a:endParaRPr sz="1050" b="0" u="non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0B4B800A-ADAA-401C-BBB2-3E43B4CF2490}"/>
              </a:ext>
            </a:extLst>
          </p:cNvPr>
          <p:cNvSpPr>
            <a:spLocks xmlns:a="http://schemas.openxmlformats.org/drawingml/2006/main" noGrp="1"/>
          </p:cNvSpPr>
          <p:nvPr/>
        </p:nvSpPr>
        <p:spPr>
          <a:xfrm xmlns:a="http://schemas.openxmlformats.org/drawingml/2006/main">
            <a:off x="609480" y="1380960"/>
            <a:ext cx="1428480" cy="1618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35000"/>
              </a:lnSpc>
              <a:buNone/>
            </a:pPr>
            <a:r>
              <a:rPr sz="1200" b="0" u="none">
                <a:solidFill>
                  <a:srgbClr val="6D6B65"/>
                </a:solidFill>
                <a:latin typeface="Georgia"/>
                <a:ea typeface="Georgia"/>
                <a:cs typeface="Georgia"/>
              </a:rPr>
              <a:t>Ball</a:t>
            </a:r>
            <a:endParaRPr sz="1200" b="0" u="none">
              <a:solidFill>
                <a:srgbClr val="000000"/>
              </a:solidFill>
              <a:latin typeface="Arial"/>
              <a:ea typeface="Arial"/>
              <a:cs typeface="Arial"/>
            </a:endParaRPr>
          </a:p>
          <a:p xmlns:a="http://schemas.openxmlformats.org/drawingml/2006/main">
            <a:pPr>
              <a:lnSpc>
                <a:spcPct val="135000"/>
              </a:lnSpc>
              <a:buNone/>
            </a:pPr>
            <a:r>
              <a:rPr sz="1200" b="0" u="none">
                <a:solidFill>
                  <a:srgbClr val="6D6B65"/>
                </a:solidFill>
                <a:latin typeface="Georgia"/>
                <a:ea typeface="Georgia"/>
                <a:cs typeface="Georgia"/>
              </a:rPr>
              <a:t>Goal</a:t>
            </a:r>
            <a:endParaRPr sz="1200" b="0" u="none">
              <a:solidFill>
                <a:srgbClr val="000000"/>
              </a:solidFill>
              <a:latin typeface="Arial"/>
              <a:ea typeface="Arial"/>
              <a:cs typeface="Arial"/>
            </a:endParaRPr>
          </a:p>
          <a:p xmlns:a="http://schemas.openxmlformats.org/drawingml/2006/main">
            <a:pPr>
              <a:lnSpc>
                <a:spcPct val="135000"/>
              </a:lnSpc>
              <a:buNone/>
            </a:pPr>
            <a:r>
              <a:rPr sz="1200" b="0" u="none">
                <a:solidFill>
                  <a:srgbClr val="6D6B65"/>
                </a:solidFill>
                <a:latin typeface="Georgia"/>
                <a:ea typeface="Georgia"/>
                <a:cs typeface="Georgia"/>
              </a:rPr>
              <a:t>Defense</a:t>
            </a:r>
            <a:endParaRPr sz="1200" b="0" u="none">
              <a:solidFill>
                <a:srgbClr val="000000"/>
              </a:solidFill>
              <a:latin typeface="Arial"/>
              <a:ea typeface="Arial"/>
              <a:cs typeface="Arial"/>
            </a:endParaRPr>
          </a:p>
          <a:p xmlns:a="http://schemas.openxmlformats.org/drawingml/2006/main">
            <a:pPr>
              <a:lnSpc>
                <a:spcPct val="135000"/>
              </a:lnSpc>
              <a:buNone/>
            </a:pPr>
            <a:r>
              <a:rPr sz="1200" b="0" u="none">
                <a:solidFill>
                  <a:srgbClr val="6D6B65"/>
                </a:solidFill>
                <a:latin typeface="Georgia"/>
                <a:ea typeface="Georgia"/>
                <a:cs typeface="Georgia"/>
              </a:rPr>
              <a:t>Coach</a:t>
            </a:r>
            <a:endParaRPr sz="1200" b="0" u="none">
              <a:solidFill>
                <a:srgbClr val="000000"/>
              </a:solidFill>
              <a:latin typeface="Arial"/>
              <a:ea typeface="Arial"/>
              <a:cs typeface="Arial"/>
            </a:endParaRPr>
          </a:p>
        </p:txBody>
      </p:sp>
      <p:sp>
        <p:nvSpPr>
          <p:cNvPr id="30" name="editorial-rule">
            <a:extLst xmlns:a="http://schemas.openxmlformats.org/drawingml/2006/main">
              <a:ext uri="{FF2B5EF4-FFF2-40B4-BE49-F238E27FC236}">
                <a16:creationId xmlns:a16="http://schemas.microsoft.com/office/drawing/2014/main" id="{47B87530-A72F-41D4-8B85-F756E7B86707}"/>
              </a:ext>
            </a:extLst>
          </p:cNvPr>
          <p:cNvSpPr>
            <a:spLocks xmlns:a="http://schemas.openxmlformats.org/drawingml/2006/main" noGrp="1"/>
          </p:cNvSpPr>
          <p:nvPr/>
        </p:nvSpPr>
        <p:spPr>
          <a:xfrm xmlns:a="http://schemas.openxmlformats.org/drawingml/2006/main">
            <a:off x="2266920" y="1028880"/>
            <a:ext cx="9000" cy="485748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31" name="">
            <a:extLst xmlns:a="http://schemas.openxmlformats.org/drawingml/2006/main">
              <a:ext uri="{FF2B5EF4-FFF2-40B4-BE49-F238E27FC236}">
                <a16:creationId xmlns:a16="http://schemas.microsoft.com/office/drawing/2014/main" id="{138034ED-AF67-4991-B19E-6EC0D9FB0F56}"/>
              </a:ext>
            </a:extLst>
          </p:cNvPr>
          <p:cNvSpPr>
            <a:spLocks xmlns:a="http://schemas.openxmlformats.org/drawingml/2006/main" noGrp="1"/>
          </p:cNvSpPr>
          <p:nvPr/>
        </p:nvSpPr>
        <p:spPr>
          <a:xfrm xmlns:a="http://schemas.openxmlformats.org/drawingml/2006/main">
            <a:off x="2714760" y="933480"/>
            <a:ext cx="4762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6D6B65"/>
                </a:solidFill>
                <a:latin typeface="Aptos"/>
                <a:ea typeface="Aptos"/>
                <a:cs typeface="Aptos"/>
              </a:rPr>
              <a:t>01 / THE CHALLENGE</a:t>
            </a:r>
            <a:endParaRPr sz="980" b="0" u="none">
              <a:solidFill>
                <a:srgbClr val="000000"/>
              </a:solidFill>
              <a:latin typeface="Arial"/>
              <a:ea typeface="Arial"/>
              <a:cs typeface="Arial"/>
            </a:endParaRPr>
          </a:p>
        </p:txBody>
      </p:sp>
      <p:sp>
        <p:nvSpPr>
          <p:cNvPr id="32" name="problem-title">
            <a:extLst xmlns:a="http://schemas.openxmlformats.org/drawingml/2006/main">
              <a:ext uri="{FF2B5EF4-FFF2-40B4-BE49-F238E27FC236}">
                <a16:creationId xmlns:a16="http://schemas.microsoft.com/office/drawing/2014/main" id="{F35F2074-8ACD-496E-ABFD-7F614ED66A04}"/>
              </a:ext>
            </a:extLst>
          </p:cNvPr>
          <p:cNvSpPr>
            <a:spLocks xmlns:a="http://schemas.openxmlformats.org/drawingml/2006/main" noGrp="1"/>
          </p:cNvSpPr>
          <p:nvPr/>
        </p:nvSpPr>
        <p:spPr>
          <a:xfrm xmlns:a="http://schemas.openxmlformats.org/drawingml/2006/main">
            <a:off x="2714760" y="1333440"/>
            <a:ext cx="8572320" cy="1352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pPr>
            <a:r>
              <a:rPr sz="3600" b="0" u="none">
                <a:solidFill>
                  <a:srgbClr val="0A0A0A"/>
                </a:solidFill>
                <a:latin typeface="Aptos Display"/>
                <a:ea typeface="Aptos Display"/>
                <a:cs typeface="Aptos Display"/>
              </a:rPr>
              <a:t>A goal is easy.</a:t>
            </a:r>
            <a:endParaRPr sz="3600" b="0" u="none">
              <a:solidFill>
                <a:srgbClr val="000000"/>
              </a:solidFill>
              <a:latin typeface="Arial"/>
              <a:ea typeface="Arial"/>
              <a:cs typeface="Arial"/>
            </a:endParaRPr>
          </a:p>
          <a:p xmlns:a="http://schemas.openxmlformats.org/drawingml/2006/main">
            <a:pPr>
              <a:lnSpc>
                <a:spcPct val="94000"/>
              </a:lnSpc>
              <a:buNone/>
            </a:pPr>
            <a:r>
              <a:rPr sz="3600" b="0" u="none">
                <a:solidFill>
                  <a:srgbClr val="0A0A0A"/>
                </a:solidFill>
                <a:latin typeface="Aptos Display"/>
                <a:ea typeface="Aptos Display"/>
                <a:cs typeface="Aptos Display"/>
              </a:rPr>
              <a:t>A defended goal is not.</a:t>
            </a:r>
            <a:endParaRPr sz="3600" b="0" u="none">
              <a:solidFill>
                <a:srgbClr val="000000"/>
              </a:solidFill>
              <a:latin typeface="Arial"/>
              <a:ea typeface="Arial"/>
              <a:cs typeface="Arial"/>
            </a:endParaRPr>
          </a:p>
        </p:txBody>
      </p:sp>
      <p:sp>
        <p:nvSpPr>
          <p:cNvPr id="33" name="">
            <a:extLst xmlns:a="http://schemas.openxmlformats.org/drawingml/2006/main">
              <a:ext uri="{FF2B5EF4-FFF2-40B4-BE49-F238E27FC236}">
                <a16:creationId xmlns:a16="http://schemas.microsoft.com/office/drawing/2014/main" id="{15A20BF8-D4CB-45EC-BFED-7CCDA0591F20}"/>
              </a:ext>
            </a:extLst>
          </p:cNvPr>
          <p:cNvSpPr>
            <a:spLocks xmlns:a="http://schemas.openxmlformats.org/drawingml/2006/main" noGrp="1"/>
          </p:cNvSpPr>
          <p:nvPr/>
        </p:nvSpPr>
        <p:spPr>
          <a:xfrm xmlns:a="http://schemas.openxmlformats.org/drawingml/2006/main">
            <a:off x="2714760" y="2971800"/>
            <a:ext cx="7429320" cy="8758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28000"/>
              </a:lnSpc>
              <a:buNone/>
            </a:pPr>
            <a:r>
              <a:rPr sz="1650" b="0" u="none">
                <a:solidFill>
                  <a:srgbClr val="0A0A0A"/>
                </a:solidFill>
                <a:latin typeface="Georgia"/>
                <a:ea typeface="Georgia"/>
                <a:cs typeface="Georgia"/>
              </a:rPr>
              <a:t>Agents can take a task. Long-horizon work adds resistance: mistakes compound before the finish.</a:t>
            </a:r>
            <a:endParaRPr sz="1650" b="0" u="none">
              <a:solidFill>
                <a:srgbClr val="000000"/>
              </a:solidFill>
              <a:latin typeface="Arial"/>
              <a:ea typeface="Arial"/>
              <a:cs typeface="Arial"/>
            </a:endParaRPr>
          </a:p>
        </p:txBody>
      </p:sp>
      <p:sp>
        <p:nvSpPr>
          <p:cNvPr id="34" name="primary-problem-metric">
            <a:extLst xmlns:a="http://schemas.openxmlformats.org/drawingml/2006/main">
              <a:ext uri="{FF2B5EF4-FFF2-40B4-BE49-F238E27FC236}">
                <a16:creationId xmlns:a16="http://schemas.microsoft.com/office/drawing/2014/main" id="{EE41A03C-66AE-47B8-882F-1964A0F66B52}"/>
              </a:ext>
            </a:extLst>
          </p:cNvPr>
          <p:cNvSpPr>
            <a:spLocks xmlns:a="http://schemas.openxmlformats.org/drawingml/2006/main" noGrp="1"/>
          </p:cNvSpPr>
          <p:nvPr/>
        </p:nvSpPr>
        <p:spPr>
          <a:xfrm xmlns:a="http://schemas.openxmlformats.org/drawingml/2006/main">
            <a:off x="2714760" y="4305240"/>
            <a:ext cx="247608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5400" b="0" u="none">
                <a:solidFill>
                  <a:srgbClr val="0A0A0A"/>
                </a:solidFill>
                <a:latin typeface="Aptos Display"/>
                <a:ea typeface="Aptos Display"/>
                <a:cs typeface="Aptos Display"/>
              </a:rPr>
              <a:t>1st</a:t>
            </a:r>
            <a:endParaRPr sz="5400" b="0" u="none">
              <a:solidFill>
                <a:srgbClr val="000000"/>
              </a:solidFill>
              <a:latin typeface="Arial"/>
              <a:ea typeface="Arial"/>
              <a:cs typeface="Arial"/>
            </a:endParaRPr>
          </a:p>
        </p:txBody>
      </p:sp>
      <p:sp>
        <p:nvSpPr>
          <p:cNvPr id="35" name="">
            <a:extLst xmlns:a="http://schemas.openxmlformats.org/drawingml/2006/main">
              <a:ext uri="{FF2B5EF4-FFF2-40B4-BE49-F238E27FC236}">
                <a16:creationId xmlns:a16="http://schemas.microsoft.com/office/drawing/2014/main" id="{8C91CDCF-B366-4CD9-B065-EA03F2669130}"/>
              </a:ext>
            </a:extLst>
          </p:cNvPr>
          <p:cNvSpPr>
            <a:spLocks xmlns:a="http://schemas.openxmlformats.org/drawingml/2006/main" noGrp="1"/>
          </p:cNvSpPr>
          <p:nvPr/>
        </p:nvSpPr>
        <p:spPr>
          <a:xfrm xmlns:a="http://schemas.openxmlformats.org/drawingml/2006/main">
            <a:off x="5429160" y="4438800"/>
            <a:ext cx="5333760" cy="666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20000"/>
              </a:lnSpc>
              <a:buNone/>
            </a:pPr>
            <a:r>
              <a:rPr sz="1130" b="0" u="none">
                <a:solidFill>
                  <a:srgbClr val="6D6B65"/>
                </a:solidFill>
                <a:latin typeface="Aptos"/>
                <a:ea typeface="Aptos"/>
                <a:cs typeface="Aptos"/>
              </a:rPr>
              <a:t>ATTEMPT</a:t>
            </a:r>
            <a:endParaRPr sz="1130" b="0" u="none">
              <a:solidFill>
                <a:srgbClr val="000000"/>
              </a:solidFill>
              <a:latin typeface="Arial"/>
              <a:ea typeface="Arial"/>
              <a:cs typeface="Arial"/>
            </a:endParaRPr>
          </a:p>
          <a:p xmlns:a="http://schemas.openxmlformats.org/drawingml/2006/main">
            <a:pPr>
              <a:lnSpc>
                <a:spcPct val="120000"/>
              </a:lnSpc>
              <a:buNone/>
            </a:pPr>
            <a:r>
              <a:rPr sz="1130" b="0" u="none">
                <a:solidFill>
                  <a:srgbClr val="6D6B65"/>
                </a:solidFill>
                <a:latin typeface="Aptos"/>
                <a:ea typeface="Aptos"/>
                <a:cs typeface="Aptos"/>
              </a:rPr>
              <a:t>Even strong players need a coach.</a:t>
            </a:r>
            <a:endParaRPr sz="1130" b="0" u="none">
              <a:solidFill>
                <a:srgbClr val="000000"/>
              </a:solidFill>
              <a:latin typeface="Arial"/>
              <a:ea typeface="Arial"/>
              <a:cs typeface="Arial"/>
            </a:endParaRPr>
          </a:p>
        </p:txBody>
      </p:sp>
      <p:sp>
        <p:nvSpPr>
          <p:cNvPr id="36" name="accent-rule">
            <a:extLst xmlns:a="http://schemas.openxmlformats.org/drawingml/2006/main">
              <a:ext uri="{FF2B5EF4-FFF2-40B4-BE49-F238E27FC236}">
                <a16:creationId xmlns:a16="http://schemas.microsoft.com/office/drawing/2014/main" id="{179E0DA3-181A-4FE3-8FA8-37628D849EBB}"/>
              </a:ext>
            </a:extLst>
          </p:cNvPr>
          <p:cNvSpPr>
            <a:spLocks xmlns:a="http://schemas.openxmlformats.org/drawingml/2006/main" noGrp="1"/>
          </p:cNvSpPr>
          <p:nvPr/>
        </p:nvSpPr>
        <p:spPr>
          <a:xfrm xmlns:a="http://schemas.openxmlformats.org/drawingml/2006/main">
            <a:off x="2714760" y="5524560"/>
            <a:ext cx="8143560" cy="18720"/>
          </a:xfrm>
          <a:prstGeom xmlns:a="http://schemas.openxmlformats.org/drawingml/2006/main" prst="rect">
            <a:avLst/>
          </a:prstGeom>
          <a:solidFill xmlns:a="http://schemas.openxmlformats.org/drawingml/2006/main">
            <a:srgbClr val="9B2F86"/>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5920" rIns="90000" bIns="-2592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37" name="">
            <a:extLst xmlns:a="http://schemas.openxmlformats.org/drawingml/2006/main">
              <a:ext uri="{FF2B5EF4-FFF2-40B4-BE49-F238E27FC236}">
                <a16:creationId xmlns:a16="http://schemas.microsoft.com/office/drawing/2014/main" id="{3E421F2B-8C8D-4572-9F04-523797A528F7}"/>
              </a:ext>
            </a:extLst>
          </p:cNvPr>
          <p:cNvSpPr>
            <a:spLocks xmlns:a="http://schemas.openxmlformats.org/drawingml/2006/main" noGrp="1"/>
          </p:cNvSpPr>
          <p:nvPr/>
        </p:nvSpPr>
        <p:spPr>
          <a:xfrm xmlns:a="http://schemas.openxmlformats.org/drawingml/2006/main">
            <a:off x="2714760" y="5667480"/>
            <a:ext cx="8096040" cy="285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0" i="1" u="none">
                <a:solidFill>
                  <a:srgbClr val="6D6B65"/>
                </a:solidFill>
                <a:latin typeface="Aptos"/>
                <a:ea typeface="Aptos"/>
                <a:cs typeface="Aptos"/>
              </a:rPr>
              <a:t>The question is not whether an agent can try. It is how the agent improves.</a:t>
            </a:r>
            <a:endParaRPr sz="1050" b="0" u="none">
              <a:solidFill>
                <a:srgbClr val="000000"/>
              </a:solidFill>
              <a:latin typeface="Arial"/>
              <a:ea typeface="Arial"/>
              <a:cs typeface="Arial"/>
            </a:endParaRPr>
          </a:p>
        </p:txBody>
      </p:sp>
    </p:spTree>
    <p:extLst>
      <p:ext uri="{BB962C8B-B14F-4D97-AF65-F5344CB8AC3E}">
        <p14:creationId xmlns:p14="http://schemas.microsoft.com/office/powerpoint/2010/main" val="1914373908"/>
      </p:ext>
    </p:extLst>
  </p:cSld>
</p:sld>
</file>

<file path=ppt/slides/slide3.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8" name="top-bar">
            <a:extLst xmlns:a="http://schemas.openxmlformats.org/drawingml/2006/main">
              <a:ext uri="{FF2B5EF4-FFF2-40B4-BE49-F238E27FC236}">
                <a16:creationId xmlns:a16="http://schemas.microsoft.com/office/drawing/2014/main" id="{6986C3D5-D6B0-43C3-B213-FBB1219CDE25}"/>
              </a:ext>
            </a:extLst>
          </p:cNvPr>
          <p:cNvSpPr>
            <a:spLocks xmlns:a="http://schemas.openxmlformats.org/drawingml/2006/main" noGrp="1"/>
          </p:cNvSpPr>
          <p:nvPr/>
        </p:nvSpPr>
        <p:spPr>
          <a:xfrm xmlns:a="http://schemas.openxmlformats.org/drawingml/2006/main">
            <a:off x="0" y="0"/>
            <a:ext cx="12191760" cy="552240"/>
          </a:xfrm>
          <a:prstGeom xmlns:a="http://schemas.openxmlformats.org/drawingml/2006/main" prst="rect">
            <a:avLst/>
          </a:prstGeom>
          <a:solidFill xmlns:a="http://schemas.openxmlformats.org/drawingml/2006/main">
            <a:srgbClr val="0A0A0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39" name="">
            <a:extLst xmlns:a="http://schemas.openxmlformats.org/drawingml/2006/main">
              <a:ext uri="{FF2B5EF4-FFF2-40B4-BE49-F238E27FC236}">
                <a16:creationId xmlns:a16="http://schemas.microsoft.com/office/drawing/2014/main" id="{75E291FE-B509-474E-BF0D-803F71F3056F}"/>
              </a:ext>
            </a:extLst>
          </p:cNvPr>
          <p:cNvSpPr>
            <a:spLocks xmlns:a="http://schemas.openxmlformats.org/drawingml/2006/main" noGrp="1"/>
          </p:cNvSpPr>
          <p:nvPr/>
        </p:nvSpPr>
        <p:spPr>
          <a:xfrm xmlns:a="http://schemas.openxmlformats.org/drawingml/2006/main">
            <a:off x="285840" y="171360"/>
            <a:ext cx="247608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1" u="none">
                <a:solidFill>
                  <a:srgbClr val="FFFFFF"/>
                </a:solidFill>
                <a:latin typeface="Aptos"/>
                <a:ea typeface="Aptos"/>
                <a:cs typeface="Aptos"/>
              </a:rPr>
              <a:t>✦  LONG-HORIZON BUILD DAY</a:t>
            </a:r>
            <a:endParaRPr sz="1050" b="0" u="none">
              <a:solidFill>
                <a:srgbClr val="000000"/>
              </a:solidFill>
              <a:latin typeface="Arial"/>
              <a:ea typeface="Arial"/>
              <a:cs typeface="Arial"/>
            </a:endParaRPr>
          </a:p>
        </p:txBody>
      </p:sp>
      <p:sp>
        <p:nvSpPr>
          <p:cNvPr id="40" name="">
            <a:extLst xmlns:a="http://schemas.openxmlformats.org/drawingml/2006/main">
              <a:ext uri="{FF2B5EF4-FFF2-40B4-BE49-F238E27FC236}">
                <a16:creationId xmlns:a16="http://schemas.microsoft.com/office/drawing/2014/main" id="{3DDA2C07-B7A1-4C04-887E-2236858B8106}"/>
              </a:ext>
            </a:extLst>
          </p:cNvPr>
          <p:cNvSpPr>
            <a:spLocks xmlns:a="http://schemas.openxmlformats.org/drawingml/2006/main" noGrp="1"/>
          </p:cNvSpPr>
          <p:nvPr/>
        </p:nvSpPr>
        <p:spPr>
          <a:xfrm xmlns:a="http://schemas.openxmlformats.org/drawingml/2006/main">
            <a:off x="7810560" y="171360"/>
            <a:ext cx="314280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00" b="0" u="none">
                <a:solidFill>
                  <a:srgbClr val="C9C7C0"/>
                </a:solidFill>
                <a:latin typeface="Aptos"/>
                <a:ea typeface="Aptos"/>
                <a:cs typeface="Aptos"/>
              </a:rPr>
              <a:t>INSIGHT</a:t>
            </a:r>
            <a:endParaRPr sz="900" b="0" u="none">
              <a:solidFill>
                <a:srgbClr val="000000"/>
              </a:solidFill>
              <a:latin typeface="Arial"/>
              <a:ea typeface="Arial"/>
              <a:cs typeface="Arial"/>
            </a:endParaRPr>
          </a:p>
        </p:txBody>
      </p:sp>
      <p:sp>
        <p:nvSpPr>
          <p:cNvPr id="41" name="">
            <a:extLst xmlns:a="http://schemas.openxmlformats.org/drawingml/2006/main">
              <a:ext uri="{FF2B5EF4-FFF2-40B4-BE49-F238E27FC236}">
                <a16:creationId xmlns:a16="http://schemas.microsoft.com/office/drawing/2014/main" id="{11D34734-7AA2-48F8-92A4-018046FE9B80}"/>
              </a:ext>
            </a:extLst>
          </p:cNvPr>
          <p:cNvSpPr>
            <a:spLocks xmlns:a="http://schemas.openxmlformats.org/drawingml/2006/main" noGrp="1"/>
          </p:cNvSpPr>
          <p:nvPr/>
        </p:nvSpPr>
        <p:spPr>
          <a:xfrm xmlns:a="http://schemas.openxmlformats.org/drawingml/2006/main">
            <a:off x="11239560" y="1713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80" b="1" u="none">
                <a:solidFill>
                  <a:srgbClr val="FFFFFF"/>
                </a:solidFill>
                <a:latin typeface="Aptos"/>
                <a:ea typeface="Aptos"/>
                <a:cs typeface="Aptos"/>
              </a:rPr>
              <a:t>03</a:t>
            </a:r>
            <a:endParaRPr sz="980" b="0" u="none">
              <a:solidFill>
                <a:srgbClr val="000000"/>
              </a:solidFill>
              <a:latin typeface="Arial"/>
              <a:ea typeface="Arial"/>
              <a:cs typeface="Arial"/>
            </a:endParaRPr>
          </a:p>
        </p:txBody>
      </p:sp>
      <p:sp>
        <p:nvSpPr>
          <p:cNvPr id="42" name="">
            <a:extLst xmlns:a="http://schemas.openxmlformats.org/drawingml/2006/main">
              <a:ext uri="{FF2B5EF4-FFF2-40B4-BE49-F238E27FC236}">
                <a16:creationId xmlns:a16="http://schemas.microsoft.com/office/drawing/2014/main" id="{9B77A5E3-4705-4848-AE3D-A4D6C5CB0A0B}"/>
              </a:ext>
            </a:extLst>
          </p:cNvPr>
          <p:cNvSpPr>
            <a:spLocks xmlns:a="http://schemas.openxmlformats.org/drawingml/2006/main" noGrp="1"/>
          </p:cNvSpPr>
          <p:nvPr/>
        </p:nvSpPr>
        <p:spPr>
          <a:xfrm xmlns:a="http://schemas.openxmlformats.org/drawingml/2006/main">
            <a:off x="609480" y="876240"/>
            <a:ext cx="4762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6D6B65"/>
                </a:solidFill>
                <a:latin typeface="Aptos"/>
                <a:ea typeface="Aptos"/>
                <a:cs typeface="Aptos"/>
              </a:rPr>
              <a:t>02 / THE INSIGHT</a:t>
            </a:r>
            <a:endParaRPr sz="980" b="0" u="none">
              <a:solidFill>
                <a:srgbClr val="000000"/>
              </a:solidFill>
              <a:latin typeface="Arial"/>
              <a:ea typeface="Arial"/>
              <a:cs typeface="Arial"/>
            </a:endParaRPr>
          </a:p>
        </p:txBody>
      </p:sp>
      <p:sp>
        <p:nvSpPr>
          <p:cNvPr id="43" name="core-insight">
            <a:extLst xmlns:a="http://schemas.openxmlformats.org/drawingml/2006/main">
              <a:ext uri="{FF2B5EF4-FFF2-40B4-BE49-F238E27FC236}">
                <a16:creationId xmlns:a16="http://schemas.microsoft.com/office/drawing/2014/main" id="{574122E3-1863-43FD-AE0B-35B1B58FC807}"/>
              </a:ext>
            </a:extLst>
          </p:cNvPr>
          <p:cNvSpPr>
            <a:spLocks xmlns:a="http://schemas.openxmlformats.org/drawingml/2006/main" noGrp="1"/>
          </p:cNvSpPr>
          <p:nvPr/>
        </p:nvSpPr>
        <p:spPr>
          <a:xfrm xmlns:a="http://schemas.openxmlformats.org/drawingml/2006/main">
            <a:off x="1047600" y="1762200"/>
            <a:ext cx="10096200" cy="171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3000"/>
              </a:lnSpc>
              <a:buNone/>
            </a:pPr>
            <a:r>
              <a:rPr sz="3820" b="0" u="none">
                <a:solidFill>
                  <a:srgbClr val="0A0A0A"/>
                </a:solidFill>
                <a:latin typeface="Georgia"/>
                <a:ea typeface="Georgia"/>
                <a:cs typeface="Georgia"/>
              </a:rPr>
              <a:t>“Agents need a coach,</a:t>
            </a:r>
            <a:endParaRPr sz="3820" b="0" u="none">
              <a:solidFill>
                <a:srgbClr val="000000"/>
              </a:solidFill>
              <a:latin typeface="Arial"/>
              <a:ea typeface="Arial"/>
              <a:cs typeface="Arial"/>
            </a:endParaRPr>
          </a:p>
          <a:p xmlns:a="http://schemas.openxmlformats.org/drawingml/2006/main">
            <a:pPr algn="ctr">
              <a:lnSpc>
                <a:spcPct val="103000"/>
              </a:lnSpc>
              <a:buNone/>
            </a:pPr>
            <a:r>
              <a:rPr sz="3820" b="0" u="none">
                <a:solidFill>
                  <a:srgbClr val="0A0A0A"/>
                </a:solidFill>
                <a:latin typeface="Georgia"/>
                <a:ea typeface="Georgia"/>
                <a:cs typeface="Georgia"/>
              </a:rPr>
              <a:t>not one perfect first try.”</a:t>
            </a:r>
            <a:endParaRPr sz="3820" b="0" u="none">
              <a:solidFill>
                <a:srgbClr val="000000"/>
              </a:solidFill>
              <a:latin typeface="Arial"/>
              <a:ea typeface="Arial"/>
              <a:cs typeface="Arial"/>
            </a:endParaRPr>
          </a:p>
        </p:txBody>
      </p:sp>
      <p:sp>
        <p:nvSpPr>
          <p:cNvPr id="44" name="accent-rule">
            <a:extLst xmlns:a="http://schemas.openxmlformats.org/drawingml/2006/main">
              <a:ext uri="{FF2B5EF4-FFF2-40B4-BE49-F238E27FC236}">
                <a16:creationId xmlns:a16="http://schemas.microsoft.com/office/drawing/2014/main" id="{B7006359-8035-45F0-ABD8-1965658D98E8}"/>
              </a:ext>
            </a:extLst>
          </p:cNvPr>
          <p:cNvSpPr>
            <a:spLocks xmlns:a="http://schemas.openxmlformats.org/drawingml/2006/main" noGrp="1"/>
          </p:cNvSpPr>
          <p:nvPr/>
        </p:nvSpPr>
        <p:spPr>
          <a:xfrm xmlns:a="http://schemas.openxmlformats.org/drawingml/2006/main">
            <a:off x="4095720" y="4000680"/>
            <a:ext cx="4000320" cy="18720"/>
          </a:xfrm>
          <a:prstGeom xmlns:a="http://schemas.openxmlformats.org/drawingml/2006/main" prst="rect">
            <a:avLst/>
          </a:prstGeom>
          <a:solidFill xmlns:a="http://schemas.openxmlformats.org/drawingml/2006/main">
            <a:srgbClr val="9B2F86"/>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5920" rIns="90000" bIns="-2592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45" name="">
            <a:extLst xmlns:a="http://schemas.openxmlformats.org/drawingml/2006/main">
              <a:ext uri="{FF2B5EF4-FFF2-40B4-BE49-F238E27FC236}">
                <a16:creationId xmlns:a16="http://schemas.microsoft.com/office/drawing/2014/main" id="{7E55BD73-9075-4653-9793-F4C7EC9C83C5}"/>
              </a:ext>
            </a:extLst>
          </p:cNvPr>
          <p:cNvSpPr>
            <a:spLocks xmlns:a="http://schemas.openxmlformats.org/drawingml/2006/main" noGrp="1"/>
          </p:cNvSpPr>
          <p:nvPr/>
        </p:nvSpPr>
        <p:spPr>
          <a:xfrm xmlns:a="http://schemas.openxmlformats.org/drawingml/2006/main">
            <a:off x="2571840" y="4400640"/>
            <a:ext cx="7048080" cy="666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20000"/>
              </a:lnSpc>
              <a:buNone/>
            </a:pPr>
            <a:r>
              <a:rPr sz="1500" b="0" u="none">
                <a:solidFill>
                  <a:srgbClr val="6D6B65"/>
                </a:solidFill>
                <a:latin typeface="Aptos"/>
                <a:ea typeface="Aptos"/>
                <a:cs typeface="Aptos"/>
              </a:rPr>
              <a:t>Feedback turns each failed attempt into a better scoring strategy.</a:t>
            </a:r>
            <a:endParaRPr sz="1500" b="0" u="none">
              <a:solidFill>
                <a:srgbClr val="000000"/>
              </a:solidFill>
              <a:latin typeface="Arial"/>
              <a:ea typeface="Arial"/>
              <a:cs typeface="Arial"/>
            </a:endParaRPr>
          </a:p>
        </p:txBody>
      </p:sp>
      <p:sp>
        <p:nvSpPr>
          <p:cNvPr id="46" name="">
            <a:extLst xmlns:a="http://schemas.openxmlformats.org/drawingml/2006/main">
              <a:ext uri="{FF2B5EF4-FFF2-40B4-BE49-F238E27FC236}">
                <a16:creationId xmlns:a16="http://schemas.microsoft.com/office/drawing/2014/main" id="{BA5D1B49-DBC6-4D35-BFED-1171333430B3}"/>
              </a:ext>
            </a:extLst>
          </p:cNvPr>
          <p:cNvSpPr>
            <a:spLocks xmlns:a="http://schemas.openxmlformats.org/drawingml/2006/main" noGrp="1"/>
          </p:cNvSpPr>
          <p:nvPr/>
        </p:nvSpPr>
        <p:spPr>
          <a:xfrm xmlns:a="http://schemas.openxmlformats.org/drawingml/2006/main">
            <a:off x="3905280" y="5619600"/>
            <a:ext cx="438120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pPr>
            <a:r>
              <a:rPr sz="900" b="1" u="none">
                <a:solidFill>
                  <a:srgbClr val="9B2F86"/>
                </a:solidFill>
                <a:latin typeface="Aptos"/>
                <a:ea typeface="Aptos"/>
                <a:cs typeface="Aptos"/>
              </a:rPr>
              <a:t>LONG-HORIZON DESIGN PRINCIPLE</a:t>
            </a:r>
            <a:endParaRPr sz="900" b="0" u="none">
              <a:solidFill>
                <a:srgbClr val="000000"/>
              </a:solidFill>
              <a:latin typeface="Arial"/>
              <a:ea typeface="Arial"/>
              <a:cs typeface="Arial"/>
            </a:endParaRPr>
          </a:p>
        </p:txBody>
      </p:sp>
    </p:spTree>
    <p:extLst>
      <p:ext uri="{BB962C8B-B14F-4D97-AF65-F5344CB8AC3E}">
        <p14:creationId xmlns:p14="http://schemas.microsoft.com/office/powerpoint/2010/main" val="1557210281"/>
      </p:ext>
    </p:extLst>
  </p:cSld>
</p:sld>
</file>

<file path=ppt/slides/slide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47" name="top-bar">
            <a:extLst xmlns:a="http://schemas.openxmlformats.org/drawingml/2006/main">
              <a:ext uri="{FF2B5EF4-FFF2-40B4-BE49-F238E27FC236}">
                <a16:creationId xmlns:a16="http://schemas.microsoft.com/office/drawing/2014/main" id="{3CECD844-E81A-41E4-AAC3-54D05BEBC5D9}"/>
              </a:ext>
            </a:extLst>
          </p:cNvPr>
          <p:cNvSpPr>
            <a:spLocks xmlns:a="http://schemas.openxmlformats.org/drawingml/2006/main" noGrp="1"/>
          </p:cNvSpPr>
          <p:nvPr/>
        </p:nvSpPr>
        <p:spPr>
          <a:xfrm xmlns:a="http://schemas.openxmlformats.org/drawingml/2006/main">
            <a:off x="0" y="0"/>
            <a:ext cx="12191760" cy="552240"/>
          </a:xfrm>
          <a:prstGeom xmlns:a="http://schemas.openxmlformats.org/drawingml/2006/main" prst="rect">
            <a:avLst/>
          </a:prstGeom>
          <a:solidFill xmlns:a="http://schemas.openxmlformats.org/drawingml/2006/main">
            <a:srgbClr val="F4F3EE"/>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48" name="">
            <a:extLst xmlns:a="http://schemas.openxmlformats.org/drawingml/2006/main">
              <a:ext uri="{FF2B5EF4-FFF2-40B4-BE49-F238E27FC236}">
                <a16:creationId xmlns:a16="http://schemas.microsoft.com/office/drawing/2014/main" id="{255CC6CD-6AB5-4E50-AA57-A7E8043E6AB3}"/>
              </a:ext>
            </a:extLst>
          </p:cNvPr>
          <p:cNvSpPr>
            <a:spLocks xmlns:a="http://schemas.openxmlformats.org/drawingml/2006/main" noGrp="1"/>
          </p:cNvSpPr>
          <p:nvPr/>
        </p:nvSpPr>
        <p:spPr>
          <a:xfrm xmlns:a="http://schemas.openxmlformats.org/drawingml/2006/main">
            <a:off x="285840" y="171360"/>
            <a:ext cx="247608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1" u="none">
                <a:solidFill>
                  <a:srgbClr val="0A0A0A"/>
                </a:solidFill>
                <a:latin typeface="Aptos"/>
                <a:ea typeface="Aptos"/>
                <a:cs typeface="Aptos"/>
              </a:rPr>
              <a:t>✦  LONG-HORIZON BUILD DAY</a:t>
            </a:r>
            <a:endParaRPr sz="1050" b="0" u="none">
              <a:solidFill>
                <a:srgbClr val="FFFFFF"/>
              </a:solidFill>
              <a:latin typeface="Arial"/>
              <a:ea typeface="Arial"/>
              <a:cs typeface="Arial"/>
            </a:endParaRPr>
          </a:p>
        </p:txBody>
      </p:sp>
      <p:sp>
        <p:nvSpPr>
          <p:cNvPr id="49" name="">
            <a:extLst xmlns:a="http://schemas.openxmlformats.org/drawingml/2006/main">
              <a:ext uri="{FF2B5EF4-FFF2-40B4-BE49-F238E27FC236}">
                <a16:creationId xmlns:a16="http://schemas.microsoft.com/office/drawing/2014/main" id="{DEE5E679-3577-4452-B520-BB33DDE9E4D5}"/>
              </a:ext>
            </a:extLst>
          </p:cNvPr>
          <p:cNvSpPr>
            <a:spLocks xmlns:a="http://schemas.openxmlformats.org/drawingml/2006/main" noGrp="1"/>
          </p:cNvSpPr>
          <p:nvPr/>
        </p:nvSpPr>
        <p:spPr>
          <a:xfrm xmlns:a="http://schemas.openxmlformats.org/drawingml/2006/main">
            <a:off x="7810560" y="171360"/>
            <a:ext cx="314280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00" b="0" u="none">
                <a:solidFill>
                  <a:srgbClr val="6D6B65"/>
                </a:solidFill>
                <a:latin typeface="Aptos"/>
                <a:ea typeface="Aptos"/>
                <a:cs typeface="Aptos"/>
              </a:rPr>
              <a:t>SOLUTION</a:t>
            </a:r>
            <a:endParaRPr sz="900" b="0" u="none">
              <a:solidFill>
                <a:srgbClr val="FFFFFF"/>
              </a:solidFill>
              <a:latin typeface="Arial"/>
              <a:ea typeface="Arial"/>
              <a:cs typeface="Arial"/>
            </a:endParaRPr>
          </a:p>
        </p:txBody>
      </p:sp>
      <p:sp>
        <p:nvSpPr>
          <p:cNvPr id="50" name="">
            <a:extLst xmlns:a="http://schemas.openxmlformats.org/drawingml/2006/main">
              <a:ext uri="{FF2B5EF4-FFF2-40B4-BE49-F238E27FC236}">
                <a16:creationId xmlns:a16="http://schemas.microsoft.com/office/drawing/2014/main" id="{66F300C4-0EBD-4A0A-9576-32E7F39AD0DD}"/>
              </a:ext>
            </a:extLst>
          </p:cNvPr>
          <p:cNvSpPr>
            <a:spLocks xmlns:a="http://schemas.openxmlformats.org/drawingml/2006/main" noGrp="1"/>
          </p:cNvSpPr>
          <p:nvPr/>
        </p:nvSpPr>
        <p:spPr>
          <a:xfrm xmlns:a="http://schemas.openxmlformats.org/drawingml/2006/main">
            <a:off x="11239560" y="1713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80" b="1" u="none">
                <a:solidFill>
                  <a:srgbClr val="0A0A0A"/>
                </a:solidFill>
                <a:latin typeface="Aptos"/>
                <a:ea typeface="Aptos"/>
                <a:cs typeface="Aptos"/>
              </a:rPr>
              <a:t>04</a:t>
            </a:r>
            <a:endParaRPr sz="980" b="0" u="none">
              <a:solidFill>
                <a:srgbClr val="FFFFFF"/>
              </a:solidFill>
              <a:latin typeface="Arial"/>
              <a:ea typeface="Arial"/>
              <a:cs typeface="Arial"/>
            </a:endParaRPr>
          </a:p>
        </p:txBody>
      </p:sp>
      <p:sp>
        <p:nvSpPr>
          <p:cNvPr id="51" name="">
            <a:extLst xmlns:a="http://schemas.openxmlformats.org/drawingml/2006/main">
              <a:ext uri="{FF2B5EF4-FFF2-40B4-BE49-F238E27FC236}">
                <a16:creationId xmlns:a16="http://schemas.microsoft.com/office/drawing/2014/main" id="{6A1A2684-E5BF-463F-9430-0D6F65C7B936}"/>
              </a:ext>
            </a:extLst>
          </p:cNvPr>
          <p:cNvSpPr>
            <a:spLocks xmlns:a="http://schemas.openxmlformats.org/drawingml/2006/main" noGrp="1"/>
          </p:cNvSpPr>
          <p:nvPr/>
        </p:nvSpPr>
        <p:spPr>
          <a:xfrm xmlns:a="http://schemas.openxmlformats.org/drawingml/2006/main">
            <a:off x="609480" y="914400"/>
            <a:ext cx="4762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nSpc>
                <a:spcPct val="100000"/>
              </a:lnSpc>
              <a:buNone/>
            </a:pPr>
            <a:r>
              <a:rPr sz="980" b="1" u="none">
                <a:solidFill>
                  <a:srgbClr val="BDBBB4"/>
                </a:solidFill>
                <a:latin typeface="Aptos"/>
                <a:ea typeface="Aptos"/>
                <a:cs typeface="Aptos"/>
              </a:rPr>
              <a:t>03 / SOLUTION</a:t>
            </a:r>
            <a:endParaRPr sz="980" b="0" u="none">
              <a:solidFill>
                <a:srgbClr val="FFFFFF"/>
              </a:solidFill>
              <a:latin typeface="Arial"/>
              <a:ea typeface="Arial"/>
              <a:cs typeface="Arial"/>
            </a:endParaRPr>
          </a:p>
        </p:txBody>
      </p:sp>
      <p:sp>
        <p:nvSpPr>
          <p:cNvPr id="52" name="solution-title">
            <a:extLst xmlns:a="http://schemas.openxmlformats.org/drawingml/2006/main">
              <a:ext uri="{FF2B5EF4-FFF2-40B4-BE49-F238E27FC236}">
                <a16:creationId xmlns:a16="http://schemas.microsoft.com/office/drawing/2014/main" id="{D6BC9944-4F39-4646-A9B4-F943CF2EC14F}"/>
              </a:ext>
            </a:extLst>
          </p:cNvPr>
          <p:cNvSpPr>
            <a:spLocks xmlns:a="http://schemas.openxmlformats.org/drawingml/2006/main" noGrp="1"/>
          </p:cNvSpPr>
          <p:nvPr/>
        </p:nvSpPr>
        <p:spPr>
          <a:xfrm xmlns:a="http://schemas.openxmlformats.org/drawingml/2006/main">
            <a:off x="609480" y="1333440"/>
            <a:ext cx="9334080" cy="685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3450" b="0" u="none">
                <a:solidFill>
                  <a:srgbClr val="FFFFFF"/>
                </a:solidFill>
                <a:latin typeface="Aptos Display"/>
                <a:ea typeface="Aptos Display"/>
                <a:cs typeface="Aptos Display"/>
              </a:rPr>
              <a:t>Goalie turns every miss into the next attempt.</a:t>
            </a:r>
            <a:endParaRPr sz="3450" b="0" u="none">
              <a:solidFill>
                <a:srgbClr val="FFFFFF"/>
              </a:solidFill>
              <a:latin typeface="Arial"/>
              <a:ea typeface="Arial"/>
              <a:cs typeface="Arial"/>
            </a:endParaRPr>
          </a:p>
        </p:txBody>
      </p:sp>
      <p:sp>
        <p:nvSpPr>
          <p:cNvPr id="53" name="">
            <a:extLst xmlns:a="http://schemas.openxmlformats.org/drawingml/2006/main">
              <a:ext uri="{FF2B5EF4-FFF2-40B4-BE49-F238E27FC236}">
                <a16:creationId xmlns:a16="http://schemas.microsoft.com/office/drawing/2014/main" id="{6A07576D-A1B1-45F9-BE66-D88B25057008}"/>
              </a:ext>
            </a:extLst>
          </p:cNvPr>
          <p:cNvSpPr>
            <a:spLocks xmlns:a="http://schemas.openxmlformats.org/drawingml/2006/main" noGrp="1"/>
          </p:cNvSpPr>
          <p:nvPr/>
        </p:nvSpPr>
        <p:spPr>
          <a:xfrm xmlns:a="http://schemas.openxmlformats.org/drawingml/2006/main">
            <a:off x="628560" y="2152800"/>
            <a:ext cx="6667200" cy="361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350" b="0" u="none">
                <a:solidFill>
                  <a:srgbClr val="D5D3CC"/>
                </a:solidFill>
                <a:latin typeface="Georgia"/>
                <a:ea typeface="Georgia"/>
                <a:cs typeface="Georgia"/>
              </a:rPr>
              <a:t>Two agent roles. One evidence-driven loop.</a:t>
            </a:r>
            <a:endParaRPr sz="1350" b="0" u="none">
              <a:solidFill>
                <a:srgbClr val="FFFFFF"/>
              </a:solidFill>
              <a:latin typeface="Arial"/>
              <a:ea typeface="Arial"/>
              <a:cs typeface="Arial"/>
            </a:endParaRPr>
          </a:p>
        </p:txBody>
      </p:sp>
      <p:sp>
        <p:nvSpPr>
          <p:cNvPr id="54" name="process-line">
            <a:extLst xmlns:a="http://schemas.openxmlformats.org/drawingml/2006/main">
              <a:ext uri="{FF2B5EF4-FFF2-40B4-BE49-F238E27FC236}">
                <a16:creationId xmlns:a16="http://schemas.microsoft.com/office/drawing/2014/main" id="{224DF94E-CD4A-465F-B1BB-ADF54DDA9B0D}"/>
              </a:ext>
            </a:extLst>
          </p:cNvPr>
          <p:cNvSpPr>
            <a:spLocks xmlns:a="http://schemas.openxmlformats.org/drawingml/2006/main" noGrp="1"/>
          </p:cNvSpPr>
          <p:nvPr/>
        </p:nvSpPr>
        <p:spPr>
          <a:xfrm xmlns:a="http://schemas.openxmlformats.org/drawingml/2006/main">
            <a:off x="1238400" y="3676680"/>
            <a:ext cx="8096040" cy="18720"/>
          </a:xfrm>
          <a:prstGeom xmlns:a="http://schemas.openxmlformats.org/drawingml/2006/main" prst="rect">
            <a:avLst/>
          </a:prstGeom>
          <a:solidFill xmlns:a="http://schemas.openxmlformats.org/drawingml/2006/main">
            <a:srgbClr val="4B4B4B"/>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5920" rIns="90000" bIns="-2592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55" name="">
            <a:extLst xmlns:a="http://schemas.openxmlformats.org/drawingml/2006/main">
              <a:ext uri="{FF2B5EF4-FFF2-40B4-BE49-F238E27FC236}">
                <a16:creationId xmlns:a16="http://schemas.microsoft.com/office/drawing/2014/main" id="{C8B702DD-FBD1-4335-B5DF-1DE88D111D27}"/>
              </a:ext>
            </a:extLst>
          </p:cNvPr>
          <p:cNvSpPr>
            <a:spLocks xmlns:a="http://schemas.openxmlformats.org/drawingml/2006/main" noGrp="1"/>
          </p:cNvSpPr>
          <p:nvPr/>
        </p:nvSpPr>
        <p:spPr>
          <a:xfrm xmlns:a="http://schemas.openxmlformats.org/drawingml/2006/main">
            <a:off x="666720" y="3333600"/>
            <a:ext cx="685440" cy="685440"/>
          </a:xfrm>
          <a:prstGeom xmlns:a="http://schemas.openxmlformats.org/drawingml/2006/main" prst="ellipse">
            <a:avLst/>
          </a:prstGeom>
          <a:solidFill xmlns:a="http://schemas.openxmlformats.org/drawingml/2006/main">
            <a:srgbClr val="0A0A0A"/>
          </a:solidFill>
          <a:ln xmlns:a="http://schemas.openxmlformats.org/drawingml/2006/main" w="19050">
            <a:solidFill>
              <a:srgbClr val="FFFFFF"/>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56" name="">
            <a:extLst xmlns:a="http://schemas.openxmlformats.org/drawingml/2006/main">
              <a:ext uri="{FF2B5EF4-FFF2-40B4-BE49-F238E27FC236}">
                <a16:creationId xmlns:a16="http://schemas.microsoft.com/office/drawing/2014/main" id="{6BF4B036-E845-4E2C-907E-777392D5B12E}"/>
              </a:ext>
            </a:extLst>
          </p:cNvPr>
          <p:cNvSpPr>
            <a:spLocks xmlns:a="http://schemas.openxmlformats.org/drawingml/2006/main" noGrp="1"/>
          </p:cNvSpPr>
          <p:nvPr/>
        </p:nvSpPr>
        <p:spPr>
          <a:xfrm xmlns:a="http://schemas.openxmlformats.org/drawingml/2006/main">
            <a:off x="666720" y="3533760"/>
            <a:ext cx="685440" cy="247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pPr>
            <a:r>
              <a:rPr sz="1280" b="1" u="none">
                <a:solidFill>
                  <a:srgbClr val="FFFFFF"/>
                </a:solidFill>
                <a:latin typeface="Aptos"/>
                <a:ea typeface="Aptos"/>
                <a:cs typeface="Aptos"/>
              </a:rPr>
              <a:t>01</a:t>
            </a:r>
            <a:endParaRPr sz="1280" b="0" u="none">
              <a:solidFill>
                <a:srgbClr val="FFFFFF"/>
              </a:solidFill>
              <a:latin typeface="Arial"/>
              <a:ea typeface="Arial"/>
              <a:cs typeface="Arial"/>
            </a:endParaRPr>
          </a:p>
        </p:txBody>
      </p:sp>
      <p:sp>
        <p:nvSpPr>
          <p:cNvPr id="57" name="">
            <a:extLst xmlns:a="http://schemas.openxmlformats.org/drawingml/2006/main">
              <a:ext uri="{FF2B5EF4-FFF2-40B4-BE49-F238E27FC236}">
                <a16:creationId xmlns:a16="http://schemas.microsoft.com/office/drawing/2014/main" id="{8958514F-ED88-44F2-991E-E784E38D1C63}"/>
              </a:ext>
            </a:extLst>
          </p:cNvPr>
          <p:cNvSpPr>
            <a:spLocks xmlns:a="http://schemas.openxmlformats.org/drawingml/2006/main" noGrp="1"/>
          </p:cNvSpPr>
          <p:nvPr/>
        </p:nvSpPr>
        <p:spPr>
          <a:xfrm xmlns:a="http://schemas.openxmlformats.org/drawingml/2006/main">
            <a:off x="647640" y="4305240"/>
            <a:ext cx="247608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950" b="0" u="none">
                <a:solidFill>
                  <a:srgbClr val="FFFFFF"/>
                </a:solidFill>
                <a:latin typeface="Aptos Display"/>
                <a:ea typeface="Aptos Display"/>
                <a:cs typeface="Aptos Display"/>
              </a:rPr>
              <a:t>OFFENSE</a:t>
            </a:r>
            <a:endParaRPr sz="1950" b="0" u="none">
              <a:solidFill>
                <a:srgbClr val="FFFFFF"/>
              </a:solidFill>
              <a:latin typeface="Arial"/>
              <a:ea typeface="Arial"/>
              <a:cs typeface="Arial"/>
            </a:endParaRPr>
          </a:p>
        </p:txBody>
      </p:sp>
      <p:sp>
        <p:nvSpPr>
          <p:cNvPr id="58" name="">
            <a:extLst xmlns:a="http://schemas.openxmlformats.org/drawingml/2006/main">
              <a:ext uri="{FF2B5EF4-FFF2-40B4-BE49-F238E27FC236}">
                <a16:creationId xmlns:a16="http://schemas.microsoft.com/office/drawing/2014/main" id="{E67EF8DF-B6AB-4FE4-9B8D-96E61233E245}"/>
              </a:ext>
            </a:extLst>
          </p:cNvPr>
          <p:cNvSpPr>
            <a:spLocks xmlns:a="http://schemas.openxmlformats.org/drawingml/2006/main" noGrp="1"/>
          </p:cNvSpPr>
          <p:nvPr/>
        </p:nvSpPr>
        <p:spPr>
          <a:xfrm xmlns:a="http://schemas.openxmlformats.org/drawingml/2006/main">
            <a:off x="647640" y="4762440"/>
            <a:ext cx="2714400" cy="666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20000"/>
              </a:lnSpc>
              <a:buNone/>
            </a:pPr>
            <a:r>
              <a:rPr sz="1280" b="0" u="none">
                <a:solidFill>
                  <a:srgbClr val="C9C7C0"/>
                </a:solidFill>
                <a:latin typeface="Georgia"/>
                <a:ea typeface="Georgia"/>
                <a:cs typeface="Georgia"/>
              </a:rPr>
              <a:t>Takes the shot with the context it has</a:t>
            </a:r>
            <a:endParaRPr sz="1280" b="0" u="none">
              <a:solidFill>
                <a:srgbClr val="FFFFFF"/>
              </a:solidFill>
              <a:latin typeface="Arial"/>
              <a:ea typeface="Arial"/>
              <a:cs typeface="Arial"/>
            </a:endParaRPr>
          </a:p>
        </p:txBody>
      </p:sp>
      <p:sp>
        <p:nvSpPr>
          <p:cNvPr id="59" name="">
            <a:extLst xmlns:a="http://schemas.openxmlformats.org/drawingml/2006/main">
              <a:ext uri="{FF2B5EF4-FFF2-40B4-BE49-F238E27FC236}">
                <a16:creationId xmlns:a16="http://schemas.microsoft.com/office/drawing/2014/main" id="{82637C02-E912-4DB2-9018-7840292CFDFC}"/>
              </a:ext>
            </a:extLst>
          </p:cNvPr>
          <p:cNvSpPr>
            <a:spLocks xmlns:a="http://schemas.openxmlformats.org/drawingml/2006/main" noGrp="1"/>
          </p:cNvSpPr>
          <p:nvPr/>
        </p:nvSpPr>
        <p:spPr>
          <a:xfrm xmlns:a="http://schemas.openxmlformats.org/drawingml/2006/main">
            <a:off x="4191120" y="3333600"/>
            <a:ext cx="685440" cy="685440"/>
          </a:xfrm>
          <a:prstGeom xmlns:a="http://schemas.openxmlformats.org/drawingml/2006/main" prst="ellipse">
            <a:avLst/>
          </a:prstGeom>
          <a:solidFill xmlns:a="http://schemas.openxmlformats.org/drawingml/2006/main">
            <a:srgbClr val="9B2F86"/>
          </a:solidFill>
          <a:ln xmlns:a="http://schemas.openxmlformats.org/drawingml/2006/main" w="19050">
            <a:solidFill>
              <a:srgbClr val="FFFFFF"/>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60" name="">
            <a:extLst xmlns:a="http://schemas.openxmlformats.org/drawingml/2006/main">
              <a:ext uri="{FF2B5EF4-FFF2-40B4-BE49-F238E27FC236}">
                <a16:creationId xmlns:a16="http://schemas.microsoft.com/office/drawing/2014/main" id="{E86663EC-584E-4860-8877-FBA24E2BE525}"/>
              </a:ext>
            </a:extLst>
          </p:cNvPr>
          <p:cNvSpPr>
            <a:spLocks xmlns:a="http://schemas.openxmlformats.org/drawingml/2006/main" noGrp="1"/>
          </p:cNvSpPr>
          <p:nvPr/>
        </p:nvSpPr>
        <p:spPr>
          <a:xfrm xmlns:a="http://schemas.openxmlformats.org/drawingml/2006/main">
            <a:off x="4191120" y="3533760"/>
            <a:ext cx="685440" cy="247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pPr>
            <a:r>
              <a:rPr sz="1280" b="1" u="none">
                <a:solidFill>
                  <a:srgbClr val="FFFFFF"/>
                </a:solidFill>
                <a:latin typeface="Aptos"/>
                <a:ea typeface="Aptos"/>
                <a:cs typeface="Aptos"/>
              </a:rPr>
              <a:t>02</a:t>
            </a:r>
            <a:endParaRPr sz="1280" b="0" u="none">
              <a:solidFill>
                <a:srgbClr val="FFFFFF"/>
              </a:solidFill>
              <a:latin typeface="Arial"/>
              <a:ea typeface="Arial"/>
              <a:cs typeface="Arial"/>
            </a:endParaRPr>
          </a:p>
        </p:txBody>
      </p:sp>
      <p:sp>
        <p:nvSpPr>
          <p:cNvPr id="61" name="">
            <a:extLst xmlns:a="http://schemas.openxmlformats.org/drawingml/2006/main">
              <a:ext uri="{FF2B5EF4-FFF2-40B4-BE49-F238E27FC236}">
                <a16:creationId xmlns:a16="http://schemas.microsoft.com/office/drawing/2014/main" id="{F5B3F553-FA19-4528-8F2C-B268A03BBB3D}"/>
              </a:ext>
            </a:extLst>
          </p:cNvPr>
          <p:cNvSpPr>
            <a:spLocks xmlns:a="http://schemas.openxmlformats.org/drawingml/2006/main" noGrp="1"/>
          </p:cNvSpPr>
          <p:nvPr/>
        </p:nvSpPr>
        <p:spPr>
          <a:xfrm xmlns:a="http://schemas.openxmlformats.org/drawingml/2006/main">
            <a:off x="4172040" y="4305240"/>
            <a:ext cx="247608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950" b="0" u="none">
                <a:solidFill>
                  <a:srgbClr val="FFFFFF"/>
                </a:solidFill>
                <a:latin typeface="Aptos Display"/>
                <a:ea typeface="Aptos Display"/>
                <a:cs typeface="Aptos Display"/>
              </a:rPr>
              <a:t>DEFENSE</a:t>
            </a:r>
            <a:endParaRPr sz="1950" b="0" u="none">
              <a:solidFill>
                <a:srgbClr val="FFFFFF"/>
              </a:solidFill>
              <a:latin typeface="Arial"/>
              <a:ea typeface="Arial"/>
              <a:cs typeface="Arial"/>
            </a:endParaRPr>
          </a:p>
        </p:txBody>
      </p:sp>
      <p:sp>
        <p:nvSpPr>
          <p:cNvPr id="62" name="">
            <a:extLst xmlns:a="http://schemas.openxmlformats.org/drawingml/2006/main">
              <a:ext uri="{FF2B5EF4-FFF2-40B4-BE49-F238E27FC236}">
                <a16:creationId xmlns:a16="http://schemas.microsoft.com/office/drawing/2014/main" id="{AFB01D9E-3DD1-4968-B343-F5D15DBED552}"/>
              </a:ext>
            </a:extLst>
          </p:cNvPr>
          <p:cNvSpPr>
            <a:spLocks xmlns:a="http://schemas.openxmlformats.org/drawingml/2006/main" noGrp="1"/>
          </p:cNvSpPr>
          <p:nvPr/>
        </p:nvSpPr>
        <p:spPr>
          <a:xfrm xmlns:a="http://schemas.openxmlformats.org/drawingml/2006/main">
            <a:off x="4172040" y="4762440"/>
            <a:ext cx="2714400" cy="666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20000"/>
              </a:lnSpc>
              <a:buNone/>
            </a:pPr>
            <a:r>
              <a:rPr sz="1280" b="0" u="none">
                <a:solidFill>
                  <a:srgbClr val="C9C7C0"/>
                </a:solidFill>
                <a:latin typeface="Georgia"/>
                <a:ea typeface="Georgia"/>
                <a:cs typeface="Georgia"/>
              </a:rPr>
              <a:t>Scores the result and exposes the biggest gap</a:t>
            </a:r>
            <a:endParaRPr sz="1280" b="0" u="none">
              <a:solidFill>
                <a:srgbClr val="FFFFFF"/>
              </a:solidFill>
              <a:latin typeface="Arial"/>
              <a:ea typeface="Arial"/>
              <a:cs typeface="Arial"/>
            </a:endParaRPr>
          </a:p>
        </p:txBody>
      </p:sp>
      <p:sp>
        <p:nvSpPr>
          <p:cNvPr id="63" name="">
            <a:extLst xmlns:a="http://schemas.openxmlformats.org/drawingml/2006/main">
              <a:ext uri="{FF2B5EF4-FFF2-40B4-BE49-F238E27FC236}">
                <a16:creationId xmlns:a16="http://schemas.microsoft.com/office/drawing/2014/main" id="{FCA35D56-D147-42D8-B64C-A92B96A7B1B5}"/>
              </a:ext>
            </a:extLst>
          </p:cNvPr>
          <p:cNvSpPr>
            <a:spLocks xmlns:a="http://schemas.openxmlformats.org/drawingml/2006/main" noGrp="1"/>
          </p:cNvSpPr>
          <p:nvPr/>
        </p:nvSpPr>
        <p:spPr>
          <a:xfrm xmlns:a="http://schemas.openxmlformats.org/drawingml/2006/main">
            <a:off x="7715160" y="3333600"/>
            <a:ext cx="685440" cy="685440"/>
          </a:xfrm>
          <a:prstGeom xmlns:a="http://schemas.openxmlformats.org/drawingml/2006/main" prst="ellipse">
            <a:avLst/>
          </a:prstGeom>
          <a:solidFill xmlns:a="http://schemas.openxmlformats.org/drawingml/2006/main">
            <a:srgbClr val="0A0A0A"/>
          </a:solidFill>
          <a:ln xmlns:a="http://schemas.openxmlformats.org/drawingml/2006/main" w="19050">
            <a:solidFill>
              <a:srgbClr val="FFFFFF"/>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64" name="">
            <a:extLst xmlns:a="http://schemas.openxmlformats.org/drawingml/2006/main">
              <a:ext uri="{FF2B5EF4-FFF2-40B4-BE49-F238E27FC236}">
                <a16:creationId xmlns:a16="http://schemas.microsoft.com/office/drawing/2014/main" id="{5D0F61BD-960E-414F-9F0A-9CA9939F15B8}"/>
              </a:ext>
            </a:extLst>
          </p:cNvPr>
          <p:cNvSpPr>
            <a:spLocks xmlns:a="http://schemas.openxmlformats.org/drawingml/2006/main" noGrp="1"/>
          </p:cNvSpPr>
          <p:nvPr/>
        </p:nvSpPr>
        <p:spPr>
          <a:xfrm xmlns:a="http://schemas.openxmlformats.org/drawingml/2006/main">
            <a:off x="7715160" y="3533760"/>
            <a:ext cx="685440" cy="247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pPr>
            <a:r>
              <a:rPr sz="1280" b="1" u="none">
                <a:solidFill>
                  <a:srgbClr val="FFFFFF"/>
                </a:solidFill>
                <a:latin typeface="Aptos"/>
                <a:ea typeface="Aptos"/>
                <a:cs typeface="Aptos"/>
              </a:rPr>
              <a:t>03</a:t>
            </a:r>
            <a:endParaRPr sz="1280" b="0" u="none">
              <a:solidFill>
                <a:srgbClr val="FFFFFF"/>
              </a:solidFill>
              <a:latin typeface="Arial"/>
              <a:ea typeface="Arial"/>
              <a:cs typeface="Arial"/>
            </a:endParaRPr>
          </a:p>
        </p:txBody>
      </p:sp>
      <p:sp>
        <p:nvSpPr>
          <p:cNvPr id="65" name="">
            <a:extLst xmlns:a="http://schemas.openxmlformats.org/drawingml/2006/main">
              <a:ext uri="{FF2B5EF4-FFF2-40B4-BE49-F238E27FC236}">
                <a16:creationId xmlns:a16="http://schemas.microsoft.com/office/drawing/2014/main" id="{5A1D5EFD-16B5-4FB3-881F-A0F6B8DA6CB9}"/>
              </a:ext>
            </a:extLst>
          </p:cNvPr>
          <p:cNvSpPr>
            <a:spLocks xmlns:a="http://schemas.openxmlformats.org/drawingml/2006/main" noGrp="1"/>
          </p:cNvSpPr>
          <p:nvPr/>
        </p:nvSpPr>
        <p:spPr>
          <a:xfrm xmlns:a="http://schemas.openxmlformats.org/drawingml/2006/main">
            <a:off x="7696080" y="4305240"/>
            <a:ext cx="247608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950" b="0" u="none">
                <a:solidFill>
                  <a:srgbClr val="FFFFFF"/>
                </a:solidFill>
                <a:latin typeface="Aptos Display"/>
                <a:ea typeface="Aptos Display"/>
                <a:cs typeface="Aptos Display"/>
              </a:rPr>
              <a:t>RETRY</a:t>
            </a:r>
            <a:endParaRPr sz="1950" b="0" u="none">
              <a:solidFill>
                <a:srgbClr val="FFFFFF"/>
              </a:solidFill>
              <a:latin typeface="Arial"/>
              <a:ea typeface="Arial"/>
              <a:cs typeface="Arial"/>
            </a:endParaRPr>
          </a:p>
        </p:txBody>
      </p:sp>
      <p:sp>
        <p:nvSpPr>
          <p:cNvPr id="66" name="">
            <a:extLst xmlns:a="http://schemas.openxmlformats.org/drawingml/2006/main">
              <a:ext uri="{FF2B5EF4-FFF2-40B4-BE49-F238E27FC236}">
                <a16:creationId xmlns:a16="http://schemas.microsoft.com/office/drawing/2014/main" id="{00D2CFA8-22A3-47DD-9976-48E14E52CD89}"/>
              </a:ext>
            </a:extLst>
          </p:cNvPr>
          <p:cNvSpPr>
            <a:spLocks xmlns:a="http://schemas.openxmlformats.org/drawingml/2006/main" noGrp="1"/>
          </p:cNvSpPr>
          <p:nvPr/>
        </p:nvSpPr>
        <p:spPr>
          <a:xfrm xmlns:a="http://schemas.openxmlformats.org/drawingml/2006/main">
            <a:off x="7696080" y="4762440"/>
            <a:ext cx="2714400" cy="666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20000"/>
              </a:lnSpc>
              <a:buNone/>
            </a:pPr>
            <a:r>
              <a:rPr sz="1280" b="0" u="none">
                <a:solidFill>
                  <a:srgbClr val="C9C7C0"/>
                </a:solidFill>
                <a:latin typeface="Georgia"/>
                <a:ea typeface="Georgia"/>
                <a:cs typeface="Georgia"/>
              </a:rPr>
              <a:t>Feeds the gap back until the final gate passes</a:t>
            </a:r>
            <a:endParaRPr sz="1280" b="0" u="none">
              <a:solidFill>
                <a:srgbClr val="FFFFFF"/>
              </a:solidFill>
              <a:latin typeface="Arial"/>
              <a:ea typeface="Arial"/>
              <a:cs typeface="Arial"/>
            </a:endParaRPr>
          </a:p>
        </p:txBody>
      </p:sp>
      <p:sp>
        <p:nvSpPr>
          <p:cNvPr id="67" name="">
            <a:extLst xmlns:a="http://schemas.openxmlformats.org/drawingml/2006/main">
              <a:ext uri="{FF2B5EF4-FFF2-40B4-BE49-F238E27FC236}">
                <a16:creationId xmlns:a16="http://schemas.microsoft.com/office/drawing/2014/main" id="{37821119-F3E2-41B5-9E13-35334760C4E2}"/>
              </a:ext>
            </a:extLst>
          </p:cNvPr>
          <p:cNvSpPr>
            <a:spLocks xmlns:a="http://schemas.openxmlformats.org/drawingml/2006/main" noGrp="1"/>
          </p:cNvSpPr>
          <p:nvPr/>
        </p:nvSpPr>
        <p:spPr>
          <a:xfrm xmlns:a="http://schemas.openxmlformats.org/drawingml/2006/main">
            <a:off x="666720" y="6114960"/>
            <a:ext cx="838152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9B2F86"/>
                </a:solidFill>
                <a:latin typeface="Aptos"/>
                <a:ea typeface="Aptos"/>
                <a:cs typeface="Aptos"/>
              </a:rPr>
              <a:t>POSITIVE → GOAL  ·  NEGATIVE → SAVE  ·  UNCERTAIN → VAR</a:t>
            </a:r>
            <a:endParaRPr sz="980" b="0" u="none">
              <a:solidFill>
                <a:srgbClr val="FFFFFF"/>
              </a:solidFill>
              <a:latin typeface="Arial"/>
              <a:ea typeface="Arial"/>
              <a:cs typeface="Arial"/>
            </a:endParaRPr>
          </a:p>
        </p:txBody>
      </p:sp>
    </p:spTree>
    <p:extLst>
      <p:ext uri="{BB962C8B-B14F-4D97-AF65-F5344CB8AC3E}">
        <p14:creationId xmlns:p14="http://schemas.microsoft.com/office/powerpoint/2010/main" val="246132800"/>
      </p:ext>
    </p:extLst>
  </p:cSld>
</p:sld>
</file>

<file path=ppt/slides/slide5.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68" name="top-bar">
            <a:extLst xmlns:a="http://schemas.openxmlformats.org/drawingml/2006/main">
              <a:ext uri="{FF2B5EF4-FFF2-40B4-BE49-F238E27FC236}">
                <a16:creationId xmlns:a16="http://schemas.microsoft.com/office/drawing/2014/main" id="{C4A04375-2120-46B8-A5A6-F4C44E89A451}"/>
              </a:ext>
            </a:extLst>
          </p:cNvPr>
          <p:cNvSpPr>
            <a:spLocks xmlns:a="http://schemas.openxmlformats.org/drawingml/2006/main" noGrp="1"/>
          </p:cNvSpPr>
          <p:nvPr/>
        </p:nvSpPr>
        <p:spPr>
          <a:xfrm xmlns:a="http://schemas.openxmlformats.org/drawingml/2006/main">
            <a:off x="0" y="0"/>
            <a:ext cx="12191760" cy="552240"/>
          </a:xfrm>
          <a:prstGeom xmlns:a="http://schemas.openxmlformats.org/drawingml/2006/main" prst="rect">
            <a:avLst/>
          </a:prstGeom>
          <a:solidFill xmlns:a="http://schemas.openxmlformats.org/drawingml/2006/main">
            <a:srgbClr val="0A0A0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3F1190BC-7276-4A2D-8254-22DBADB775E4}"/>
              </a:ext>
            </a:extLst>
          </p:cNvPr>
          <p:cNvSpPr>
            <a:spLocks xmlns:a="http://schemas.openxmlformats.org/drawingml/2006/main" noGrp="1"/>
          </p:cNvSpPr>
          <p:nvPr/>
        </p:nvSpPr>
        <p:spPr>
          <a:xfrm xmlns:a="http://schemas.openxmlformats.org/drawingml/2006/main">
            <a:off x="285840" y="171360"/>
            <a:ext cx="247608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1" u="none">
                <a:solidFill>
                  <a:srgbClr val="FFFFFF"/>
                </a:solidFill>
                <a:latin typeface="Aptos"/>
                <a:ea typeface="Aptos"/>
                <a:cs typeface="Aptos"/>
              </a:rPr>
              <a:t>✦  LONG-HORIZON BUILD DAY</a:t>
            </a:r>
            <a:endParaRPr sz="1050" b="0" u="non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AEAA2DEC-D559-4243-9263-079526E4685F}"/>
              </a:ext>
            </a:extLst>
          </p:cNvPr>
          <p:cNvSpPr>
            <a:spLocks xmlns:a="http://schemas.openxmlformats.org/drawingml/2006/main" noGrp="1"/>
          </p:cNvSpPr>
          <p:nvPr/>
        </p:nvSpPr>
        <p:spPr>
          <a:xfrm xmlns:a="http://schemas.openxmlformats.org/drawingml/2006/main">
            <a:off x="7810560" y="171360"/>
            <a:ext cx="314280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00" b="0" u="none">
                <a:solidFill>
                  <a:srgbClr val="C9C7C0"/>
                </a:solidFill>
                <a:latin typeface="Aptos"/>
                <a:ea typeface="Aptos"/>
                <a:cs typeface="Aptos"/>
              </a:rPr>
              <a:t>DEMO</a:t>
            </a:r>
            <a:endParaRPr sz="900" b="0" u="non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59EE7095-338D-4A5C-95BD-ABD88A5023C6}"/>
              </a:ext>
            </a:extLst>
          </p:cNvPr>
          <p:cNvSpPr>
            <a:spLocks xmlns:a="http://schemas.openxmlformats.org/drawingml/2006/main" noGrp="1"/>
          </p:cNvSpPr>
          <p:nvPr/>
        </p:nvSpPr>
        <p:spPr>
          <a:xfrm xmlns:a="http://schemas.openxmlformats.org/drawingml/2006/main">
            <a:off x="11239560" y="1713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80" b="1" u="none">
                <a:solidFill>
                  <a:srgbClr val="FFFFFF"/>
                </a:solidFill>
                <a:latin typeface="Aptos"/>
                <a:ea typeface="Aptos"/>
                <a:cs typeface="Aptos"/>
              </a:rPr>
              <a:t>05</a:t>
            </a:r>
            <a:endParaRPr sz="980" b="0" u="non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8A531265-92CE-43EE-9159-3DDF76AD22F3}"/>
              </a:ext>
            </a:extLst>
          </p:cNvPr>
          <p:cNvSpPr>
            <a:spLocks xmlns:a="http://schemas.openxmlformats.org/drawingml/2006/main" noGrp="1"/>
          </p:cNvSpPr>
          <p:nvPr/>
        </p:nvSpPr>
        <p:spPr>
          <a:xfrm xmlns:a="http://schemas.openxmlformats.org/drawingml/2006/main">
            <a:off x="609480" y="876240"/>
            <a:ext cx="4762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6D6B65"/>
                </a:solidFill>
                <a:latin typeface="Aptos"/>
                <a:ea typeface="Aptos"/>
                <a:cs typeface="Aptos"/>
              </a:rPr>
              <a:t>04 / PRODUCT DEMO</a:t>
            </a:r>
            <a:endParaRPr sz="980" b="0" u="none">
              <a:solidFill>
                <a:srgbClr val="000000"/>
              </a:solidFill>
              <a:latin typeface="Arial"/>
              <a:ea typeface="Arial"/>
              <a:cs typeface="Arial"/>
            </a:endParaRPr>
          </a:p>
        </p:txBody>
      </p:sp>
      <p:sp>
        <p:nvSpPr>
          <p:cNvPr id="73" name="demo-title">
            <a:extLst xmlns:a="http://schemas.openxmlformats.org/drawingml/2006/main">
              <a:ext uri="{FF2B5EF4-FFF2-40B4-BE49-F238E27FC236}">
                <a16:creationId xmlns:a16="http://schemas.microsoft.com/office/drawing/2014/main" id="{AE609A34-1E04-4F1D-A589-1979D4460CC7}"/>
              </a:ext>
            </a:extLst>
          </p:cNvPr>
          <p:cNvSpPr>
            <a:spLocks xmlns:a="http://schemas.openxmlformats.org/drawingml/2006/main" noGrp="1"/>
          </p:cNvSpPr>
          <p:nvPr/>
        </p:nvSpPr>
        <p:spPr>
          <a:xfrm xmlns:a="http://schemas.openxmlformats.org/drawingml/2006/main">
            <a:off x="609480" y="1257480"/>
            <a:ext cx="8857800" cy="590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87347"/>
          </a:bodyPr>
          <a:lstStyle xmlns:a="http://schemas.openxmlformats.org/drawingml/2006/main"/>
          <a:p xmlns:a="http://schemas.openxmlformats.org/drawingml/2006/main">
            <a:pPr>
              <a:lnSpc>
                <a:spcPct val="100000"/>
              </a:lnSpc>
              <a:buNone/>
            </a:pPr>
            <a:r>
              <a:rPr sz="3230" b="0" u="none">
                <a:solidFill>
                  <a:srgbClr val="0A0A0A"/>
                </a:solidFill>
                <a:latin typeface="Aptos Display"/>
                <a:ea typeface="Aptos Display"/>
                <a:cs typeface="Aptos Display"/>
              </a:rPr>
              <a:t>Watch the improvement loop—not just the final answer.</a:t>
            </a:r>
            <a:endParaRPr sz="3230" b="0" u="none">
              <a:solidFill>
                <a:srgbClr val="000000"/>
              </a:solidFill>
              <a:latin typeface="Arial"/>
              <a:ea typeface="Arial"/>
              <a:cs typeface="Arial"/>
            </a:endParaRPr>
          </a:p>
        </p:txBody>
      </p:sp>
      <p:sp>
        <p:nvSpPr>
          <p:cNvPr id="74" name="product-demo-placeholder">
            <a:extLst xmlns:a="http://schemas.openxmlformats.org/drawingml/2006/main">
              <a:ext uri="{FF2B5EF4-FFF2-40B4-BE49-F238E27FC236}">
                <a16:creationId xmlns:a16="http://schemas.microsoft.com/office/drawing/2014/main" id="{EF026189-20B3-4CEC-BE03-7461BD8971A4}"/>
              </a:ext>
            </a:extLst>
          </p:cNvPr>
          <p:cNvSpPr>
            <a:spLocks xmlns:a="http://schemas.openxmlformats.org/drawingml/2006/main" noGrp="1"/>
          </p:cNvSpPr>
          <p:nvPr/>
        </p:nvSpPr>
        <p:spPr>
          <a:xfrm xmlns:a="http://schemas.openxmlformats.org/drawingml/2006/main">
            <a:off x="609480" y="2095560"/>
            <a:ext cx="10972440" cy="3676320"/>
          </a:xfrm>
          <a:prstGeom xmlns:a="http://schemas.openxmlformats.org/drawingml/2006/main" prst="rect">
            <a:avLst/>
          </a:prstGeom>
          <a:solidFill xmlns:a="http://schemas.openxmlformats.org/drawingml/2006/main">
            <a:srgbClr val="BEC4C4"/>
          </a:solidFill>
          <a:ln xmlns:a="http://schemas.openxmlformats.org/drawingml/2006/main" w="9525">
            <a:solidFill>
              <a:srgbClr val="0A0A0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2E423A76-D519-467A-826D-D7BD66482221}"/>
              </a:ext>
            </a:extLst>
          </p:cNvPr>
          <p:cNvSpPr>
            <a:spLocks xmlns:a="http://schemas.openxmlformats.org/drawingml/2006/main" noGrp="1"/>
          </p:cNvSpPr>
          <p:nvPr/>
        </p:nvSpPr>
        <p:spPr>
          <a:xfrm xmlns:a="http://schemas.openxmlformats.org/drawingml/2006/main">
            <a:off x="3238560" y="3295800"/>
            <a:ext cx="5714640" cy="8758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pPr>
            <a:r>
              <a:rPr sz="2320" b="0" u="none">
                <a:solidFill>
                  <a:srgbClr val="FFFFFF"/>
                </a:solidFill>
                <a:latin typeface="Aptos Display"/>
                <a:ea typeface="Aptos Display"/>
                <a:cs typeface="Aptos Display"/>
              </a:rPr>
              <a:t>PRE-RECORDED DEMO</a:t>
            </a:r>
            <a:endParaRPr sz="2320" b="0" u="none">
              <a:solidFill>
                <a:srgbClr val="000000"/>
              </a:solidFill>
              <a:latin typeface="Arial"/>
              <a:ea typeface="Arial"/>
              <a:cs typeface="Arial"/>
            </a:endParaRPr>
          </a:p>
          <a:p xmlns:a="http://schemas.openxmlformats.org/drawingml/2006/main">
            <a:pPr algn="ctr">
              <a:lnSpc>
                <a:spcPct val="100000"/>
              </a:lnSpc>
              <a:buNone/>
            </a:pPr>
            <a:r>
              <a:rPr sz="2320" b="0" u="none">
                <a:solidFill>
                  <a:srgbClr val="FFFFFF"/>
                </a:solidFill>
                <a:latin typeface="Aptos Display"/>
                <a:ea typeface="Aptos Display"/>
                <a:cs typeface="Aptos Display"/>
              </a:rPr>
              <a:t>GOAL  ·  SAVE  ·  RETRY</a:t>
            </a:r>
            <a:endParaRPr sz="2320" b="0" u="none">
              <a:solidFill>
                <a:srgbClr val="000000"/>
              </a:solidFill>
              <a:latin typeface="Arial"/>
              <a:ea typeface="Arial"/>
              <a:cs typeface="Arial"/>
            </a:endParaRPr>
          </a:p>
        </p:txBody>
      </p:sp>
      <p:sp>
        <p:nvSpPr>
          <p:cNvPr id="76" name="">
            <a:extLst xmlns:a="http://schemas.openxmlformats.org/drawingml/2006/main">
              <a:ext uri="{FF2B5EF4-FFF2-40B4-BE49-F238E27FC236}">
                <a16:creationId xmlns:a16="http://schemas.microsoft.com/office/drawing/2014/main" id="{D22F527C-FC3A-4121-B11C-4CC673178391}"/>
              </a:ext>
            </a:extLst>
          </p:cNvPr>
          <p:cNvSpPr>
            <a:spLocks xmlns:a="http://schemas.openxmlformats.org/drawingml/2006/main" noGrp="1"/>
          </p:cNvSpPr>
          <p:nvPr/>
        </p:nvSpPr>
        <p:spPr>
          <a:xfrm xmlns:a="http://schemas.openxmlformats.org/drawingml/2006/main">
            <a:off x="800280" y="2305080"/>
            <a:ext cx="475920" cy="190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nSpc>
                <a:spcPct val="100000"/>
              </a:lnSpc>
              <a:buNone/>
            </a:pPr>
            <a:r>
              <a:rPr sz="980" b="1" u="none">
                <a:solidFill>
                  <a:srgbClr val="FFFFFF"/>
                </a:solidFill>
                <a:latin typeface="Aptos"/>
                <a:ea typeface="Aptos"/>
                <a:cs typeface="Aptos"/>
              </a:rPr>
              <a:t>01</a:t>
            </a:r>
            <a:endParaRPr sz="980" b="0" u="none">
              <a:solidFill>
                <a:srgbClr val="000000"/>
              </a:solidFill>
              <a:latin typeface="Arial"/>
              <a:ea typeface="Arial"/>
              <a:cs typeface="Arial"/>
            </a:endParaRPr>
          </a:p>
        </p:txBody>
      </p:sp>
      <p:sp>
        <p:nvSpPr>
          <p:cNvPr id="77" name="">
            <a:extLst xmlns:a="http://schemas.openxmlformats.org/drawingml/2006/main">
              <a:ext uri="{FF2B5EF4-FFF2-40B4-BE49-F238E27FC236}">
                <a16:creationId xmlns:a16="http://schemas.microsoft.com/office/drawing/2014/main" id="{3A3244B4-C6C2-4A93-A25B-6DF82CA07CCA}"/>
              </a:ext>
            </a:extLst>
          </p:cNvPr>
          <p:cNvSpPr>
            <a:spLocks xmlns:a="http://schemas.openxmlformats.org/drawingml/2006/main" noGrp="1"/>
          </p:cNvSpPr>
          <p:nvPr/>
        </p:nvSpPr>
        <p:spPr>
          <a:xfrm xmlns:a="http://schemas.openxmlformats.org/drawingml/2006/main">
            <a:off x="609480" y="5981760"/>
            <a:ext cx="8000640" cy="266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00" b="0" u="none">
                <a:solidFill>
                  <a:srgbClr val="6D6B65"/>
                </a:solidFill>
                <a:latin typeface="Georgia"/>
                <a:ea typeface="Georgia"/>
                <a:cs typeface="Georgia"/>
              </a:rPr>
              <a:t>Notice how the critic’s largest gap becomes the next attempt’s coaching signal.</a:t>
            </a:r>
            <a:endParaRPr sz="1200" b="0" u="none">
              <a:solidFill>
                <a:srgbClr val="000000"/>
              </a:solidFill>
              <a:latin typeface="Arial"/>
              <a:ea typeface="Arial"/>
              <a:cs typeface="Arial"/>
            </a:endParaRPr>
          </a:p>
        </p:txBody>
      </p:sp>
      <p:sp>
        <p:nvSpPr>
          <p:cNvPr id="78" name="">
            <a:extLst xmlns:a="http://schemas.openxmlformats.org/drawingml/2006/main">
              <a:ext uri="{FF2B5EF4-FFF2-40B4-BE49-F238E27FC236}">
                <a16:creationId xmlns:a16="http://schemas.microsoft.com/office/drawing/2014/main" id="{80266BC0-0188-4DD2-BBE6-0B6CDC85A901}"/>
              </a:ext>
            </a:extLst>
          </p:cNvPr>
          <p:cNvSpPr>
            <a:spLocks xmlns:a="http://schemas.openxmlformats.org/drawingml/2006/main" noGrp="1"/>
          </p:cNvSpPr>
          <p:nvPr/>
        </p:nvSpPr>
        <p:spPr>
          <a:xfrm xmlns:a="http://schemas.openxmlformats.org/drawingml/2006/main">
            <a:off x="9715680" y="5981760"/>
            <a:ext cx="186660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pPr>
            <a:r>
              <a:rPr sz="980" b="1" u="none">
                <a:solidFill>
                  <a:srgbClr val="9B2F86"/>
                </a:solidFill>
                <a:latin typeface="Aptos"/>
                <a:ea typeface="Aptos"/>
                <a:cs typeface="Aptos"/>
              </a:rPr>
              <a:t>PLAY DEMO →</a:t>
            </a:r>
            <a:endParaRPr sz="980" b="0" u="none">
              <a:solidFill>
                <a:srgbClr val="000000"/>
              </a:solidFill>
              <a:latin typeface="Arial"/>
              <a:ea typeface="Arial"/>
              <a:cs typeface="Arial"/>
            </a:endParaRPr>
          </a:p>
        </p:txBody>
      </p:sp>
    </p:spTree>
    <p:extLst>
      <p:ext uri="{BB962C8B-B14F-4D97-AF65-F5344CB8AC3E}">
        <p14:creationId xmlns:p14="http://schemas.microsoft.com/office/powerpoint/2010/main" val="1793327472"/>
      </p:ext>
    </p:extLst>
  </p:cSld>
</p:sld>
</file>

<file path=ppt/slides/slide6.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79" name="top-bar">
            <a:extLst xmlns:a="http://schemas.openxmlformats.org/drawingml/2006/main">
              <a:ext uri="{FF2B5EF4-FFF2-40B4-BE49-F238E27FC236}">
                <a16:creationId xmlns:a16="http://schemas.microsoft.com/office/drawing/2014/main" id="{9C923B3F-7C58-41FF-80AB-5749AFB88305}"/>
              </a:ext>
            </a:extLst>
          </p:cNvPr>
          <p:cNvSpPr>
            <a:spLocks xmlns:a="http://schemas.openxmlformats.org/drawingml/2006/main" noGrp="1"/>
          </p:cNvSpPr>
          <p:nvPr/>
        </p:nvSpPr>
        <p:spPr>
          <a:xfrm xmlns:a="http://schemas.openxmlformats.org/drawingml/2006/main">
            <a:off x="0" y="0"/>
            <a:ext cx="12191760" cy="552240"/>
          </a:xfrm>
          <a:prstGeom xmlns:a="http://schemas.openxmlformats.org/drawingml/2006/main" prst="rect">
            <a:avLst/>
          </a:prstGeom>
          <a:solidFill xmlns:a="http://schemas.openxmlformats.org/drawingml/2006/main">
            <a:srgbClr val="0A0A0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80" name="">
            <a:extLst xmlns:a="http://schemas.openxmlformats.org/drawingml/2006/main">
              <a:ext uri="{FF2B5EF4-FFF2-40B4-BE49-F238E27FC236}">
                <a16:creationId xmlns:a16="http://schemas.microsoft.com/office/drawing/2014/main" id="{C4C5AC2D-4096-47DC-B268-57982F13CB08}"/>
              </a:ext>
            </a:extLst>
          </p:cNvPr>
          <p:cNvSpPr>
            <a:spLocks xmlns:a="http://schemas.openxmlformats.org/drawingml/2006/main" noGrp="1"/>
          </p:cNvSpPr>
          <p:nvPr/>
        </p:nvSpPr>
        <p:spPr>
          <a:xfrm xmlns:a="http://schemas.openxmlformats.org/drawingml/2006/main">
            <a:off x="285840" y="171360"/>
            <a:ext cx="247608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1" u="none">
                <a:solidFill>
                  <a:srgbClr val="FFFFFF"/>
                </a:solidFill>
                <a:latin typeface="Aptos"/>
                <a:ea typeface="Aptos"/>
                <a:cs typeface="Aptos"/>
              </a:rPr>
              <a:t>✦  LONG-HORIZON BUILD DAY</a:t>
            </a:r>
            <a:endParaRPr sz="1050" b="0" u="none">
              <a:solidFill>
                <a:srgbClr val="000000"/>
              </a:solidFill>
              <a:latin typeface="Arial"/>
              <a:ea typeface="Arial"/>
              <a:cs typeface="Arial"/>
            </a:endParaRPr>
          </a:p>
        </p:txBody>
      </p:sp>
      <p:sp>
        <p:nvSpPr>
          <p:cNvPr id="81" name="">
            <a:extLst xmlns:a="http://schemas.openxmlformats.org/drawingml/2006/main">
              <a:ext uri="{FF2B5EF4-FFF2-40B4-BE49-F238E27FC236}">
                <a16:creationId xmlns:a16="http://schemas.microsoft.com/office/drawing/2014/main" id="{1C1E5B9D-A26E-4E66-8953-8BFD27C86AF9}"/>
              </a:ext>
            </a:extLst>
          </p:cNvPr>
          <p:cNvSpPr>
            <a:spLocks xmlns:a="http://schemas.openxmlformats.org/drawingml/2006/main" noGrp="1"/>
          </p:cNvSpPr>
          <p:nvPr/>
        </p:nvSpPr>
        <p:spPr>
          <a:xfrm xmlns:a="http://schemas.openxmlformats.org/drawingml/2006/main">
            <a:off x="7810560" y="171360"/>
            <a:ext cx="314280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00" b="0" u="none">
                <a:solidFill>
                  <a:srgbClr val="C9C7C0"/>
                </a:solidFill>
                <a:latin typeface="Aptos"/>
                <a:ea typeface="Aptos"/>
                <a:cs typeface="Aptos"/>
              </a:rPr>
              <a:t>ARCHITECTURE</a:t>
            </a:r>
            <a:endParaRPr sz="900" b="0" u="none">
              <a:solidFill>
                <a:srgbClr val="000000"/>
              </a:solidFill>
              <a:latin typeface="Arial"/>
              <a:ea typeface="Arial"/>
              <a:cs typeface="Arial"/>
            </a:endParaRPr>
          </a:p>
        </p:txBody>
      </p:sp>
      <p:sp>
        <p:nvSpPr>
          <p:cNvPr id="82" name="">
            <a:extLst xmlns:a="http://schemas.openxmlformats.org/drawingml/2006/main">
              <a:ext uri="{FF2B5EF4-FFF2-40B4-BE49-F238E27FC236}">
                <a16:creationId xmlns:a16="http://schemas.microsoft.com/office/drawing/2014/main" id="{3C882516-B6BD-4CDB-A76A-42C5FB579AF7}"/>
              </a:ext>
            </a:extLst>
          </p:cNvPr>
          <p:cNvSpPr>
            <a:spLocks xmlns:a="http://schemas.openxmlformats.org/drawingml/2006/main" noGrp="1"/>
          </p:cNvSpPr>
          <p:nvPr/>
        </p:nvSpPr>
        <p:spPr>
          <a:xfrm xmlns:a="http://schemas.openxmlformats.org/drawingml/2006/main">
            <a:off x="11239560" y="1713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80" b="1" u="none">
                <a:solidFill>
                  <a:srgbClr val="FFFFFF"/>
                </a:solidFill>
                <a:latin typeface="Aptos"/>
                <a:ea typeface="Aptos"/>
                <a:cs typeface="Aptos"/>
              </a:rPr>
              <a:t>06</a:t>
            </a:r>
            <a:endParaRPr sz="980" b="0" u="none">
              <a:solidFill>
                <a:srgbClr val="000000"/>
              </a:solidFill>
              <a:latin typeface="Arial"/>
              <a:ea typeface="Arial"/>
              <a:cs typeface="Arial"/>
            </a:endParaRPr>
          </a:p>
        </p:txBody>
      </p:sp>
      <p:sp>
        <p:nvSpPr>
          <p:cNvPr id="83" name="">
            <a:extLst xmlns:a="http://schemas.openxmlformats.org/drawingml/2006/main">
              <a:ext uri="{FF2B5EF4-FFF2-40B4-BE49-F238E27FC236}">
                <a16:creationId xmlns:a16="http://schemas.microsoft.com/office/drawing/2014/main" id="{3AF402DA-00BE-4C76-BA96-C4B6401FCC95}"/>
              </a:ext>
            </a:extLst>
          </p:cNvPr>
          <p:cNvSpPr>
            <a:spLocks xmlns:a="http://schemas.openxmlformats.org/drawingml/2006/main" noGrp="1"/>
          </p:cNvSpPr>
          <p:nvPr/>
        </p:nvSpPr>
        <p:spPr>
          <a:xfrm xmlns:a="http://schemas.openxmlformats.org/drawingml/2006/main">
            <a:off x="609480" y="876240"/>
            <a:ext cx="4762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6D6B65"/>
                </a:solidFill>
                <a:latin typeface="Aptos"/>
                <a:ea typeface="Aptos"/>
                <a:cs typeface="Aptos"/>
              </a:rPr>
              <a:t>05 / SYSTEM</a:t>
            </a:r>
            <a:endParaRPr sz="980" b="0" u="none">
              <a:solidFill>
                <a:srgbClr val="000000"/>
              </a:solidFill>
              <a:latin typeface="Arial"/>
              <a:ea typeface="Arial"/>
              <a:cs typeface="Arial"/>
            </a:endParaRPr>
          </a:p>
        </p:txBody>
      </p:sp>
      <p:sp>
        <p:nvSpPr>
          <p:cNvPr id="84" name="architecture-title">
            <a:extLst xmlns:a="http://schemas.openxmlformats.org/drawingml/2006/main">
              <a:ext uri="{FF2B5EF4-FFF2-40B4-BE49-F238E27FC236}">
                <a16:creationId xmlns:a16="http://schemas.microsoft.com/office/drawing/2014/main" id="{1AD2A7B0-A0A5-4580-AA94-CB2798B553D0}"/>
              </a:ext>
            </a:extLst>
          </p:cNvPr>
          <p:cNvSpPr>
            <a:spLocks xmlns:a="http://schemas.openxmlformats.org/drawingml/2006/main" noGrp="1"/>
          </p:cNvSpPr>
          <p:nvPr/>
        </p:nvSpPr>
        <p:spPr>
          <a:xfrm xmlns:a="http://schemas.openxmlformats.org/drawingml/2006/main">
            <a:off x="609480" y="1295280"/>
            <a:ext cx="5333760" cy="1104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pPr>
            <a:r>
              <a:rPr sz="3150" b="0" u="none">
                <a:solidFill>
                  <a:srgbClr val="0A0A0A"/>
                </a:solidFill>
                <a:latin typeface="Aptos Display"/>
                <a:ea typeface="Aptos Display"/>
                <a:cs typeface="Aptos Display"/>
              </a:rPr>
              <a:t>The harness owns</a:t>
            </a:r>
            <a:endParaRPr sz="3150" b="0" u="none">
              <a:solidFill>
                <a:srgbClr val="000000"/>
              </a:solidFill>
              <a:latin typeface="Arial"/>
              <a:ea typeface="Arial"/>
              <a:cs typeface="Arial"/>
            </a:endParaRPr>
          </a:p>
          <a:p xmlns:a="http://schemas.openxmlformats.org/drawingml/2006/main">
            <a:pPr>
              <a:lnSpc>
                <a:spcPct val="94000"/>
              </a:lnSpc>
              <a:buNone/>
            </a:pPr>
            <a:r>
              <a:rPr sz="3150" b="0" u="none">
                <a:solidFill>
                  <a:srgbClr val="0A0A0A"/>
                </a:solidFill>
                <a:latin typeface="Aptos Display"/>
                <a:ea typeface="Aptos Display"/>
                <a:cs typeface="Aptos Display"/>
              </a:rPr>
              <a:t>the match.</a:t>
            </a:r>
            <a:endParaRPr sz="3150" b="0" u="none">
              <a:solidFill>
                <a:srgbClr val="000000"/>
              </a:solidFill>
              <a:latin typeface="Arial"/>
              <a:ea typeface="Arial"/>
              <a:cs typeface="Arial"/>
            </a:endParaRPr>
          </a:p>
        </p:txBody>
      </p:sp>
      <p:sp>
        <p:nvSpPr>
          <p:cNvPr id="85" name="">
            <a:extLst xmlns:a="http://schemas.openxmlformats.org/drawingml/2006/main">
              <a:ext uri="{FF2B5EF4-FFF2-40B4-BE49-F238E27FC236}">
                <a16:creationId xmlns:a16="http://schemas.microsoft.com/office/drawing/2014/main" id="{5D6ABB71-5C86-49F1-84FD-2BC00FE45E3C}"/>
              </a:ext>
            </a:extLst>
          </p:cNvPr>
          <p:cNvSpPr>
            <a:spLocks xmlns:a="http://schemas.openxmlformats.org/drawingml/2006/main" noGrp="1"/>
          </p:cNvSpPr>
          <p:nvPr/>
        </p:nvSpPr>
        <p:spPr>
          <a:xfrm xmlns:a="http://schemas.openxmlformats.org/drawingml/2006/main">
            <a:off x="628560" y="2666880"/>
            <a:ext cx="4381200" cy="1123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28000"/>
              </a:lnSpc>
              <a:buNone/>
            </a:pPr>
            <a:r>
              <a:rPr sz="1580" b="0" u="none">
                <a:solidFill>
                  <a:srgbClr val="0A0A0A"/>
                </a:solidFill>
                <a:latin typeface="Georgia"/>
                <a:ea typeface="Georgia"/>
                <a:cs typeface="Georgia"/>
              </a:rPr>
              <a:t>Agents propose. The host owns the contract, checks, state, budget, and final gate.</a:t>
            </a:r>
            <a:endParaRPr sz="1580" b="0" u="none">
              <a:solidFill>
                <a:srgbClr val="000000"/>
              </a:solidFill>
              <a:latin typeface="Arial"/>
              <a:ea typeface="Arial"/>
              <a:cs typeface="Arial"/>
            </a:endParaRPr>
          </a:p>
        </p:txBody>
      </p:sp>
      <p:sp>
        <p:nvSpPr>
          <p:cNvPr id="86" name="">
            <a:extLst xmlns:a="http://schemas.openxmlformats.org/drawingml/2006/main">
              <a:ext uri="{FF2B5EF4-FFF2-40B4-BE49-F238E27FC236}">
                <a16:creationId xmlns:a16="http://schemas.microsoft.com/office/drawing/2014/main" id="{0234A148-1C28-44F1-8DB3-8EFFDB817D25}"/>
              </a:ext>
            </a:extLst>
          </p:cNvPr>
          <p:cNvSpPr>
            <a:spLocks xmlns:a="http://schemas.openxmlformats.org/drawingml/2006/main" noGrp="1"/>
          </p:cNvSpPr>
          <p:nvPr/>
        </p:nvSpPr>
        <p:spPr>
          <a:xfrm xmlns:a="http://schemas.openxmlformats.org/drawingml/2006/main">
            <a:off x="628560" y="4334040"/>
            <a:ext cx="1714320" cy="190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00" b="1" u="none">
                <a:solidFill>
                  <a:srgbClr val="9B2F86"/>
                </a:solidFill>
                <a:latin typeface="Aptos"/>
                <a:ea typeface="Aptos"/>
                <a:cs typeface="Aptos"/>
              </a:rPr>
              <a:t>TECHNICAL EDGE</a:t>
            </a:r>
            <a:endParaRPr sz="900" b="0" u="none">
              <a:solidFill>
                <a:srgbClr val="000000"/>
              </a:solidFill>
              <a:latin typeface="Arial"/>
              <a:ea typeface="Arial"/>
              <a:cs typeface="Arial"/>
            </a:endParaRPr>
          </a:p>
        </p:txBody>
      </p:sp>
      <p:sp>
        <p:nvSpPr>
          <p:cNvPr id="87" name="">
            <a:extLst xmlns:a="http://schemas.openxmlformats.org/drawingml/2006/main">
              <a:ext uri="{FF2B5EF4-FFF2-40B4-BE49-F238E27FC236}">
                <a16:creationId xmlns:a16="http://schemas.microsoft.com/office/drawing/2014/main" id="{5BB0F0AB-857E-4474-B3F5-EBCFC8B08E04}"/>
              </a:ext>
            </a:extLst>
          </p:cNvPr>
          <p:cNvSpPr>
            <a:spLocks xmlns:a="http://schemas.openxmlformats.org/drawingml/2006/main" noGrp="1"/>
          </p:cNvSpPr>
          <p:nvPr/>
        </p:nvSpPr>
        <p:spPr>
          <a:xfrm xmlns:a="http://schemas.openxmlformats.org/drawingml/2006/main">
            <a:off x="628560" y="4648320"/>
            <a:ext cx="4095360" cy="685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20000"/>
              </a:lnSpc>
              <a:buNone/>
            </a:pPr>
            <a:r>
              <a:rPr sz="1280" b="0" u="none">
                <a:solidFill>
                  <a:srgbClr val="6D6B65"/>
                </a:solidFill>
                <a:latin typeface="Aptos"/>
                <a:ea typeface="Aptos"/>
                <a:cs typeface="Aptos"/>
              </a:rPr>
              <a:t>Fresh critics + hard checks stop confident text from becoming false success.</a:t>
            </a:r>
            <a:endParaRPr sz="1280" b="0" u="none">
              <a:solidFill>
                <a:srgbClr val="000000"/>
              </a:solidFill>
              <a:latin typeface="Arial"/>
              <a:ea typeface="Arial"/>
              <a:cs typeface="Arial"/>
            </a:endParaRPr>
          </a:p>
        </p:txBody>
      </p:sp>
      <p:sp>
        <p:nvSpPr>
          <p:cNvPr id="88" name="connector-1">
            <a:extLst xmlns:a="http://schemas.openxmlformats.org/drawingml/2006/main">
              <a:ext uri="{FF2B5EF4-FFF2-40B4-BE49-F238E27FC236}">
                <a16:creationId xmlns:a16="http://schemas.microsoft.com/office/drawing/2014/main" id="{397EC20A-3A3A-4981-A1FF-7954B54AEFC6}"/>
              </a:ext>
            </a:extLst>
          </p:cNvPr>
          <p:cNvSpPr>
            <a:spLocks xmlns:a="http://schemas.openxmlformats.org/drawingml/2006/main" noGrp="1"/>
          </p:cNvSpPr>
          <p:nvPr/>
        </p:nvSpPr>
        <p:spPr>
          <a:xfrm xmlns:a="http://schemas.openxmlformats.org/drawingml/2006/main">
            <a:off x="6896160" y="2009880"/>
            <a:ext cx="18720" cy="399600"/>
          </a:xfrm>
          <a:prstGeom xmlns:a="http://schemas.openxmlformats.org/drawingml/2006/main" prst="rect">
            <a:avLst/>
          </a:prstGeom>
          <a:solidFill xmlns:a="http://schemas.openxmlformats.org/drawingml/2006/main">
            <a:srgbClr val="0A0A0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89" name="">
            <a:extLst xmlns:a="http://schemas.openxmlformats.org/drawingml/2006/main">
              <a:ext uri="{FF2B5EF4-FFF2-40B4-BE49-F238E27FC236}">
                <a16:creationId xmlns:a16="http://schemas.microsoft.com/office/drawing/2014/main" id="{6A94C4FA-C5D0-4683-B230-EDB4CBCC0C3E}"/>
              </a:ext>
            </a:extLst>
          </p:cNvPr>
          <p:cNvSpPr>
            <a:spLocks xmlns:a="http://schemas.openxmlformats.org/drawingml/2006/main" noGrp="1"/>
          </p:cNvSpPr>
          <p:nvPr/>
        </p:nvSpPr>
        <p:spPr>
          <a:xfrm xmlns:a="http://schemas.openxmlformats.org/drawingml/2006/main">
            <a:off x="6572160" y="1419120"/>
            <a:ext cx="666360" cy="666360"/>
          </a:xfrm>
          <a:prstGeom xmlns:a="http://schemas.openxmlformats.org/drawingml/2006/main" prst="ellipse">
            <a:avLst/>
          </a:prstGeom>
          <a:solidFill xmlns:a="http://schemas.openxmlformats.org/drawingml/2006/main">
            <a:srgbClr val="F4F3EE"/>
          </a:solidFill>
          <a:ln xmlns:a="http://schemas.openxmlformats.org/drawingml/2006/main" w="19050">
            <a:solidFill>
              <a:srgbClr val="0A0A0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90" name="">
            <a:extLst xmlns:a="http://schemas.openxmlformats.org/drawingml/2006/main">
              <a:ext uri="{FF2B5EF4-FFF2-40B4-BE49-F238E27FC236}">
                <a16:creationId xmlns:a16="http://schemas.microsoft.com/office/drawing/2014/main" id="{2AF59639-D067-4DFC-91B3-6F689BA85229}"/>
              </a:ext>
            </a:extLst>
          </p:cNvPr>
          <p:cNvSpPr>
            <a:spLocks xmlns:a="http://schemas.openxmlformats.org/drawingml/2006/main" noGrp="1"/>
          </p:cNvSpPr>
          <p:nvPr/>
        </p:nvSpPr>
        <p:spPr>
          <a:xfrm xmlns:a="http://schemas.openxmlformats.org/drawingml/2006/main">
            <a:off x="6572160" y="16383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pPr>
            <a:r>
              <a:rPr sz="1130" b="1" u="none">
                <a:solidFill>
                  <a:srgbClr val="0A0A0A"/>
                </a:solidFill>
                <a:latin typeface="Aptos"/>
                <a:ea typeface="Aptos"/>
                <a:cs typeface="Aptos"/>
              </a:rPr>
              <a:t>01</a:t>
            </a:r>
            <a:endParaRPr sz="1130" b="0" u="none">
              <a:solidFill>
                <a:srgbClr val="000000"/>
              </a:solidFill>
              <a:latin typeface="Arial"/>
              <a:ea typeface="Arial"/>
              <a:cs typeface="Arial"/>
            </a:endParaRPr>
          </a:p>
        </p:txBody>
      </p:sp>
      <p:sp>
        <p:nvSpPr>
          <p:cNvPr id="91" name="">
            <a:extLst xmlns:a="http://schemas.openxmlformats.org/drawingml/2006/main">
              <a:ext uri="{FF2B5EF4-FFF2-40B4-BE49-F238E27FC236}">
                <a16:creationId xmlns:a16="http://schemas.microsoft.com/office/drawing/2014/main" id="{8C129049-D16A-431C-B2C7-8D102E442CA0}"/>
              </a:ext>
            </a:extLst>
          </p:cNvPr>
          <p:cNvSpPr>
            <a:spLocks xmlns:a="http://schemas.openxmlformats.org/drawingml/2006/main" noGrp="1"/>
          </p:cNvSpPr>
          <p:nvPr/>
        </p:nvSpPr>
        <p:spPr>
          <a:xfrm xmlns:a="http://schemas.openxmlformats.org/drawingml/2006/main">
            <a:off x="7524720" y="1362240"/>
            <a:ext cx="3333240" cy="266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580" b="0" u="none">
                <a:solidFill>
                  <a:srgbClr val="0A0A0A"/>
                </a:solidFill>
                <a:latin typeface="Aptos Display"/>
                <a:ea typeface="Aptos Display"/>
                <a:cs typeface="Aptos Display"/>
              </a:rPr>
              <a:t>GOAL</a:t>
            </a:r>
            <a:endParaRPr sz="1580" b="0" u="none">
              <a:solidFill>
                <a:srgbClr val="000000"/>
              </a:solidFill>
              <a:latin typeface="Arial"/>
              <a:ea typeface="Arial"/>
              <a:cs typeface="Arial"/>
            </a:endParaRPr>
          </a:p>
        </p:txBody>
      </p:sp>
      <p:sp>
        <p:nvSpPr>
          <p:cNvPr id="92" name="">
            <a:extLst xmlns:a="http://schemas.openxmlformats.org/drawingml/2006/main">
              <a:ext uri="{FF2B5EF4-FFF2-40B4-BE49-F238E27FC236}">
                <a16:creationId xmlns:a16="http://schemas.microsoft.com/office/drawing/2014/main" id="{67436B1E-A0F1-4D18-AD36-87CC1657A62C}"/>
              </a:ext>
            </a:extLst>
          </p:cNvPr>
          <p:cNvSpPr>
            <a:spLocks xmlns:a="http://schemas.openxmlformats.org/drawingml/2006/main" noGrp="1"/>
          </p:cNvSpPr>
          <p:nvPr/>
        </p:nvSpPr>
        <p:spPr>
          <a:xfrm xmlns:a="http://schemas.openxmlformats.org/drawingml/2006/main">
            <a:off x="7524720" y="1704960"/>
            <a:ext cx="3333240" cy="361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00" b="0" u="none">
                <a:solidFill>
                  <a:srgbClr val="6D6B65"/>
                </a:solidFill>
                <a:latin typeface="Georgia"/>
                <a:ea typeface="Georgia"/>
                <a:cs typeface="Georgia"/>
              </a:rPr>
              <a:t>Confirmed success contract</a:t>
            </a:r>
            <a:endParaRPr sz="1200" b="0" u="none">
              <a:solidFill>
                <a:srgbClr val="000000"/>
              </a:solidFill>
              <a:latin typeface="Arial"/>
              <a:ea typeface="Arial"/>
              <a:cs typeface="Arial"/>
            </a:endParaRPr>
          </a:p>
        </p:txBody>
      </p:sp>
      <p:sp>
        <p:nvSpPr>
          <p:cNvPr id="93" name="rule-1">
            <a:extLst xmlns:a="http://schemas.openxmlformats.org/drawingml/2006/main">
              <a:ext uri="{FF2B5EF4-FFF2-40B4-BE49-F238E27FC236}">
                <a16:creationId xmlns:a16="http://schemas.microsoft.com/office/drawing/2014/main" id="{D2B4D087-3F7A-4D45-8278-8B5C340E3292}"/>
              </a:ext>
            </a:extLst>
          </p:cNvPr>
          <p:cNvSpPr>
            <a:spLocks xmlns:a="http://schemas.openxmlformats.org/drawingml/2006/main" noGrp="1"/>
          </p:cNvSpPr>
          <p:nvPr/>
        </p:nvSpPr>
        <p:spPr>
          <a:xfrm xmlns:a="http://schemas.openxmlformats.org/drawingml/2006/main">
            <a:off x="7524720" y="2143080"/>
            <a:ext cx="3333240" cy="900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35640" rIns="90000" bIns="-3564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94" name="connector-2">
            <a:extLst xmlns:a="http://schemas.openxmlformats.org/drawingml/2006/main">
              <a:ext uri="{FF2B5EF4-FFF2-40B4-BE49-F238E27FC236}">
                <a16:creationId xmlns:a16="http://schemas.microsoft.com/office/drawing/2014/main" id="{4BE6E90A-208A-4616-B9D8-E6A38680C616}"/>
              </a:ext>
            </a:extLst>
          </p:cNvPr>
          <p:cNvSpPr>
            <a:spLocks xmlns:a="http://schemas.openxmlformats.org/drawingml/2006/main" noGrp="1"/>
          </p:cNvSpPr>
          <p:nvPr/>
        </p:nvSpPr>
        <p:spPr>
          <a:xfrm xmlns:a="http://schemas.openxmlformats.org/drawingml/2006/main">
            <a:off x="6896160" y="3228840"/>
            <a:ext cx="18720" cy="399600"/>
          </a:xfrm>
          <a:prstGeom xmlns:a="http://schemas.openxmlformats.org/drawingml/2006/main" prst="rect">
            <a:avLst/>
          </a:prstGeom>
          <a:solidFill xmlns:a="http://schemas.openxmlformats.org/drawingml/2006/main">
            <a:srgbClr val="0A0A0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95" name="">
            <a:extLst xmlns:a="http://schemas.openxmlformats.org/drawingml/2006/main">
              <a:ext uri="{FF2B5EF4-FFF2-40B4-BE49-F238E27FC236}">
                <a16:creationId xmlns:a16="http://schemas.microsoft.com/office/drawing/2014/main" id="{0F0AEA57-3531-4621-BD8D-FFA2E38D4559}"/>
              </a:ext>
            </a:extLst>
          </p:cNvPr>
          <p:cNvSpPr>
            <a:spLocks xmlns:a="http://schemas.openxmlformats.org/drawingml/2006/main" noGrp="1"/>
          </p:cNvSpPr>
          <p:nvPr/>
        </p:nvSpPr>
        <p:spPr>
          <a:xfrm xmlns:a="http://schemas.openxmlformats.org/drawingml/2006/main">
            <a:off x="6572160" y="2638440"/>
            <a:ext cx="666360" cy="666360"/>
          </a:xfrm>
          <a:prstGeom xmlns:a="http://schemas.openxmlformats.org/drawingml/2006/main" prst="ellipse">
            <a:avLst/>
          </a:prstGeom>
          <a:solidFill xmlns:a="http://schemas.openxmlformats.org/drawingml/2006/main">
            <a:srgbClr val="F4F3EE"/>
          </a:solidFill>
          <a:ln xmlns:a="http://schemas.openxmlformats.org/drawingml/2006/main" w="19050">
            <a:solidFill>
              <a:srgbClr val="0A0A0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96" name="">
            <a:extLst xmlns:a="http://schemas.openxmlformats.org/drawingml/2006/main">
              <a:ext uri="{FF2B5EF4-FFF2-40B4-BE49-F238E27FC236}">
                <a16:creationId xmlns:a16="http://schemas.microsoft.com/office/drawing/2014/main" id="{3C778489-3DDC-42BD-98D9-D8C6BB77A5C5}"/>
              </a:ext>
            </a:extLst>
          </p:cNvPr>
          <p:cNvSpPr>
            <a:spLocks xmlns:a="http://schemas.openxmlformats.org/drawingml/2006/main" noGrp="1"/>
          </p:cNvSpPr>
          <p:nvPr/>
        </p:nvSpPr>
        <p:spPr>
          <a:xfrm xmlns:a="http://schemas.openxmlformats.org/drawingml/2006/main">
            <a:off x="6572160" y="285768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pPr>
            <a:r>
              <a:rPr sz="1130" b="1" u="none">
                <a:solidFill>
                  <a:srgbClr val="0A0A0A"/>
                </a:solidFill>
                <a:latin typeface="Aptos"/>
                <a:ea typeface="Aptos"/>
                <a:cs typeface="Aptos"/>
              </a:rPr>
              <a:t>02</a:t>
            </a:r>
            <a:endParaRPr sz="1130" b="0" u="none">
              <a:solidFill>
                <a:srgbClr val="000000"/>
              </a:solidFill>
              <a:latin typeface="Arial"/>
              <a:ea typeface="Arial"/>
              <a:cs typeface="Arial"/>
            </a:endParaRPr>
          </a:p>
        </p:txBody>
      </p:sp>
      <p:sp>
        <p:nvSpPr>
          <p:cNvPr id="97" name="">
            <a:extLst xmlns:a="http://schemas.openxmlformats.org/drawingml/2006/main">
              <a:ext uri="{FF2B5EF4-FFF2-40B4-BE49-F238E27FC236}">
                <a16:creationId xmlns:a16="http://schemas.microsoft.com/office/drawing/2014/main" id="{B0C37D9A-37A0-45D9-AFF3-6C8C8EA082F0}"/>
              </a:ext>
            </a:extLst>
          </p:cNvPr>
          <p:cNvSpPr>
            <a:spLocks xmlns:a="http://schemas.openxmlformats.org/drawingml/2006/main" noGrp="1"/>
          </p:cNvSpPr>
          <p:nvPr/>
        </p:nvSpPr>
        <p:spPr>
          <a:xfrm xmlns:a="http://schemas.openxmlformats.org/drawingml/2006/main">
            <a:off x="7524720" y="2581200"/>
            <a:ext cx="3333240" cy="266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580" b="0" u="none">
                <a:solidFill>
                  <a:srgbClr val="0A0A0A"/>
                </a:solidFill>
                <a:latin typeface="Aptos Display"/>
                <a:ea typeface="Aptos Display"/>
                <a:cs typeface="Aptos Display"/>
              </a:rPr>
              <a:t>OFFENSE</a:t>
            </a:r>
            <a:endParaRPr sz="1580" b="0" u="none">
              <a:solidFill>
                <a:srgbClr val="000000"/>
              </a:solidFill>
              <a:latin typeface="Arial"/>
              <a:ea typeface="Arial"/>
              <a:cs typeface="Arial"/>
            </a:endParaRPr>
          </a:p>
        </p:txBody>
      </p:sp>
      <p:sp>
        <p:nvSpPr>
          <p:cNvPr id="98" name="">
            <a:extLst xmlns:a="http://schemas.openxmlformats.org/drawingml/2006/main">
              <a:ext uri="{FF2B5EF4-FFF2-40B4-BE49-F238E27FC236}">
                <a16:creationId xmlns:a16="http://schemas.microsoft.com/office/drawing/2014/main" id="{0A9CE943-CC41-418A-92B2-A9102571E6B1}"/>
              </a:ext>
            </a:extLst>
          </p:cNvPr>
          <p:cNvSpPr>
            <a:spLocks xmlns:a="http://schemas.openxmlformats.org/drawingml/2006/main" noGrp="1"/>
          </p:cNvSpPr>
          <p:nvPr/>
        </p:nvSpPr>
        <p:spPr>
          <a:xfrm xmlns:a="http://schemas.openxmlformats.org/drawingml/2006/main">
            <a:off x="7524720" y="2924280"/>
            <a:ext cx="3333240" cy="361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00" b="0" u="none">
                <a:solidFill>
                  <a:srgbClr val="6D6B65"/>
                </a:solidFill>
                <a:latin typeface="Georgia"/>
                <a:ea typeface="Georgia"/>
                <a:cs typeface="Georgia"/>
              </a:rPr>
              <a:t>Plan → tools → checkpoint</a:t>
            </a:r>
            <a:endParaRPr sz="1200" b="0" u="none">
              <a:solidFill>
                <a:srgbClr val="000000"/>
              </a:solidFill>
              <a:latin typeface="Arial"/>
              <a:ea typeface="Arial"/>
              <a:cs typeface="Arial"/>
            </a:endParaRPr>
          </a:p>
        </p:txBody>
      </p:sp>
      <p:sp>
        <p:nvSpPr>
          <p:cNvPr id="99" name="rule-2">
            <a:extLst xmlns:a="http://schemas.openxmlformats.org/drawingml/2006/main">
              <a:ext uri="{FF2B5EF4-FFF2-40B4-BE49-F238E27FC236}">
                <a16:creationId xmlns:a16="http://schemas.microsoft.com/office/drawing/2014/main" id="{4F82E1FF-32C2-48B9-A6BF-C85EAB6B9310}"/>
              </a:ext>
            </a:extLst>
          </p:cNvPr>
          <p:cNvSpPr>
            <a:spLocks xmlns:a="http://schemas.openxmlformats.org/drawingml/2006/main" noGrp="1"/>
          </p:cNvSpPr>
          <p:nvPr/>
        </p:nvSpPr>
        <p:spPr>
          <a:xfrm xmlns:a="http://schemas.openxmlformats.org/drawingml/2006/main">
            <a:off x="7524720" y="3362400"/>
            <a:ext cx="3333240" cy="900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35640" rIns="90000" bIns="-3564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00" name="connector-3">
            <a:extLst xmlns:a="http://schemas.openxmlformats.org/drawingml/2006/main">
              <a:ext uri="{FF2B5EF4-FFF2-40B4-BE49-F238E27FC236}">
                <a16:creationId xmlns:a16="http://schemas.microsoft.com/office/drawing/2014/main" id="{3FBC7912-89D1-4207-A1FE-621768264FC1}"/>
              </a:ext>
            </a:extLst>
          </p:cNvPr>
          <p:cNvSpPr>
            <a:spLocks xmlns:a="http://schemas.openxmlformats.org/drawingml/2006/main" noGrp="1"/>
          </p:cNvSpPr>
          <p:nvPr/>
        </p:nvSpPr>
        <p:spPr>
          <a:xfrm xmlns:a="http://schemas.openxmlformats.org/drawingml/2006/main">
            <a:off x="6896160" y="4448160"/>
            <a:ext cx="18720" cy="399600"/>
          </a:xfrm>
          <a:prstGeom xmlns:a="http://schemas.openxmlformats.org/drawingml/2006/main" prst="rect">
            <a:avLst/>
          </a:prstGeom>
          <a:solidFill xmlns:a="http://schemas.openxmlformats.org/drawingml/2006/main">
            <a:srgbClr val="0A0A0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101" name="">
            <a:extLst xmlns:a="http://schemas.openxmlformats.org/drawingml/2006/main">
              <a:ext uri="{FF2B5EF4-FFF2-40B4-BE49-F238E27FC236}">
                <a16:creationId xmlns:a16="http://schemas.microsoft.com/office/drawing/2014/main" id="{093ED0AE-EFBD-44A2-BB34-32CA477A5476}"/>
              </a:ext>
            </a:extLst>
          </p:cNvPr>
          <p:cNvSpPr>
            <a:spLocks xmlns:a="http://schemas.openxmlformats.org/drawingml/2006/main" noGrp="1"/>
          </p:cNvSpPr>
          <p:nvPr/>
        </p:nvSpPr>
        <p:spPr>
          <a:xfrm xmlns:a="http://schemas.openxmlformats.org/drawingml/2006/main">
            <a:off x="6572160" y="3857760"/>
            <a:ext cx="666360" cy="666360"/>
          </a:xfrm>
          <a:prstGeom xmlns:a="http://schemas.openxmlformats.org/drawingml/2006/main" prst="ellipse">
            <a:avLst/>
          </a:prstGeom>
          <a:solidFill xmlns:a="http://schemas.openxmlformats.org/drawingml/2006/main">
            <a:srgbClr val="9B2F86"/>
          </a:solidFill>
          <a:ln xmlns:a="http://schemas.openxmlformats.org/drawingml/2006/main" w="19050">
            <a:solidFill>
              <a:srgbClr val="0A0A0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102" name="">
            <a:extLst xmlns:a="http://schemas.openxmlformats.org/drawingml/2006/main">
              <a:ext uri="{FF2B5EF4-FFF2-40B4-BE49-F238E27FC236}">
                <a16:creationId xmlns:a16="http://schemas.microsoft.com/office/drawing/2014/main" id="{8C0B728C-41A8-44C6-9F84-BD8FE3404B33}"/>
              </a:ext>
            </a:extLst>
          </p:cNvPr>
          <p:cNvSpPr>
            <a:spLocks xmlns:a="http://schemas.openxmlformats.org/drawingml/2006/main" noGrp="1"/>
          </p:cNvSpPr>
          <p:nvPr/>
        </p:nvSpPr>
        <p:spPr>
          <a:xfrm xmlns:a="http://schemas.openxmlformats.org/drawingml/2006/main">
            <a:off x="6572160" y="407664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pPr>
            <a:r>
              <a:rPr sz="1130" b="1" u="none">
                <a:solidFill>
                  <a:srgbClr val="FFFFFF"/>
                </a:solidFill>
                <a:latin typeface="Aptos"/>
                <a:ea typeface="Aptos"/>
                <a:cs typeface="Aptos"/>
              </a:rPr>
              <a:t>03</a:t>
            </a:r>
            <a:endParaRPr sz="1130" b="0" u="none">
              <a:solidFill>
                <a:srgbClr val="000000"/>
              </a:solidFill>
              <a:latin typeface="Arial"/>
              <a:ea typeface="Arial"/>
              <a:cs typeface="Arial"/>
            </a:endParaRPr>
          </a:p>
        </p:txBody>
      </p:sp>
      <p:sp>
        <p:nvSpPr>
          <p:cNvPr id="103" name="">
            <a:extLst xmlns:a="http://schemas.openxmlformats.org/drawingml/2006/main">
              <a:ext uri="{FF2B5EF4-FFF2-40B4-BE49-F238E27FC236}">
                <a16:creationId xmlns:a16="http://schemas.microsoft.com/office/drawing/2014/main" id="{A5F24844-1E53-4B30-AD32-44F7CCFA9314}"/>
              </a:ext>
            </a:extLst>
          </p:cNvPr>
          <p:cNvSpPr>
            <a:spLocks xmlns:a="http://schemas.openxmlformats.org/drawingml/2006/main" noGrp="1"/>
          </p:cNvSpPr>
          <p:nvPr/>
        </p:nvSpPr>
        <p:spPr>
          <a:xfrm xmlns:a="http://schemas.openxmlformats.org/drawingml/2006/main">
            <a:off x="7524720" y="3800520"/>
            <a:ext cx="3333240" cy="266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580" b="0" u="none">
                <a:solidFill>
                  <a:srgbClr val="0A0A0A"/>
                </a:solidFill>
                <a:latin typeface="Aptos Display"/>
                <a:ea typeface="Aptos Display"/>
                <a:cs typeface="Aptos Display"/>
              </a:rPr>
              <a:t>DEFENSE</a:t>
            </a:r>
            <a:endParaRPr sz="1580" b="0" u="none">
              <a:solidFill>
                <a:srgbClr val="000000"/>
              </a:solidFill>
              <a:latin typeface="Arial"/>
              <a:ea typeface="Arial"/>
              <a:cs typeface="Arial"/>
            </a:endParaRPr>
          </a:p>
        </p:txBody>
      </p:sp>
      <p:sp>
        <p:nvSpPr>
          <p:cNvPr id="104" name="">
            <a:extLst xmlns:a="http://schemas.openxmlformats.org/drawingml/2006/main">
              <a:ext uri="{FF2B5EF4-FFF2-40B4-BE49-F238E27FC236}">
                <a16:creationId xmlns:a16="http://schemas.microsoft.com/office/drawing/2014/main" id="{B2B9A8AE-413C-436B-8B8C-191B491EAE5E}"/>
              </a:ext>
            </a:extLst>
          </p:cNvPr>
          <p:cNvSpPr>
            <a:spLocks xmlns:a="http://schemas.openxmlformats.org/drawingml/2006/main" noGrp="1"/>
          </p:cNvSpPr>
          <p:nvPr/>
        </p:nvSpPr>
        <p:spPr>
          <a:xfrm xmlns:a="http://schemas.openxmlformats.org/drawingml/2006/main">
            <a:off x="7524720" y="4143240"/>
            <a:ext cx="3333240" cy="361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00" b="0" u="none">
                <a:solidFill>
                  <a:srgbClr val="6D6B65"/>
                </a:solidFill>
                <a:latin typeface="Georgia"/>
                <a:ea typeface="Georgia"/>
                <a:cs typeface="Georgia"/>
              </a:rPr>
              <a:t>Critic + deterministic checks</a:t>
            </a:r>
            <a:endParaRPr sz="1200" b="0" u="none">
              <a:solidFill>
                <a:srgbClr val="000000"/>
              </a:solidFill>
              <a:latin typeface="Arial"/>
              <a:ea typeface="Arial"/>
              <a:cs typeface="Arial"/>
            </a:endParaRPr>
          </a:p>
        </p:txBody>
      </p:sp>
      <p:sp>
        <p:nvSpPr>
          <p:cNvPr id="105" name="rule-3">
            <a:extLst xmlns:a="http://schemas.openxmlformats.org/drawingml/2006/main">
              <a:ext uri="{FF2B5EF4-FFF2-40B4-BE49-F238E27FC236}">
                <a16:creationId xmlns:a16="http://schemas.microsoft.com/office/drawing/2014/main" id="{5881543E-EA09-4E51-BE6A-76B34D54DAB1}"/>
              </a:ext>
            </a:extLst>
          </p:cNvPr>
          <p:cNvSpPr>
            <a:spLocks xmlns:a="http://schemas.openxmlformats.org/drawingml/2006/main" noGrp="1"/>
          </p:cNvSpPr>
          <p:nvPr/>
        </p:nvSpPr>
        <p:spPr>
          <a:xfrm xmlns:a="http://schemas.openxmlformats.org/drawingml/2006/main">
            <a:off x="7524720" y="4581360"/>
            <a:ext cx="3333240" cy="900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35640" rIns="90000" bIns="-3564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06" name="">
            <a:extLst xmlns:a="http://schemas.openxmlformats.org/drawingml/2006/main">
              <a:ext uri="{FF2B5EF4-FFF2-40B4-BE49-F238E27FC236}">
                <a16:creationId xmlns:a16="http://schemas.microsoft.com/office/drawing/2014/main" id="{7666572D-196A-42D6-ADA2-966A51661A8C}"/>
              </a:ext>
            </a:extLst>
          </p:cNvPr>
          <p:cNvSpPr>
            <a:spLocks xmlns:a="http://schemas.openxmlformats.org/drawingml/2006/main" noGrp="1"/>
          </p:cNvSpPr>
          <p:nvPr/>
        </p:nvSpPr>
        <p:spPr>
          <a:xfrm xmlns:a="http://schemas.openxmlformats.org/drawingml/2006/main">
            <a:off x="6572160" y="5076720"/>
            <a:ext cx="666360" cy="666360"/>
          </a:xfrm>
          <a:prstGeom xmlns:a="http://schemas.openxmlformats.org/drawingml/2006/main" prst="ellipse">
            <a:avLst/>
          </a:prstGeom>
          <a:solidFill xmlns:a="http://schemas.openxmlformats.org/drawingml/2006/main">
            <a:srgbClr val="F4F3EE"/>
          </a:solidFill>
          <a:ln xmlns:a="http://schemas.openxmlformats.org/drawingml/2006/main" w="19050">
            <a:solidFill>
              <a:srgbClr val="0A0A0A"/>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07" name="">
            <a:extLst xmlns:a="http://schemas.openxmlformats.org/drawingml/2006/main">
              <a:ext uri="{FF2B5EF4-FFF2-40B4-BE49-F238E27FC236}">
                <a16:creationId xmlns:a16="http://schemas.microsoft.com/office/drawing/2014/main" id="{1CA89117-1621-4DE3-AEA0-CCF680161618}"/>
              </a:ext>
            </a:extLst>
          </p:cNvPr>
          <p:cNvSpPr>
            <a:spLocks xmlns:a="http://schemas.openxmlformats.org/drawingml/2006/main" noGrp="1"/>
          </p:cNvSpPr>
          <p:nvPr/>
        </p:nvSpPr>
        <p:spPr>
          <a:xfrm xmlns:a="http://schemas.openxmlformats.org/drawingml/2006/main">
            <a:off x="6572160" y="52959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pPr>
            <a:r>
              <a:rPr sz="1130" b="1" u="none">
                <a:solidFill>
                  <a:srgbClr val="0A0A0A"/>
                </a:solidFill>
                <a:latin typeface="Aptos"/>
                <a:ea typeface="Aptos"/>
                <a:cs typeface="Aptos"/>
              </a:rPr>
              <a:t>04</a:t>
            </a:r>
            <a:endParaRPr sz="1130" b="0" u="none">
              <a:solidFill>
                <a:srgbClr val="000000"/>
              </a:solidFill>
              <a:latin typeface="Arial"/>
              <a:ea typeface="Arial"/>
              <a:cs typeface="Arial"/>
            </a:endParaRPr>
          </a:p>
        </p:txBody>
      </p:sp>
      <p:sp>
        <p:nvSpPr>
          <p:cNvPr id="108" name="">
            <a:extLst xmlns:a="http://schemas.openxmlformats.org/drawingml/2006/main">
              <a:ext uri="{FF2B5EF4-FFF2-40B4-BE49-F238E27FC236}">
                <a16:creationId xmlns:a16="http://schemas.microsoft.com/office/drawing/2014/main" id="{9E49BD4A-1B05-4C25-9817-DFC2A935B740}"/>
              </a:ext>
            </a:extLst>
          </p:cNvPr>
          <p:cNvSpPr>
            <a:spLocks xmlns:a="http://schemas.openxmlformats.org/drawingml/2006/main" noGrp="1"/>
          </p:cNvSpPr>
          <p:nvPr/>
        </p:nvSpPr>
        <p:spPr>
          <a:xfrm xmlns:a="http://schemas.openxmlformats.org/drawingml/2006/main">
            <a:off x="7524720" y="5019840"/>
            <a:ext cx="3333240" cy="266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580" b="0" u="none">
                <a:solidFill>
                  <a:srgbClr val="0A0A0A"/>
                </a:solidFill>
                <a:latin typeface="Aptos Display"/>
                <a:ea typeface="Aptos Display"/>
                <a:cs typeface="Aptos Display"/>
              </a:rPr>
              <a:t>CHAMPION</a:t>
            </a:r>
            <a:endParaRPr sz="1580" b="0" u="none">
              <a:solidFill>
                <a:srgbClr val="000000"/>
              </a:solidFill>
              <a:latin typeface="Arial"/>
              <a:ea typeface="Arial"/>
              <a:cs typeface="Arial"/>
            </a:endParaRPr>
          </a:p>
        </p:txBody>
      </p:sp>
      <p:sp>
        <p:nvSpPr>
          <p:cNvPr id="109" name="">
            <a:extLst xmlns:a="http://schemas.openxmlformats.org/drawingml/2006/main">
              <a:ext uri="{FF2B5EF4-FFF2-40B4-BE49-F238E27FC236}">
                <a16:creationId xmlns:a16="http://schemas.microsoft.com/office/drawing/2014/main" id="{831455AD-C242-46D4-935E-3F6D94A46E01}"/>
              </a:ext>
            </a:extLst>
          </p:cNvPr>
          <p:cNvSpPr>
            <a:spLocks xmlns:a="http://schemas.openxmlformats.org/drawingml/2006/main" noGrp="1"/>
          </p:cNvSpPr>
          <p:nvPr/>
        </p:nvSpPr>
        <p:spPr>
          <a:xfrm xmlns:a="http://schemas.openxmlformats.org/drawingml/2006/main">
            <a:off x="7524720" y="5362560"/>
            <a:ext cx="3333240" cy="361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00" b="0" u="none">
                <a:solidFill>
                  <a:srgbClr val="6D6B65"/>
                </a:solidFill>
                <a:latin typeface="Georgia"/>
                <a:ea typeface="Georgia"/>
                <a:cs typeface="Georgia"/>
              </a:rPr>
              <a:t>Verified integration artifact</a:t>
            </a:r>
            <a:endParaRPr sz="1200" b="0" u="none">
              <a:solidFill>
                <a:srgbClr val="000000"/>
              </a:solidFill>
              <a:latin typeface="Arial"/>
              <a:ea typeface="Arial"/>
              <a:cs typeface="Arial"/>
            </a:endParaRPr>
          </a:p>
        </p:txBody>
      </p:sp>
      <p:sp>
        <p:nvSpPr>
          <p:cNvPr id="110" name="rule-4">
            <a:extLst xmlns:a="http://schemas.openxmlformats.org/drawingml/2006/main">
              <a:ext uri="{FF2B5EF4-FFF2-40B4-BE49-F238E27FC236}">
                <a16:creationId xmlns:a16="http://schemas.microsoft.com/office/drawing/2014/main" id="{DDAA2FCC-9E15-447A-927B-8B556BE2E1EF}"/>
              </a:ext>
            </a:extLst>
          </p:cNvPr>
          <p:cNvSpPr>
            <a:spLocks xmlns:a="http://schemas.openxmlformats.org/drawingml/2006/main" noGrp="1"/>
          </p:cNvSpPr>
          <p:nvPr/>
        </p:nvSpPr>
        <p:spPr>
          <a:xfrm xmlns:a="http://schemas.openxmlformats.org/drawingml/2006/main">
            <a:off x="7524720" y="5800680"/>
            <a:ext cx="3333240" cy="900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35640" rIns="90000" bIns="-3564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Tree>
    <p:extLst>
      <p:ext uri="{BB962C8B-B14F-4D97-AF65-F5344CB8AC3E}">
        <p14:creationId xmlns:p14="http://schemas.microsoft.com/office/powerpoint/2010/main" val="1906522154"/>
      </p:ext>
    </p:extLst>
  </p:cSld>
</p:sld>
</file>

<file path=ppt/slides/slide7.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11" name="top-bar">
            <a:extLst xmlns:a="http://schemas.openxmlformats.org/drawingml/2006/main">
              <a:ext uri="{FF2B5EF4-FFF2-40B4-BE49-F238E27FC236}">
                <a16:creationId xmlns:a16="http://schemas.microsoft.com/office/drawing/2014/main" id="{B3F28A00-AFD5-495E-9892-CB87F8CC882D}"/>
              </a:ext>
            </a:extLst>
          </p:cNvPr>
          <p:cNvSpPr>
            <a:spLocks xmlns:a="http://schemas.openxmlformats.org/drawingml/2006/main" noGrp="1"/>
          </p:cNvSpPr>
          <p:nvPr/>
        </p:nvSpPr>
        <p:spPr>
          <a:xfrm xmlns:a="http://schemas.openxmlformats.org/drawingml/2006/main">
            <a:off x="0" y="0"/>
            <a:ext cx="12191760" cy="552240"/>
          </a:xfrm>
          <a:prstGeom xmlns:a="http://schemas.openxmlformats.org/drawingml/2006/main" prst="rect">
            <a:avLst/>
          </a:prstGeom>
          <a:solidFill xmlns:a="http://schemas.openxmlformats.org/drawingml/2006/main">
            <a:srgbClr val="0A0A0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112" name="">
            <a:extLst xmlns:a="http://schemas.openxmlformats.org/drawingml/2006/main">
              <a:ext uri="{FF2B5EF4-FFF2-40B4-BE49-F238E27FC236}">
                <a16:creationId xmlns:a16="http://schemas.microsoft.com/office/drawing/2014/main" id="{6629EEEC-1ACB-49DE-8622-7CA934AD9E36}"/>
              </a:ext>
            </a:extLst>
          </p:cNvPr>
          <p:cNvSpPr>
            <a:spLocks xmlns:a="http://schemas.openxmlformats.org/drawingml/2006/main" noGrp="1"/>
          </p:cNvSpPr>
          <p:nvPr/>
        </p:nvSpPr>
        <p:spPr>
          <a:xfrm xmlns:a="http://schemas.openxmlformats.org/drawingml/2006/main">
            <a:off x="285840" y="171360"/>
            <a:ext cx="247608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1" u="none">
                <a:solidFill>
                  <a:srgbClr val="FFFFFF"/>
                </a:solidFill>
                <a:latin typeface="Aptos"/>
                <a:ea typeface="Aptos"/>
                <a:cs typeface="Aptos"/>
              </a:rPr>
              <a:t>✦  LONG-HORIZON BUILD DAY</a:t>
            </a:r>
            <a:endParaRPr sz="1050" b="0" u="none">
              <a:solidFill>
                <a:srgbClr val="000000"/>
              </a:solidFill>
              <a:latin typeface="Arial"/>
              <a:ea typeface="Arial"/>
              <a:cs typeface="Arial"/>
            </a:endParaRPr>
          </a:p>
        </p:txBody>
      </p:sp>
      <p:sp>
        <p:nvSpPr>
          <p:cNvPr id="113" name="">
            <a:extLst xmlns:a="http://schemas.openxmlformats.org/drawingml/2006/main">
              <a:ext uri="{FF2B5EF4-FFF2-40B4-BE49-F238E27FC236}">
                <a16:creationId xmlns:a16="http://schemas.microsoft.com/office/drawing/2014/main" id="{3658003F-5B1B-494B-83FE-5F5898EEE925}"/>
              </a:ext>
            </a:extLst>
          </p:cNvPr>
          <p:cNvSpPr>
            <a:spLocks xmlns:a="http://schemas.openxmlformats.org/drawingml/2006/main" noGrp="1"/>
          </p:cNvSpPr>
          <p:nvPr/>
        </p:nvSpPr>
        <p:spPr>
          <a:xfrm xmlns:a="http://schemas.openxmlformats.org/drawingml/2006/main">
            <a:off x="7810560" y="171360"/>
            <a:ext cx="314280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pPr>
            <a:r>
              <a:rPr sz="900" b="0" u="none">
                <a:solidFill>
                  <a:srgbClr val="C9C7C0"/>
                </a:solidFill>
                <a:latin typeface="Aptos"/>
                <a:ea typeface="Aptos"/>
                <a:cs typeface="Aptos"/>
              </a:rPr>
              <a:t>THE GATE</a:t>
            </a:r>
            <a:endParaRPr sz="900" b="0" u="none">
              <a:solidFill>
                <a:srgbClr val="000000"/>
              </a:solidFill>
              <a:latin typeface="Arial"/>
              <a:ea typeface="Arial"/>
              <a:cs typeface="Arial"/>
            </a:endParaRPr>
          </a:p>
        </p:txBody>
      </p:sp>
      <p:sp>
        <p:nvSpPr>
          <p:cNvPr id="114" name="">
            <a:extLst xmlns:a="http://schemas.openxmlformats.org/drawingml/2006/main">
              <a:ext uri="{FF2B5EF4-FFF2-40B4-BE49-F238E27FC236}">
                <a16:creationId xmlns:a16="http://schemas.microsoft.com/office/drawing/2014/main" id="{C683C44D-821B-4B25-9C61-F4FFB6FBAFBA}"/>
              </a:ext>
            </a:extLst>
          </p:cNvPr>
          <p:cNvSpPr>
            <a:spLocks xmlns:a="http://schemas.openxmlformats.org/drawingml/2006/main" noGrp="1"/>
          </p:cNvSpPr>
          <p:nvPr/>
        </p:nvSpPr>
        <p:spPr>
          <a:xfrm xmlns:a="http://schemas.openxmlformats.org/drawingml/2006/main">
            <a:off x="11239560" y="1713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80" b="1" u="none">
                <a:solidFill>
                  <a:srgbClr val="FFFFFF"/>
                </a:solidFill>
                <a:latin typeface="Aptos"/>
                <a:ea typeface="Aptos"/>
                <a:cs typeface="Aptos"/>
              </a:rPr>
              <a:t>07</a:t>
            </a:r>
            <a:endParaRPr sz="980" b="0" u="none">
              <a:solidFill>
                <a:srgbClr val="000000"/>
              </a:solidFill>
              <a:latin typeface="Arial"/>
              <a:ea typeface="Arial"/>
              <a:cs typeface="Arial"/>
            </a:endParaRPr>
          </a:p>
        </p:txBody>
      </p:sp>
      <p:sp>
        <p:nvSpPr>
          <p:cNvPr id="115" name="">
            <a:extLst xmlns:a="http://schemas.openxmlformats.org/drawingml/2006/main">
              <a:ext uri="{FF2B5EF4-FFF2-40B4-BE49-F238E27FC236}">
                <a16:creationId xmlns:a16="http://schemas.microsoft.com/office/drawing/2014/main" id="{28C1CF46-1C29-44FB-A5FA-732BC1AC3E7B}"/>
              </a:ext>
            </a:extLst>
          </p:cNvPr>
          <p:cNvSpPr>
            <a:spLocks xmlns:a="http://schemas.openxmlformats.org/drawingml/2006/main" noGrp="1"/>
          </p:cNvSpPr>
          <p:nvPr/>
        </p:nvSpPr>
        <p:spPr>
          <a:xfrm xmlns:a="http://schemas.openxmlformats.org/drawingml/2006/main">
            <a:off x="609480" y="876240"/>
            <a:ext cx="4762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6D6B65"/>
                </a:solidFill>
                <a:latin typeface="Aptos"/>
                <a:ea typeface="Aptos"/>
                <a:cs typeface="Aptos"/>
              </a:rPr>
              <a:t>06 / THE GATE</a:t>
            </a:r>
            <a:endParaRPr sz="980" b="0" u="none">
              <a:solidFill>
                <a:srgbClr val="000000"/>
              </a:solidFill>
              <a:latin typeface="Arial"/>
              <a:ea typeface="Arial"/>
              <a:cs typeface="Arial"/>
            </a:endParaRPr>
          </a:p>
        </p:txBody>
      </p:sp>
      <p:sp>
        <p:nvSpPr>
          <p:cNvPr id="116" name="evidence-title">
            <a:extLst xmlns:a="http://schemas.openxmlformats.org/drawingml/2006/main">
              <a:ext uri="{FF2B5EF4-FFF2-40B4-BE49-F238E27FC236}">
                <a16:creationId xmlns:a16="http://schemas.microsoft.com/office/drawing/2014/main" id="{4E37611B-3D22-4DBB-B64A-150BB293F489}"/>
              </a:ext>
            </a:extLst>
          </p:cNvPr>
          <p:cNvSpPr>
            <a:spLocks xmlns:a="http://schemas.openxmlformats.org/drawingml/2006/main" noGrp="1"/>
          </p:cNvSpPr>
          <p:nvPr/>
        </p:nvSpPr>
        <p:spPr>
          <a:xfrm xmlns:a="http://schemas.openxmlformats.org/drawingml/2006/main">
            <a:off x="609480" y="1285920"/>
            <a:ext cx="9524520" cy="647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83149"/>
          </a:bodyPr>
          <a:lstStyle xmlns:a="http://schemas.openxmlformats.org/drawingml/2006/main"/>
          <a:p xmlns:a="http://schemas.openxmlformats.org/drawingml/2006/main">
            <a:pPr>
              <a:lnSpc>
                <a:spcPct val="100000"/>
              </a:lnSpc>
              <a:buNone/>
            </a:pPr>
            <a:r>
              <a:rPr sz="3450" b="0" u="none">
                <a:solidFill>
                  <a:srgbClr val="0A0A0A"/>
                </a:solidFill>
                <a:latin typeface="Aptos Display"/>
                <a:ea typeface="Aptos Display"/>
                <a:cs typeface="Aptos Display"/>
              </a:rPr>
              <a:t>Victory requires the final gate—not a good-looking answer.</a:t>
            </a:r>
            <a:endParaRPr sz="3450" b="0" u="none">
              <a:solidFill>
                <a:srgbClr val="000000"/>
              </a:solidFill>
              <a:latin typeface="Arial"/>
              <a:ea typeface="Arial"/>
              <a:cs typeface="Arial"/>
            </a:endParaRPr>
          </a:p>
        </p:txBody>
      </p:sp>
      <p:sp>
        <p:nvSpPr>
          <p:cNvPr id="117" name="">
            <a:extLst xmlns:a="http://schemas.openxmlformats.org/drawingml/2006/main">
              <a:ext uri="{FF2B5EF4-FFF2-40B4-BE49-F238E27FC236}">
                <a16:creationId xmlns:a16="http://schemas.microsoft.com/office/drawing/2014/main" id="{263E6E2E-D91C-4353-9BD0-17197BEDE114}"/>
              </a:ext>
            </a:extLst>
          </p:cNvPr>
          <p:cNvSpPr>
            <a:spLocks xmlns:a="http://schemas.openxmlformats.org/drawingml/2006/main" noGrp="1"/>
          </p:cNvSpPr>
          <p:nvPr/>
        </p:nvSpPr>
        <p:spPr>
          <a:xfrm xmlns:a="http://schemas.openxmlformats.org/drawingml/2006/main">
            <a:off x="628560" y="2476440"/>
            <a:ext cx="22856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9B2F86"/>
                </a:solidFill>
                <a:latin typeface="Aptos"/>
                <a:ea typeface="Aptos"/>
                <a:cs typeface="Aptos"/>
              </a:rPr>
              <a:t>REQUIRED GATES</a:t>
            </a:r>
            <a:endParaRPr sz="980" b="0" u="none">
              <a:solidFill>
                <a:srgbClr val="000000"/>
              </a:solidFill>
              <a:latin typeface="Arial"/>
              <a:ea typeface="Arial"/>
              <a:cs typeface="Arial"/>
            </a:endParaRPr>
          </a:p>
        </p:txBody>
      </p:sp>
      <p:sp>
        <p:nvSpPr>
          <p:cNvPr id="118" name="primary-success-metric">
            <a:extLst xmlns:a="http://schemas.openxmlformats.org/drawingml/2006/main">
              <a:ext uri="{FF2B5EF4-FFF2-40B4-BE49-F238E27FC236}">
                <a16:creationId xmlns:a16="http://schemas.microsoft.com/office/drawing/2014/main" id="{FD502C57-E8EB-4843-B60A-4C7633B1676C}"/>
              </a:ext>
            </a:extLst>
          </p:cNvPr>
          <p:cNvSpPr>
            <a:spLocks xmlns:a="http://schemas.openxmlformats.org/drawingml/2006/main" noGrp="1"/>
          </p:cNvSpPr>
          <p:nvPr/>
        </p:nvSpPr>
        <p:spPr>
          <a:xfrm xmlns:a="http://schemas.openxmlformats.org/drawingml/2006/main">
            <a:off x="609480" y="2857680"/>
            <a:ext cx="3428640" cy="11426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6600" b="0" u="none">
                <a:solidFill>
                  <a:srgbClr val="0A0A0A"/>
                </a:solidFill>
                <a:latin typeface="Aptos Display"/>
                <a:ea typeface="Aptos Display"/>
                <a:cs typeface="Aptos Display"/>
              </a:rPr>
              <a:t>100%</a:t>
            </a:r>
            <a:endParaRPr sz="6600" b="0" u="none">
              <a:solidFill>
                <a:srgbClr val="000000"/>
              </a:solidFill>
              <a:latin typeface="Arial"/>
              <a:ea typeface="Arial"/>
              <a:cs typeface="Arial"/>
            </a:endParaRPr>
          </a:p>
        </p:txBody>
      </p:sp>
      <p:sp>
        <p:nvSpPr>
          <p:cNvPr id="119" name="">
            <a:extLst xmlns:a="http://schemas.openxmlformats.org/drawingml/2006/main">
              <a:ext uri="{FF2B5EF4-FFF2-40B4-BE49-F238E27FC236}">
                <a16:creationId xmlns:a16="http://schemas.microsoft.com/office/drawing/2014/main" id="{1946F24F-7BFE-4DA7-8189-97D7811F2F09}"/>
              </a:ext>
            </a:extLst>
          </p:cNvPr>
          <p:cNvSpPr>
            <a:spLocks xmlns:a="http://schemas.openxmlformats.org/drawingml/2006/main" noGrp="1"/>
          </p:cNvSpPr>
          <p:nvPr/>
        </p:nvSpPr>
        <p:spPr>
          <a:xfrm xmlns:a="http://schemas.openxmlformats.org/drawingml/2006/main">
            <a:off x="628560" y="4172040"/>
            <a:ext cx="4000320" cy="8758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24000"/>
              </a:lnSpc>
              <a:buNone/>
            </a:pPr>
            <a:r>
              <a:rPr sz="1500" b="0" u="none">
                <a:solidFill>
                  <a:srgbClr val="0A0A0A"/>
                </a:solidFill>
                <a:latin typeface="Georgia"/>
                <a:ea typeface="Georgia"/>
                <a:cs typeface="Georgia"/>
              </a:rPr>
              <a:t>Hard checks and the latest fresh audit must pass.</a:t>
            </a:r>
            <a:endParaRPr sz="1500" b="0" u="none">
              <a:solidFill>
                <a:srgbClr val="000000"/>
              </a:solidFill>
              <a:latin typeface="Arial"/>
              <a:ea typeface="Arial"/>
              <a:cs typeface="Arial"/>
            </a:endParaRPr>
          </a:p>
        </p:txBody>
      </p:sp>
      <p:sp>
        <p:nvSpPr>
          <p:cNvPr id="120" name="metric-divider">
            <a:extLst xmlns:a="http://schemas.openxmlformats.org/drawingml/2006/main">
              <a:ext uri="{FF2B5EF4-FFF2-40B4-BE49-F238E27FC236}">
                <a16:creationId xmlns:a16="http://schemas.microsoft.com/office/drawing/2014/main" id="{C0FFAF7D-9054-4596-9B27-C55A7FCB1697}"/>
              </a:ext>
            </a:extLst>
          </p:cNvPr>
          <p:cNvSpPr>
            <a:spLocks xmlns:a="http://schemas.openxmlformats.org/drawingml/2006/main" noGrp="1"/>
          </p:cNvSpPr>
          <p:nvPr/>
        </p:nvSpPr>
        <p:spPr>
          <a:xfrm xmlns:a="http://schemas.openxmlformats.org/drawingml/2006/main">
            <a:off x="5143680" y="2400480"/>
            <a:ext cx="9000" cy="314280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7EBE7EA-2222-4F29-A399-86F6A0D46B76}"/>
              </a:ext>
            </a:extLst>
          </p:cNvPr>
          <p:cNvSpPr>
            <a:spLocks xmlns:a="http://schemas.openxmlformats.org/drawingml/2006/main" noGrp="1"/>
          </p:cNvSpPr>
          <p:nvPr/>
        </p:nvSpPr>
        <p:spPr>
          <a:xfrm xmlns:a="http://schemas.openxmlformats.org/drawingml/2006/main">
            <a:off x="5810400" y="2381400"/>
            <a:ext cx="1809360" cy="51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3150" b="0" u="none">
                <a:solidFill>
                  <a:srgbClr val="0A0A0A"/>
                </a:solidFill>
                <a:latin typeface="Aptos Display"/>
                <a:ea typeface="Aptos Display"/>
                <a:cs typeface="Aptos Display"/>
              </a:rPr>
              <a:t>1</a:t>
            </a:r>
            <a:endParaRPr sz="315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529181A7-4524-4A78-865F-D8CE90355E1D}"/>
              </a:ext>
            </a:extLst>
          </p:cNvPr>
          <p:cNvSpPr>
            <a:spLocks xmlns:a="http://schemas.openxmlformats.org/drawingml/2006/main" noGrp="1"/>
          </p:cNvSpPr>
          <p:nvPr/>
        </p:nvSpPr>
        <p:spPr>
          <a:xfrm xmlns:a="http://schemas.openxmlformats.org/drawingml/2006/main">
            <a:off x="7810560" y="2419200"/>
            <a:ext cx="1809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9B2F86"/>
                </a:solidFill>
                <a:latin typeface="Aptos"/>
                <a:ea typeface="Aptos"/>
                <a:cs typeface="Aptos"/>
              </a:rPr>
              <a:t>GAP</a:t>
            </a:r>
            <a:endParaRPr sz="98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F81C6989-24B9-47C3-8629-A44E29E11968}"/>
              </a:ext>
            </a:extLst>
          </p:cNvPr>
          <p:cNvSpPr>
            <a:spLocks xmlns:a="http://schemas.openxmlformats.org/drawingml/2006/main" noGrp="1"/>
          </p:cNvSpPr>
          <p:nvPr/>
        </p:nvSpPr>
        <p:spPr>
          <a:xfrm xmlns:a="http://schemas.openxmlformats.org/drawingml/2006/main">
            <a:off x="7810560" y="2705040"/>
            <a:ext cx="3333240" cy="33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00" b="0" u="none">
                <a:solidFill>
                  <a:srgbClr val="6D6B65"/>
                </a:solidFill>
                <a:latin typeface="Georgia"/>
                <a:ea typeface="Georgia"/>
                <a:cs typeface="Georgia"/>
              </a:rPr>
              <a:t>Largest evidence gap coaches retry</a:t>
            </a:r>
            <a:endParaRPr sz="1200" b="0" u="none">
              <a:solidFill>
                <a:srgbClr val="000000"/>
              </a:solidFill>
              <a:latin typeface="Arial"/>
              <a:ea typeface="Arial"/>
              <a:cs typeface="Arial"/>
            </a:endParaRPr>
          </a:p>
        </p:txBody>
      </p:sp>
      <p:sp>
        <p:nvSpPr>
          <p:cNvPr id="124" name="metric-rule-1">
            <a:extLst xmlns:a="http://schemas.openxmlformats.org/drawingml/2006/main">
              <a:ext uri="{FF2B5EF4-FFF2-40B4-BE49-F238E27FC236}">
                <a16:creationId xmlns:a16="http://schemas.microsoft.com/office/drawing/2014/main" id="{7540FEF9-B775-45C1-AFA4-292F72B718F7}"/>
              </a:ext>
            </a:extLst>
          </p:cNvPr>
          <p:cNvSpPr>
            <a:spLocks xmlns:a="http://schemas.openxmlformats.org/drawingml/2006/main" noGrp="1"/>
          </p:cNvSpPr>
          <p:nvPr/>
        </p:nvSpPr>
        <p:spPr>
          <a:xfrm xmlns:a="http://schemas.openxmlformats.org/drawingml/2006/main">
            <a:off x="5810400" y="3238560"/>
            <a:ext cx="5143320" cy="900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35640" rIns="90000" bIns="-3564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103E7737-A2F8-4A44-9BA2-69FDA819D118}"/>
              </a:ext>
            </a:extLst>
          </p:cNvPr>
          <p:cNvSpPr>
            <a:spLocks xmlns:a="http://schemas.openxmlformats.org/drawingml/2006/main" noGrp="1"/>
          </p:cNvSpPr>
          <p:nvPr/>
        </p:nvSpPr>
        <p:spPr>
          <a:xfrm xmlns:a="http://schemas.openxmlformats.org/drawingml/2006/main">
            <a:off x="5810400" y="3448080"/>
            <a:ext cx="1809360" cy="51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3150" b="0" u="none">
                <a:solidFill>
                  <a:srgbClr val="0A0A0A"/>
                </a:solidFill>
                <a:latin typeface="Aptos Display"/>
                <a:ea typeface="Aptos Display"/>
                <a:cs typeface="Aptos Display"/>
              </a:rPr>
              <a:t>3</a:t>
            </a:r>
            <a:endParaRPr sz="315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E79D58C9-8707-422F-BC97-5ED2ACBA608B}"/>
              </a:ext>
            </a:extLst>
          </p:cNvPr>
          <p:cNvSpPr>
            <a:spLocks xmlns:a="http://schemas.openxmlformats.org/drawingml/2006/main" noGrp="1"/>
          </p:cNvSpPr>
          <p:nvPr/>
        </p:nvSpPr>
        <p:spPr>
          <a:xfrm xmlns:a="http://schemas.openxmlformats.org/drawingml/2006/main">
            <a:off x="7810560" y="3486240"/>
            <a:ext cx="1809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9B2F86"/>
                </a:solidFill>
                <a:latin typeface="Aptos"/>
                <a:ea typeface="Aptos"/>
                <a:cs typeface="Aptos"/>
              </a:rPr>
              <a:t>STATES</a:t>
            </a:r>
            <a:endParaRPr sz="98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A8EC27AC-87C7-4EBA-B2D7-0FC53CEE7361}"/>
              </a:ext>
            </a:extLst>
          </p:cNvPr>
          <p:cNvSpPr>
            <a:spLocks xmlns:a="http://schemas.openxmlformats.org/drawingml/2006/main" noGrp="1"/>
          </p:cNvSpPr>
          <p:nvPr/>
        </p:nvSpPr>
        <p:spPr>
          <a:xfrm xmlns:a="http://schemas.openxmlformats.org/drawingml/2006/main">
            <a:off x="7810560" y="3772080"/>
            <a:ext cx="3333240" cy="33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00" b="0" u="none">
                <a:solidFill>
                  <a:srgbClr val="6D6B65"/>
                </a:solidFill>
                <a:latin typeface="Georgia"/>
                <a:ea typeface="Georgia"/>
                <a:cs typeface="Georgia"/>
              </a:rPr>
              <a:t>GOAL · SAVE · VAR</a:t>
            </a:r>
            <a:endParaRPr sz="1200" b="0" u="none">
              <a:solidFill>
                <a:srgbClr val="000000"/>
              </a:solidFill>
              <a:latin typeface="Arial"/>
              <a:ea typeface="Arial"/>
              <a:cs typeface="Arial"/>
            </a:endParaRPr>
          </a:p>
        </p:txBody>
      </p:sp>
      <p:sp>
        <p:nvSpPr>
          <p:cNvPr id="128" name="metric-rule-2">
            <a:extLst xmlns:a="http://schemas.openxmlformats.org/drawingml/2006/main">
              <a:ext uri="{FF2B5EF4-FFF2-40B4-BE49-F238E27FC236}">
                <a16:creationId xmlns:a16="http://schemas.microsoft.com/office/drawing/2014/main" id="{B0D5EDAA-46E3-4297-9CD6-BCFB75BBE31A}"/>
              </a:ext>
            </a:extLst>
          </p:cNvPr>
          <p:cNvSpPr>
            <a:spLocks xmlns:a="http://schemas.openxmlformats.org/drawingml/2006/main" noGrp="1"/>
          </p:cNvSpPr>
          <p:nvPr/>
        </p:nvSpPr>
        <p:spPr>
          <a:xfrm xmlns:a="http://schemas.openxmlformats.org/drawingml/2006/main">
            <a:off x="5810400" y="4305240"/>
            <a:ext cx="5143320" cy="900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35640" rIns="90000" bIns="-3564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8D65B636-7A1C-4F6B-8414-A44A3F2F466C}"/>
              </a:ext>
            </a:extLst>
          </p:cNvPr>
          <p:cNvSpPr>
            <a:spLocks xmlns:a="http://schemas.openxmlformats.org/drawingml/2006/main" noGrp="1"/>
          </p:cNvSpPr>
          <p:nvPr/>
        </p:nvSpPr>
        <p:spPr>
          <a:xfrm xmlns:a="http://schemas.openxmlformats.org/drawingml/2006/main">
            <a:off x="5810400" y="4514760"/>
            <a:ext cx="1809360" cy="51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3150" b="0" u="none">
                <a:solidFill>
                  <a:srgbClr val="0A0A0A"/>
                </a:solidFill>
                <a:latin typeface="Aptos Display"/>
                <a:ea typeface="Aptos Display"/>
                <a:cs typeface="Aptos Display"/>
              </a:rPr>
              <a:t>0</a:t>
            </a:r>
            <a:endParaRPr sz="3150" b="0" u="none">
              <a:solidFill>
                <a:srgbClr val="000000"/>
              </a:solidFill>
              <a:latin typeface="Arial"/>
              <a:ea typeface="Arial"/>
              <a:cs typeface="Arial"/>
            </a:endParaRPr>
          </a:p>
        </p:txBody>
      </p:sp>
      <p:sp>
        <p:nvSpPr>
          <p:cNvPr id="130" name="">
            <a:extLst xmlns:a="http://schemas.openxmlformats.org/drawingml/2006/main">
              <a:ext uri="{FF2B5EF4-FFF2-40B4-BE49-F238E27FC236}">
                <a16:creationId xmlns:a16="http://schemas.microsoft.com/office/drawing/2014/main" id="{9E35D096-6A80-4380-B6B5-E64BD14F3ACA}"/>
              </a:ext>
            </a:extLst>
          </p:cNvPr>
          <p:cNvSpPr>
            <a:spLocks xmlns:a="http://schemas.openxmlformats.org/drawingml/2006/main" noGrp="1"/>
          </p:cNvSpPr>
          <p:nvPr/>
        </p:nvSpPr>
        <p:spPr>
          <a:xfrm xmlns:a="http://schemas.openxmlformats.org/drawingml/2006/main">
            <a:off x="7810560" y="4552920"/>
            <a:ext cx="1809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9B2F86"/>
                </a:solidFill>
                <a:latin typeface="Aptos"/>
                <a:ea typeface="Aptos"/>
                <a:cs typeface="Aptos"/>
              </a:rPr>
              <a:t>SHORTCUTS</a:t>
            </a:r>
            <a:endParaRPr sz="980" b="0" u="none">
              <a:solidFill>
                <a:srgbClr val="000000"/>
              </a:solidFill>
              <a:latin typeface="Arial"/>
              <a:ea typeface="Arial"/>
              <a:cs typeface="Arial"/>
            </a:endParaRPr>
          </a:p>
        </p:txBody>
      </p:sp>
      <p:sp>
        <p:nvSpPr>
          <p:cNvPr id="131" name="">
            <a:extLst xmlns:a="http://schemas.openxmlformats.org/drawingml/2006/main">
              <a:ext uri="{FF2B5EF4-FFF2-40B4-BE49-F238E27FC236}">
                <a16:creationId xmlns:a16="http://schemas.microsoft.com/office/drawing/2014/main" id="{167231B2-BCB9-4657-BAEA-4B2C91906B38}"/>
              </a:ext>
            </a:extLst>
          </p:cNvPr>
          <p:cNvSpPr>
            <a:spLocks xmlns:a="http://schemas.openxmlformats.org/drawingml/2006/main" noGrp="1"/>
          </p:cNvSpPr>
          <p:nvPr/>
        </p:nvSpPr>
        <p:spPr>
          <a:xfrm xmlns:a="http://schemas.openxmlformats.org/drawingml/2006/main">
            <a:off x="7810560" y="4838760"/>
            <a:ext cx="3333240" cy="33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00" b="0" u="none">
                <a:solidFill>
                  <a:srgbClr val="6D6B65"/>
                </a:solidFill>
                <a:latin typeface="Georgia"/>
                <a:ea typeface="Georgia"/>
                <a:cs typeface="Georgia"/>
              </a:rPr>
              <a:t>Failed checks cannot be waived</a:t>
            </a:r>
            <a:endParaRPr sz="1200" b="0" u="none">
              <a:solidFill>
                <a:srgbClr val="000000"/>
              </a:solidFill>
              <a:latin typeface="Arial"/>
              <a:ea typeface="Arial"/>
              <a:cs typeface="Arial"/>
            </a:endParaRPr>
          </a:p>
        </p:txBody>
      </p:sp>
      <p:sp>
        <p:nvSpPr>
          <p:cNvPr id="132" name="">
            <a:extLst xmlns:a="http://schemas.openxmlformats.org/drawingml/2006/main">
              <a:ext uri="{FF2B5EF4-FFF2-40B4-BE49-F238E27FC236}">
                <a16:creationId xmlns:a16="http://schemas.microsoft.com/office/drawing/2014/main" id="{405B6BEB-6710-49F0-B9D2-0FCB9E002C8D}"/>
              </a:ext>
            </a:extLst>
          </p:cNvPr>
          <p:cNvSpPr>
            <a:spLocks xmlns:a="http://schemas.openxmlformats.org/drawingml/2006/main" noGrp="1"/>
          </p:cNvSpPr>
          <p:nvPr/>
        </p:nvSpPr>
        <p:spPr>
          <a:xfrm xmlns:a="http://schemas.openxmlformats.org/drawingml/2006/main">
            <a:off x="5810400" y="5619600"/>
            <a:ext cx="514332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00" b="1" u="none">
                <a:solidFill>
                  <a:srgbClr val="6D6B65"/>
                </a:solidFill>
                <a:latin typeface="Aptos"/>
                <a:ea typeface="Aptos"/>
                <a:cs typeface="Aptos"/>
              </a:rPr>
              <a:t>BOUNDED BY TIME  ·  TURNS  ·  COST  ·  PLATEAU</a:t>
            </a:r>
            <a:endParaRPr sz="900" b="0" u="none">
              <a:solidFill>
                <a:srgbClr val="000000"/>
              </a:solidFill>
              <a:latin typeface="Arial"/>
              <a:ea typeface="Arial"/>
              <a:cs typeface="Arial"/>
            </a:endParaRPr>
          </a:p>
        </p:txBody>
      </p:sp>
    </p:spTree>
    <p:extLst>
      <p:ext uri="{BB962C8B-B14F-4D97-AF65-F5344CB8AC3E}">
        <p14:creationId xmlns:p14="http://schemas.microsoft.com/office/powerpoint/2010/main" val="145214759"/>
      </p:ext>
    </p:extLst>
  </p:cSld>
</p:sld>
</file>

<file path=ppt/slides/slide8.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133" name="top-bar">
            <a:extLst xmlns:a="http://schemas.openxmlformats.org/drawingml/2006/main">
              <a:ext uri="{FF2B5EF4-FFF2-40B4-BE49-F238E27FC236}">
                <a16:creationId xmlns:a16="http://schemas.microsoft.com/office/drawing/2014/main" id="{2BB4D22D-5B07-477F-B842-80DB6E83B53F}"/>
              </a:ext>
            </a:extLst>
          </p:cNvPr>
          <p:cNvSpPr>
            <a:spLocks xmlns:a="http://schemas.openxmlformats.org/drawingml/2006/main" noGrp="1"/>
          </p:cNvSpPr>
          <p:nvPr/>
        </p:nvSpPr>
        <p:spPr>
          <a:xfrm xmlns:a="http://schemas.openxmlformats.org/drawingml/2006/main">
            <a:off x="0" y="0"/>
            <a:ext cx="12191760" cy="552240"/>
          </a:xfrm>
          <a:prstGeom xmlns:a="http://schemas.openxmlformats.org/drawingml/2006/main" prst="rect">
            <a:avLst/>
          </a:prstGeom>
          <a:solidFill xmlns:a="http://schemas.openxmlformats.org/drawingml/2006/main">
            <a:srgbClr val="0A0A0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134" name="">
            <a:extLst xmlns:a="http://schemas.openxmlformats.org/drawingml/2006/main">
              <a:ext uri="{FF2B5EF4-FFF2-40B4-BE49-F238E27FC236}">
                <a16:creationId xmlns:a16="http://schemas.microsoft.com/office/drawing/2014/main" id="{8195FC59-1827-4DCB-971D-74449DACD937}"/>
              </a:ext>
            </a:extLst>
          </p:cNvPr>
          <p:cNvSpPr>
            <a:spLocks xmlns:a="http://schemas.openxmlformats.org/drawingml/2006/main" noGrp="1"/>
          </p:cNvSpPr>
          <p:nvPr/>
        </p:nvSpPr>
        <p:spPr>
          <a:xfrm xmlns:a="http://schemas.openxmlformats.org/drawingml/2006/main">
            <a:off x="285840" y="171360"/>
            <a:ext cx="247608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1" u="none">
                <a:solidFill>
                  <a:srgbClr val="FFFFFF"/>
                </a:solidFill>
                <a:latin typeface="Aptos"/>
                <a:ea typeface="Aptos"/>
                <a:cs typeface="Aptos"/>
              </a:rPr>
              <a:t>✦  LONG-HORIZON BUILD DAY</a:t>
            </a:r>
            <a:endParaRPr sz="1050" b="0" u="none">
              <a:solidFill>
                <a:srgbClr val="000000"/>
              </a:solidFill>
              <a:latin typeface="Arial"/>
              <a:ea typeface="Arial"/>
              <a:cs typeface="Arial"/>
            </a:endParaRPr>
          </a:p>
        </p:txBody>
      </p:sp>
      <p:sp>
        <p:nvSpPr>
          <p:cNvPr id="135" name="">
            <a:extLst xmlns:a="http://schemas.openxmlformats.org/drawingml/2006/main">
              <a:ext uri="{FF2B5EF4-FFF2-40B4-BE49-F238E27FC236}">
                <a16:creationId xmlns:a16="http://schemas.microsoft.com/office/drawing/2014/main" id="{5BFFD31F-68BE-47E8-BE9B-9FABCD1BFFBB}"/>
              </a:ext>
            </a:extLst>
          </p:cNvPr>
          <p:cNvSpPr>
            <a:spLocks xmlns:a="http://schemas.openxmlformats.org/drawingml/2006/main" noGrp="1"/>
          </p:cNvSpPr>
          <p:nvPr/>
        </p:nvSpPr>
        <p:spPr>
          <a:xfrm xmlns:a="http://schemas.openxmlformats.org/drawingml/2006/main">
            <a:off x="7810560" y="171360"/>
            <a:ext cx="314280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pPr>
            <a:r>
              <a:rPr sz="900" b="0" u="none">
                <a:solidFill>
                  <a:srgbClr val="C9C7C0"/>
                </a:solidFill>
                <a:latin typeface="Aptos"/>
                <a:ea typeface="Aptos"/>
                <a:cs typeface="Aptos"/>
              </a:rPr>
              <a:t>WHY FAILURE</a:t>
            </a:r>
            <a:endParaRPr sz="900" b="0" u="none">
              <a:solidFill>
                <a:srgbClr val="000000"/>
              </a:solidFill>
              <a:latin typeface="Arial"/>
              <a:ea typeface="Arial"/>
              <a:cs typeface="Arial"/>
            </a:endParaRPr>
          </a:p>
        </p:txBody>
      </p:sp>
      <p:sp>
        <p:nvSpPr>
          <p:cNvPr id="136" name="">
            <a:extLst xmlns:a="http://schemas.openxmlformats.org/drawingml/2006/main">
              <a:ext uri="{FF2B5EF4-FFF2-40B4-BE49-F238E27FC236}">
                <a16:creationId xmlns:a16="http://schemas.microsoft.com/office/drawing/2014/main" id="{6215F6E8-A592-4365-9E0A-7D5450714F3C}"/>
              </a:ext>
            </a:extLst>
          </p:cNvPr>
          <p:cNvSpPr>
            <a:spLocks xmlns:a="http://schemas.openxmlformats.org/drawingml/2006/main" noGrp="1"/>
          </p:cNvSpPr>
          <p:nvPr/>
        </p:nvSpPr>
        <p:spPr>
          <a:xfrm xmlns:a="http://schemas.openxmlformats.org/drawingml/2006/main">
            <a:off x="11239560" y="1713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80" b="1" u="none">
                <a:solidFill>
                  <a:srgbClr val="FFFFFF"/>
                </a:solidFill>
                <a:latin typeface="Aptos"/>
                <a:ea typeface="Aptos"/>
                <a:cs typeface="Aptos"/>
              </a:rPr>
              <a:t>08</a:t>
            </a:r>
            <a:endParaRPr sz="980" b="0" u="none">
              <a:solidFill>
                <a:srgbClr val="000000"/>
              </a:solidFill>
              <a:latin typeface="Arial"/>
              <a:ea typeface="Arial"/>
              <a:cs typeface="Arial"/>
            </a:endParaRPr>
          </a:p>
        </p:txBody>
      </p:sp>
      <p:sp>
        <p:nvSpPr>
          <p:cNvPr id="137" name="">
            <a:extLst xmlns:a="http://schemas.openxmlformats.org/drawingml/2006/main">
              <a:ext uri="{FF2B5EF4-FFF2-40B4-BE49-F238E27FC236}">
                <a16:creationId xmlns:a16="http://schemas.microsoft.com/office/drawing/2014/main" id="{D1CA664C-511A-47F5-A6FE-436FE3531EE1}"/>
              </a:ext>
            </a:extLst>
          </p:cNvPr>
          <p:cNvSpPr>
            <a:spLocks xmlns:a="http://schemas.openxmlformats.org/drawingml/2006/main" noGrp="1"/>
          </p:cNvSpPr>
          <p:nvPr/>
        </p:nvSpPr>
        <p:spPr>
          <a:xfrm xmlns:a="http://schemas.openxmlformats.org/drawingml/2006/main">
            <a:off x="609480" y="876240"/>
            <a:ext cx="4762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6D6B65"/>
                </a:solidFill>
                <a:latin typeface="Aptos"/>
                <a:ea typeface="Aptos"/>
                <a:cs typeface="Aptos"/>
              </a:rPr>
              <a:t>07 / WHY FAILURE MATTERS</a:t>
            </a:r>
            <a:endParaRPr sz="980" b="0" u="none">
              <a:solidFill>
                <a:srgbClr val="000000"/>
              </a:solidFill>
              <a:latin typeface="Arial"/>
              <a:ea typeface="Arial"/>
              <a:cs typeface="Arial"/>
            </a:endParaRPr>
          </a:p>
        </p:txBody>
      </p:sp>
      <p:sp>
        <p:nvSpPr>
          <p:cNvPr id="138" name="why-now-title">
            <a:extLst xmlns:a="http://schemas.openxmlformats.org/drawingml/2006/main">
              <a:ext uri="{FF2B5EF4-FFF2-40B4-BE49-F238E27FC236}">
                <a16:creationId xmlns:a16="http://schemas.microsoft.com/office/drawing/2014/main" id="{E38B48C1-9B59-4B1D-B6B1-9E979970BDD3}"/>
              </a:ext>
            </a:extLst>
          </p:cNvPr>
          <p:cNvSpPr>
            <a:spLocks xmlns:a="http://schemas.openxmlformats.org/drawingml/2006/main" noGrp="1"/>
          </p:cNvSpPr>
          <p:nvPr/>
        </p:nvSpPr>
        <p:spPr>
          <a:xfrm xmlns:a="http://schemas.openxmlformats.org/drawingml/2006/main">
            <a:off x="609480" y="1295280"/>
            <a:ext cx="7429320" cy="647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98585"/>
          </a:bodyPr>
          <a:lstStyle xmlns:a="http://schemas.openxmlformats.org/drawingml/2006/main"/>
          <a:p xmlns:a="http://schemas.openxmlformats.org/drawingml/2006/main">
            <a:pPr>
              <a:lnSpc>
                <a:spcPct val="100000"/>
              </a:lnSpc>
              <a:buNone/>
            </a:pPr>
            <a:r>
              <a:rPr sz="3530" b="0" u="none">
                <a:solidFill>
                  <a:srgbClr val="0A0A0A"/>
                </a:solidFill>
                <a:latin typeface="Aptos Display"/>
                <a:ea typeface="Aptos Display"/>
                <a:cs typeface="Aptos Display"/>
              </a:rPr>
              <a:t>Failure is fuel for long-horizon agents.</a:t>
            </a:r>
            <a:endParaRPr sz="3530" b="0" u="none">
              <a:solidFill>
                <a:srgbClr val="000000"/>
              </a:solidFill>
              <a:latin typeface="Arial"/>
              <a:ea typeface="Arial"/>
              <a:cs typeface="Arial"/>
            </a:endParaRPr>
          </a:p>
        </p:txBody>
      </p:sp>
      <p:sp>
        <p:nvSpPr>
          <p:cNvPr id="139" name="">
            <a:extLst xmlns:a="http://schemas.openxmlformats.org/drawingml/2006/main">
              <a:ext uri="{FF2B5EF4-FFF2-40B4-BE49-F238E27FC236}">
                <a16:creationId xmlns:a16="http://schemas.microsoft.com/office/drawing/2014/main" id="{AF63CA71-5A64-47A7-BB28-DDB83275C3F4}"/>
              </a:ext>
            </a:extLst>
          </p:cNvPr>
          <p:cNvSpPr>
            <a:spLocks xmlns:a="http://schemas.openxmlformats.org/drawingml/2006/main" noGrp="1"/>
          </p:cNvSpPr>
          <p:nvPr/>
        </p:nvSpPr>
        <p:spPr>
          <a:xfrm xmlns:a="http://schemas.openxmlformats.org/drawingml/2006/main">
            <a:off x="609480" y="2571840"/>
            <a:ext cx="761760" cy="285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nSpc>
                <a:spcPct val="100000"/>
              </a:lnSpc>
              <a:buNone/>
            </a:pPr>
            <a:r>
              <a:rPr sz="1200" b="1" u="none">
                <a:solidFill>
                  <a:srgbClr val="9B2F86"/>
                </a:solidFill>
                <a:latin typeface="Aptos"/>
                <a:ea typeface="Aptos"/>
                <a:cs typeface="Aptos"/>
              </a:rPr>
              <a:t>01</a:t>
            </a:r>
            <a:endParaRPr sz="1200" b="0" u="none">
              <a:solidFill>
                <a:srgbClr val="000000"/>
              </a:solidFill>
              <a:latin typeface="Arial"/>
              <a:ea typeface="Arial"/>
              <a:cs typeface="Arial"/>
            </a:endParaRPr>
          </a:p>
        </p:txBody>
      </p:sp>
      <p:sp>
        <p:nvSpPr>
          <p:cNvPr id="140" name="">
            <a:extLst xmlns:a="http://schemas.openxmlformats.org/drawingml/2006/main">
              <a:ext uri="{FF2B5EF4-FFF2-40B4-BE49-F238E27FC236}">
                <a16:creationId xmlns:a16="http://schemas.microsoft.com/office/drawing/2014/main" id="{2DAD57CE-3C83-4098-969C-D1E7D5448D88}"/>
              </a:ext>
            </a:extLst>
          </p:cNvPr>
          <p:cNvSpPr>
            <a:spLocks xmlns:a="http://schemas.openxmlformats.org/drawingml/2006/main" noGrp="1"/>
          </p:cNvSpPr>
          <p:nvPr/>
        </p:nvSpPr>
        <p:spPr>
          <a:xfrm xmlns:a="http://schemas.openxmlformats.org/drawingml/2006/main">
            <a:off x="1714680" y="2533680"/>
            <a:ext cx="3428640" cy="361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2020" b="0" u="none">
                <a:solidFill>
                  <a:srgbClr val="0A0A0A"/>
                </a:solidFill>
                <a:latin typeface="Aptos Display"/>
                <a:ea typeface="Aptos Display"/>
                <a:cs typeface="Aptos Display"/>
              </a:rPr>
              <a:t>Longer tasks</a:t>
            </a:r>
            <a:endParaRPr sz="2020" b="0" u="none">
              <a:solidFill>
                <a:srgbClr val="000000"/>
              </a:solidFill>
              <a:latin typeface="Arial"/>
              <a:ea typeface="Arial"/>
              <a:cs typeface="Arial"/>
            </a:endParaRPr>
          </a:p>
        </p:txBody>
      </p:sp>
      <p:sp>
        <p:nvSpPr>
          <p:cNvPr id="141" name="">
            <a:extLst xmlns:a="http://schemas.openxmlformats.org/drawingml/2006/main">
              <a:ext uri="{FF2B5EF4-FFF2-40B4-BE49-F238E27FC236}">
                <a16:creationId xmlns:a16="http://schemas.microsoft.com/office/drawing/2014/main" id="{1AE49572-B47F-417F-964C-C653DA3D32D5}"/>
              </a:ext>
            </a:extLst>
          </p:cNvPr>
          <p:cNvSpPr>
            <a:spLocks xmlns:a="http://schemas.openxmlformats.org/drawingml/2006/main" noGrp="1"/>
          </p:cNvSpPr>
          <p:nvPr/>
        </p:nvSpPr>
        <p:spPr>
          <a:xfrm xmlns:a="http://schemas.openxmlformats.org/drawingml/2006/main">
            <a:off x="5429160" y="2571840"/>
            <a:ext cx="5619240" cy="51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8000"/>
              </a:lnSpc>
              <a:buNone/>
            </a:pPr>
            <a:r>
              <a:rPr sz="1350" b="0" u="none">
                <a:solidFill>
                  <a:srgbClr val="6D6B65"/>
                </a:solidFill>
                <a:latin typeface="Georgia"/>
                <a:ea typeface="Georgia"/>
                <a:cs typeface="Georgia"/>
              </a:rPr>
              <a:t>More coupled steps create more chances to drift.</a:t>
            </a:r>
            <a:endParaRPr sz="1350" b="0" u="none">
              <a:solidFill>
                <a:srgbClr val="000000"/>
              </a:solidFill>
              <a:latin typeface="Arial"/>
              <a:ea typeface="Arial"/>
              <a:cs typeface="Arial"/>
            </a:endParaRPr>
          </a:p>
        </p:txBody>
      </p:sp>
      <p:sp>
        <p:nvSpPr>
          <p:cNvPr id="142" name="reason-rule-1">
            <a:extLst xmlns:a="http://schemas.openxmlformats.org/drawingml/2006/main">
              <a:ext uri="{FF2B5EF4-FFF2-40B4-BE49-F238E27FC236}">
                <a16:creationId xmlns:a16="http://schemas.microsoft.com/office/drawing/2014/main" id="{796065EC-57F8-4C35-96B0-5DEE1DE5D2E4}"/>
              </a:ext>
            </a:extLst>
          </p:cNvPr>
          <p:cNvSpPr>
            <a:spLocks xmlns:a="http://schemas.openxmlformats.org/drawingml/2006/main" noGrp="1"/>
          </p:cNvSpPr>
          <p:nvPr/>
        </p:nvSpPr>
        <p:spPr>
          <a:xfrm xmlns:a="http://schemas.openxmlformats.org/drawingml/2006/main">
            <a:off x="609480" y="3314880"/>
            <a:ext cx="10438920" cy="900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35640" rIns="90000" bIns="-3564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43" name="">
            <a:extLst xmlns:a="http://schemas.openxmlformats.org/drawingml/2006/main">
              <a:ext uri="{FF2B5EF4-FFF2-40B4-BE49-F238E27FC236}">
                <a16:creationId xmlns:a16="http://schemas.microsoft.com/office/drawing/2014/main" id="{BCB038ED-D9CE-4680-8341-3168A48E3C7B}"/>
              </a:ext>
            </a:extLst>
          </p:cNvPr>
          <p:cNvSpPr>
            <a:spLocks xmlns:a="http://schemas.openxmlformats.org/drawingml/2006/main" noGrp="1"/>
          </p:cNvSpPr>
          <p:nvPr/>
        </p:nvSpPr>
        <p:spPr>
          <a:xfrm xmlns:a="http://schemas.openxmlformats.org/drawingml/2006/main">
            <a:off x="609480" y="3714840"/>
            <a:ext cx="761760" cy="285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nSpc>
                <a:spcPct val="100000"/>
              </a:lnSpc>
              <a:buNone/>
            </a:pPr>
            <a:r>
              <a:rPr sz="1200" b="1" u="none">
                <a:solidFill>
                  <a:srgbClr val="9B2F86"/>
                </a:solidFill>
                <a:latin typeface="Aptos"/>
                <a:ea typeface="Aptos"/>
                <a:cs typeface="Aptos"/>
              </a:rPr>
              <a:t>02</a:t>
            </a:r>
            <a:endParaRPr sz="1200" b="0" u="none">
              <a:solidFill>
                <a:srgbClr val="000000"/>
              </a:solidFill>
              <a:latin typeface="Arial"/>
              <a:ea typeface="Arial"/>
              <a:cs typeface="Arial"/>
            </a:endParaRPr>
          </a:p>
        </p:txBody>
      </p:sp>
      <p:sp>
        <p:nvSpPr>
          <p:cNvPr id="144" name="">
            <a:extLst xmlns:a="http://schemas.openxmlformats.org/drawingml/2006/main">
              <a:ext uri="{FF2B5EF4-FFF2-40B4-BE49-F238E27FC236}">
                <a16:creationId xmlns:a16="http://schemas.microsoft.com/office/drawing/2014/main" id="{1FB44114-EFB3-4C53-A4AA-736E9B09DC3F}"/>
              </a:ext>
            </a:extLst>
          </p:cNvPr>
          <p:cNvSpPr>
            <a:spLocks xmlns:a="http://schemas.openxmlformats.org/drawingml/2006/main" noGrp="1"/>
          </p:cNvSpPr>
          <p:nvPr/>
        </p:nvSpPr>
        <p:spPr>
          <a:xfrm xmlns:a="http://schemas.openxmlformats.org/drawingml/2006/main">
            <a:off x="1714680" y="3676680"/>
            <a:ext cx="3428640" cy="361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2020" b="0" u="none">
                <a:solidFill>
                  <a:srgbClr val="0A0A0A"/>
                </a:solidFill>
                <a:latin typeface="Aptos Display"/>
                <a:ea typeface="Aptos Display"/>
                <a:cs typeface="Aptos Display"/>
              </a:rPr>
              <a:t>Coached recovery</a:t>
            </a:r>
            <a:endParaRPr sz="2020" b="0" u="none">
              <a:solidFill>
                <a:srgbClr val="000000"/>
              </a:solidFill>
              <a:latin typeface="Arial"/>
              <a:ea typeface="Arial"/>
              <a:cs typeface="Arial"/>
            </a:endParaRPr>
          </a:p>
        </p:txBody>
      </p:sp>
      <p:sp>
        <p:nvSpPr>
          <p:cNvPr id="145" name="">
            <a:extLst xmlns:a="http://schemas.openxmlformats.org/drawingml/2006/main">
              <a:ext uri="{FF2B5EF4-FFF2-40B4-BE49-F238E27FC236}">
                <a16:creationId xmlns:a16="http://schemas.microsoft.com/office/drawing/2014/main" id="{B34066A6-8321-43F3-A279-5D9916B71729}"/>
              </a:ext>
            </a:extLst>
          </p:cNvPr>
          <p:cNvSpPr>
            <a:spLocks xmlns:a="http://schemas.openxmlformats.org/drawingml/2006/main" noGrp="1"/>
          </p:cNvSpPr>
          <p:nvPr/>
        </p:nvSpPr>
        <p:spPr>
          <a:xfrm xmlns:a="http://schemas.openxmlformats.org/drawingml/2006/main">
            <a:off x="5429160" y="3714840"/>
            <a:ext cx="5619240" cy="51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8000"/>
              </a:lnSpc>
              <a:buNone/>
            </a:pPr>
            <a:r>
              <a:rPr sz="1350" b="0" u="none">
                <a:solidFill>
                  <a:srgbClr val="6D6B65"/>
                </a:solidFill>
                <a:latin typeface="Georgia"/>
                <a:ea typeface="Georgia"/>
                <a:cs typeface="Georgia"/>
              </a:rPr>
              <a:t>Each miss becomes focused context for the next attempt.</a:t>
            </a:r>
            <a:endParaRPr sz="1350" b="0" u="none">
              <a:solidFill>
                <a:srgbClr val="000000"/>
              </a:solidFill>
              <a:latin typeface="Arial"/>
              <a:ea typeface="Arial"/>
              <a:cs typeface="Arial"/>
            </a:endParaRPr>
          </a:p>
        </p:txBody>
      </p:sp>
      <p:sp>
        <p:nvSpPr>
          <p:cNvPr id="146" name="reason-rule-2">
            <a:extLst xmlns:a="http://schemas.openxmlformats.org/drawingml/2006/main">
              <a:ext uri="{FF2B5EF4-FFF2-40B4-BE49-F238E27FC236}">
                <a16:creationId xmlns:a16="http://schemas.microsoft.com/office/drawing/2014/main" id="{A6436FA6-A124-465A-B82B-763D397BD97E}"/>
              </a:ext>
            </a:extLst>
          </p:cNvPr>
          <p:cNvSpPr>
            <a:spLocks xmlns:a="http://schemas.openxmlformats.org/drawingml/2006/main" noGrp="1"/>
          </p:cNvSpPr>
          <p:nvPr/>
        </p:nvSpPr>
        <p:spPr>
          <a:xfrm xmlns:a="http://schemas.openxmlformats.org/drawingml/2006/main">
            <a:off x="609480" y="4457880"/>
            <a:ext cx="10438920" cy="900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35640" rIns="90000" bIns="-3564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47" name="">
            <a:extLst xmlns:a="http://schemas.openxmlformats.org/drawingml/2006/main">
              <a:ext uri="{FF2B5EF4-FFF2-40B4-BE49-F238E27FC236}">
                <a16:creationId xmlns:a16="http://schemas.microsoft.com/office/drawing/2014/main" id="{D944C527-8786-4E10-9CAF-B2B6E8A84DB0}"/>
              </a:ext>
            </a:extLst>
          </p:cNvPr>
          <p:cNvSpPr>
            <a:spLocks xmlns:a="http://schemas.openxmlformats.org/drawingml/2006/main" noGrp="1"/>
          </p:cNvSpPr>
          <p:nvPr/>
        </p:nvSpPr>
        <p:spPr>
          <a:xfrm xmlns:a="http://schemas.openxmlformats.org/drawingml/2006/main">
            <a:off x="609480" y="4857840"/>
            <a:ext cx="761760" cy="285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nSpc>
                <a:spcPct val="100000"/>
              </a:lnSpc>
              <a:buNone/>
            </a:pPr>
            <a:r>
              <a:rPr sz="1200" b="1" u="none">
                <a:solidFill>
                  <a:srgbClr val="9B2F86"/>
                </a:solidFill>
                <a:latin typeface="Aptos"/>
                <a:ea typeface="Aptos"/>
                <a:cs typeface="Aptos"/>
              </a:rPr>
              <a:t>03</a:t>
            </a:r>
            <a:endParaRPr sz="1200" b="0" u="none">
              <a:solidFill>
                <a:srgbClr val="000000"/>
              </a:solidFill>
              <a:latin typeface="Arial"/>
              <a:ea typeface="Arial"/>
              <a:cs typeface="Arial"/>
            </a:endParaRPr>
          </a:p>
        </p:txBody>
      </p:sp>
      <p:sp>
        <p:nvSpPr>
          <p:cNvPr id="148" name="">
            <a:extLst xmlns:a="http://schemas.openxmlformats.org/drawingml/2006/main">
              <a:ext uri="{FF2B5EF4-FFF2-40B4-BE49-F238E27FC236}">
                <a16:creationId xmlns:a16="http://schemas.microsoft.com/office/drawing/2014/main" id="{00852FE0-3518-42FE-8BFC-4E0FED6348B5}"/>
              </a:ext>
            </a:extLst>
          </p:cNvPr>
          <p:cNvSpPr>
            <a:spLocks xmlns:a="http://schemas.openxmlformats.org/drawingml/2006/main" noGrp="1"/>
          </p:cNvSpPr>
          <p:nvPr/>
        </p:nvSpPr>
        <p:spPr>
          <a:xfrm xmlns:a="http://schemas.openxmlformats.org/drawingml/2006/main">
            <a:off x="1714680" y="4819680"/>
            <a:ext cx="3428640" cy="361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2020" b="0" u="none">
                <a:solidFill>
                  <a:srgbClr val="0A0A0A"/>
                </a:solidFill>
                <a:latin typeface="Aptos Display"/>
                <a:ea typeface="Aptos Display"/>
                <a:cs typeface="Aptos Display"/>
              </a:rPr>
              <a:t>Durable progress</a:t>
            </a:r>
            <a:endParaRPr sz="2020" b="0" u="none">
              <a:solidFill>
                <a:srgbClr val="000000"/>
              </a:solidFill>
              <a:latin typeface="Arial"/>
              <a:ea typeface="Arial"/>
              <a:cs typeface="Arial"/>
            </a:endParaRPr>
          </a:p>
        </p:txBody>
      </p:sp>
      <p:sp>
        <p:nvSpPr>
          <p:cNvPr id="149" name="">
            <a:extLst xmlns:a="http://schemas.openxmlformats.org/drawingml/2006/main">
              <a:ext uri="{FF2B5EF4-FFF2-40B4-BE49-F238E27FC236}">
                <a16:creationId xmlns:a16="http://schemas.microsoft.com/office/drawing/2014/main" id="{446126AB-754E-4265-AAFB-8F548D94160D}"/>
              </a:ext>
            </a:extLst>
          </p:cNvPr>
          <p:cNvSpPr>
            <a:spLocks xmlns:a="http://schemas.openxmlformats.org/drawingml/2006/main" noGrp="1"/>
          </p:cNvSpPr>
          <p:nvPr/>
        </p:nvSpPr>
        <p:spPr>
          <a:xfrm xmlns:a="http://schemas.openxmlformats.org/drawingml/2006/main">
            <a:off x="5429160" y="4857840"/>
            <a:ext cx="5619240" cy="51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8000"/>
              </a:lnSpc>
              <a:buNone/>
            </a:pPr>
            <a:r>
              <a:rPr sz="1350" b="0" u="none">
                <a:solidFill>
                  <a:srgbClr val="6D6B65"/>
                </a:solidFill>
                <a:latin typeface="Georgia"/>
                <a:ea typeface="Georgia"/>
                <a:cs typeface="Georgia"/>
              </a:rPr>
              <a:t>Evidence, checkpoints, and fresh audits preserve what was learned.</a:t>
            </a:r>
            <a:endParaRPr sz="1350" b="0" u="none">
              <a:solidFill>
                <a:srgbClr val="000000"/>
              </a:solidFill>
              <a:latin typeface="Arial"/>
              <a:ea typeface="Arial"/>
              <a:cs typeface="Arial"/>
            </a:endParaRPr>
          </a:p>
        </p:txBody>
      </p:sp>
      <p:sp>
        <p:nvSpPr>
          <p:cNvPr id="150" name="reason-rule-3">
            <a:extLst xmlns:a="http://schemas.openxmlformats.org/drawingml/2006/main">
              <a:ext uri="{FF2B5EF4-FFF2-40B4-BE49-F238E27FC236}">
                <a16:creationId xmlns:a16="http://schemas.microsoft.com/office/drawing/2014/main" id="{98586E54-BE90-48B9-9E76-B57C533B6C1F}"/>
              </a:ext>
            </a:extLst>
          </p:cNvPr>
          <p:cNvSpPr>
            <a:spLocks xmlns:a="http://schemas.openxmlformats.org/drawingml/2006/main" noGrp="1"/>
          </p:cNvSpPr>
          <p:nvPr/>
        </p:nvSpPr>
        <p:spPr>
          <a:xfrm xmlns:a="http://schemas.openxmlformats.org/drawingml/2006/main">
            <a:off x="609480" y="5600880"/>
            <a:ext cx="10438920" cy="9000"/>
          </a:xfrm>
          <a:prstGeom xmlns:a="http://schemas.openxmlformats.org/drawingml/2006/main" prst="rect">
            <a:avLst/>
          </a:prstGeom>
          <a:solidFill xmlns:a="http://schemas.openxmlformats.org/drawingml/2006/main">
            <a:srgbClr val="CFCDC5"/>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35640" rIns="90000" bIns="-3564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Tree>
    <p:extLst>
      <p:ext uri="{BB962C8B-B14F-4D97-AF65-F5344CB8AC3E}">
        <p14:creationId xmlns:p14="http://schemas.microsoft.com/office/powerpoint/2010/main" val="354447832"/>
      </p:ext>
    </p:extLst>
  </p:cSld>
</p:sld>
</file>

<file path=ppt/slides/slide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51" name="top-bar">
            <a:extLst xmlns:a="http://schemas.openxmlformats.org/drawingml/2006/main">
              <a:ext uri="{FF2B5EF4-FFF2-40B4-BE49-F238E27FC236}">
                <a16:creationId xmlns:a16="http://schemas.microsoft.com/office/drawing/2014/main" id="{DD5F391F-81ED-4555-B4D0-14624CDE77F4}"/>
              </a:ext>
            </a:extLst>
          </p:cNvPr>
          <p:cNvSpPr>
            <a:spLocks xmlns:a="http://schemas.openxmlformats.org/drawingml/2006/main" noGrp="1"/>
          </p:cNvSpPr>
          <p:nvPr/>
        </p:nvSpPr>
        <p:spPr>
          <a:xfrm xmlns:a="http://schemas.openxmlformats.org/drawingml/2006/main">
            <a:off x="0" y="0"/>
            <a:ext cx="12191760" cy="552240"/>
          </a:xfrm>
          <a:prstGeom xmlns:a="http://schemas.openxmlformats.org/drawingml/2006/main" prst="rect">
            <a:avLst/>
          </a:prstGeom>
          <a:solidFill xmlns:a="http://schemas.openxmlformats.org/drawingml/2006/main">
            <a:srgbClr val="F4F3EE"/>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52" name="">
            <a:extLst xmlns:a="http://schemas.openxmlformats.org/drawingml/2006/main">
              <a:ext uri="{FF2B5EF4-FFF2-40B4-BE49-F238E27FC236}">
                <a16:creationId xmlns:a16="http://schemas.microsoft.com/office/drawing/2014/main" id="{5978813F-2538-4DE6-BE67-1B94D68FBF4E}"/>
              </a:ext>
            </a:extLst>
          </p:cNvPr>
          <p:cNvSpPr>
            <a:spLocks xmlns:a="http://schemas.openxmlformats.org/drawingml/2006/main" noGrp="1"/>
          </p:cNvSpPr>
          <p:nvPr/>
        </p:nvSpPr>
        <p:spPr>
          <a:xfrm xmlns:a="http://schemas.openxmlformats.org/drawingml/2006/main">
            <a:off x="285840" y="171360"/>
            <a:ext cx="247608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050" b="1" u="none">
                <a:solidFill>
                  <a:srgbClr val="0A0A0A"/>
                </a:solidFill>
                <a:latin typeface="Aptos"/>
                <a:ea typeface="Aptos"/>
                <a:cs typeface="Aptos"/>
              </a:rPr>
              <a:t>✦  LONG-HORIZON BUILD DAY</a:t>
            </a:r>
            <a:endParaRPr sz="1050" b="0" u="none">
              <a:solidFill>
                <a:srgbClr val="FFFFFF"/>
              </a:solidFill>
              <a:latin typeface="Arial"/>
              <a:ea typeface="Arial"/>
              <a:cs typeface="Arial"/>
            </a:endParaRPr>
          </a:p>
        </p:txBody>
      </p:sp>
      <p:sp>
        <p:nvSpPr>
          <p:cNvPr id="153" name="">
            <a:extLst xmlns:a="http://schemas.openxmlformats.org/drawingml/2006/main">
              <a:ext uri="{FF2B5EF4-FFF2-40B4-BE49-F238E27FC236}">
                <a16:creationId xmlns:a16="http://schemas.microsoft.com/office/drawing/2014/main" id="{227D4AF0-F73D-498C-94D5-44C57C928E64}"/>
              </a:ext>
            </a:extLst>
          </p:cNvPr>
          <p:cNvSpPr>
            <a:spLocks xmlns:a="http://schemas.openxmlformats.org/drawingml/2006/main" noGrp="1"/>
          </p:cNvSpPr>
          <p:nvPr/>
        </p:nvSpPr>
        <p:spPr>
          <a:xfrm xmlns:a="http://schemas.openxmlformats.org/drawingml/2006/main">
            <a:off x="7810560" y="171360"/>
            <a:ext cx="314280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pPr>
            <a:r>
              <a:rPr sz="900" b="0" u="none">
                <a:solidFill>
                  <a:srgbClr val="6D6B65"/>
                </a:solidFill>
                <a:latin typeface="Aptos"/>
                <a:ea typeface="Aptos"/>
                <a:cs typeface="Aptos"/>
              </a:rPr>
              <a:t>CLOSE</a:t>
            </a:r>
            <a:endParaRPr sz="900" b="0" u="none">
              <a:solidFill>
                <a:srgbClr val="FFFFFF"/>
              </a:solidFill>
              <a:latin typeface="Arial"/>
              <a:ea typeface="Arial"/>
              <a:cs typeface="Arial"/>
            </a:endParaRPr>
          </a:p>
        </p:txBody>
      </p:sp>
      <p:sp>
        <p:nvSpPr>
          <p:cNvPr id="154" name="">
            <a:extLst xmlns:a="http://schemas.openxmlformats.org/drawingml/2006/main">
              <a:ext uri="{FF2B5EF4-FFF2-40B4-BE49-F238E27FC236}">
                <a16:creationId xmlns:a16="http://schemas.microsoft.com/office/drawing/2014/main" id="{B1AE481D-BA03-4A88-995E-F1AE66D154FD}"/>
              </a:ext>
            </a:extLst>
          </p:cNvPr>
          <p:cNvSpPr>
            <a:spLocks xmlns:a="http://schemas.openxmlformats.org/drawingml/2006/main" noGrp="1"/>
          </p:cNvSpPr>
          <p:nvPr/>
        </p:nvSpPr>
        <p:spPr>
          <a:xfrm xmlns:a="http://schemas.openxmlformats.org/drawingml/2006/main">
            <a:off x="11239560" y="171360"/>
            <a:ext cx="66636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pPr>
            <a:r>
              <a:rPr sz="980" b="1" u="none">
                <a:solidFill>
                  <a:srgbClr val="0A0A0A"/>
                </a:solidFill>
                <a:latin typeface="Aptos"/>
                <a:ea typeface="Aptos"/>
                <a:cs typeface="Aptos"/>
              </a:rPr>
              <a:t>09</a:t>
            </a:r>
            <a:endParaRPr sz="980" b="0" u="none">
              <a:solidFill>
                <a:srgbClr val="FFFFFF"/>
              </a:solidFill>
              <a:latin typeface="Arial"/>
              <a:ea typeface="Arial"/>
              <a:cs typeface="Arial"/>
            </a:endParaRPr>
          </a:p>
        </p:txBody>
      </p:sp>
      <p:sp>
        <p:nvSpPr>
          <p:cNvPr id="155" name="">
            <a:extLst xmlns:a="http://schemas.openxmlformats.org/drawingml/2006/main">
              <a:ext uri="{FF2B5EF4-FFF2-40B4-BE49-F238E27FC236}">
                <a16:creationId xmlns:a16="http://schemas.microsoft.com/office/drawing/2014/main" id="{E961259F-F448-45EB-9A12-A0E6027C7157}"/>
              </a:ext>
            </a:extLst>
          </p:cNvPr>
          <p:cNvSpPr>
            <a:spLocks xmlns:a="http://schemas.openxmlformats.org/drawingml/2006/main" noGrp="1"/>
          </p:cNvSpPr>
          <p:nvPr/>
        </p:nvSpPr>
        <p:spPr>
          <a:xfrm xmlns:a="http://schemas.openxmlformats.org/drawingml/2006/main">
            <a:off x="609480" y="914400"/>
            <a:ext cx="4762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BDBBB4"/>
                </a:solidFill>
                <a:latin typeface="Aptos"/>
                <a:ea typeface="Aptos"/>
                <a:cs typeface="Aptos"/>
              </a:rPr>
              <a:t>08 / CLOSE</a:t>
            </a:r>
            <a:endParaRPr sz="980" b="0" u="none">
              <a:solidFill>
                <a:srgbClr val="FFFFFF"/>
              </a:solidFill>
              <a:latin typeface="Arial"/>
              <a:ea typeface="Arial"/>
              <a:cs typeface="Arial"/>
            </a:endParaRPr>
          </a:p>
        </p:txBody>
      </p:sp>
      <p:sp>
        <p:nvSpPr>
          <p:cNvPr id="156" name="closing-title">
            <a:extLst xmlns:a="http://schemas.openxmlformats.org/drawingml/2006/main">
              <a:ext uri="{FF2B5EF4-FFF2-40B4-BE49-F238E27FC236}">
                <a16:creationId xmlns:a16="http://schemas.microsoft.com/office/drawing/2014/main" id="{9A743B6A-8AAC-4839-A38C-8E26E2958F39}"/>
              </a:ext>
            </a:extLst>
          </p:cNvPr>
          <p:cNvSpPr>
            <a:spLocks xmlns:a="http://schemas.openxmlformats.org/drawingml/2006/main" noGrp="1"/>
          </p:cNvSpPr>
          <p:nvPr/>
        </p:nvSpPr>
        <p:spPr>
          <a:xfrm xmlns:a="http://schemas.openxmlformats.org/drawingml/2006/main">
            <a:off x="609480" y="1333440"/>
            <a:ext cx="7429320" cy="1428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92000"/>
              </a:lnSpc>
              <a:buNone/>
            </a:pPr>
            <a:r>
              <a:rPr sz="3970" b="0" u="none">
                <a:solidFill>
                  <a:srgbClr val="FFFFFF"/>
                </a:solidFill>
                <a:latin typeface="Aptos Display"/>
                <a:ea typeface="Aptos Display"/>
                <a:cs typeface="Aptos Display"/>
              </a:rPr>
              <a:t>Failure is not the opposite</a:t>
            </a:r>
            <a:endParaRPr sz="3970" b="0" u="none">
              <a:solidFill>
                <a:srgbClr val="FFFFFF"/>
              </a:solidFill>
              <a:latin typeface="Arial"/>
              <a:ea typeface="Arial"/>
              <a:cs typeface="Arial"/>
            </a:endParaRPr>
          </a:p>
          <a:p xmlns:a="http://schemas.openxmlformats.org/drawingml/2006/main">
            <a:pPr>
              <a:lnSpc>
                <a:spcPct val="92000"/>
              </a:lnSpc>
              <a:buNone/>
            </a:pPr>
            <a:r>
              <a:rPr sz="3970" b="0" u="none">
                <a:solidFill>
                  <a:srgbClr val="FFFFFF"/>
                </a:solidFill>
                <a:latin typeface="Aptos Display"/>
                <a:ea typeface="Aptos Display"/>
                <a:cs typeface="Aptos Display"/>
              </a:rPr>
              <a:t>of success. It is the loop.</a:t>
            </a:r>
            <a:endParaRPr sz="3970" b="0" u="none">
              <a:solidFill>
                <a:srgbClr val="FFFFFF"/>
              </a:solidFill>
              <a:latin typeface="Arial"/>
              <a:ea typeface="Arial"/>
              <a:cs typeface="Arial"/>
            </a:endParaRPr>
          </a:p>
        </p:txBody>
      </p:sp>
      <p:sp>
        <p:nvSpPr>
          <p:cNvPr id="157" name="">
            <a:extLst xmlns:a="http://schemas.openxmlformats.org/drawingml/2006/main">
              <a:ext uri="{FF2B5EF4-FFF2-40B4-BE49-F238E27FC236}">
                <a16:creationId xmlns:a16="http://schemas.microsoft.com/office/drawing/2014/main" id="{CB235B1F-375F-474E-93EB-52E3E8FE305F}"/>
              </a:ext>
            </a:extLst>
          </p:cNvPr>
          <p:cNvSpPr>
            <a:spLocks xmlns:a="http://schemas.openxmlformats.org/drawingml/2006/main" noGrp="1"/>
          </p:cNvSpPr>
          <p:nvPr/>
        </p:nvSpPr>
        <p:spPr>
          <a:xfrm xmlns:a="http://schemas.openxmlformats.org/drawingml/2006/main">
            <a:off x="647640" y="3333600"/>
            <a:ext cx="2857320" cy="266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350" b="1" u="none">
                <a:solidFill>
                  <a:srgbClr val="FFFFFF"/>
                </a:solidFill>
                <a:latin typeface="Aptos"/>
                <a:ea typeface="Aptos"/>
                <a:cs typeface="Aptos"/>
              </a:rPr>
              <a:t>JOSEPH KARAM</a:t>
            </a:r>
            <a:endParaRPr sz="1350" b="0" u="none">
              <a:solidFill>
                <a:srgbClr val="FFFFFF"/>
              </a:solidFill>
              <a:latin typeface="Arial"/>
              <a:ea typeface="Arial"/>
              <a:cs typeface="Arial"/>
            </a:endParaRPr>
          </a:p>
        </p:txBody>
      </p:sp>
      <p:sp>
        <p:nvSpPr>
          <p:cNvPr id="158" name="">
            <a:extLst xmlns:a="http://schemas.openxmlformats.org/drawingml/2006/main">
              <a:ext uri="{FF2B5EF4-FFF2-40B4-BE49-F238E27FC236}">
                <a16:creationId xmlns:a16="http://schemas.microsoft.com/office/drawing/2014/main" id="{DF51B5C4-8754-4EB5-9548-281179D2EAD5}"/>
              </a:ext>
            </a:extLst>
          </p:cNvPr>
          <p:cNvSpPr>
            <a:spLocks xmlns:a="http://schemas.openxmlformats.org/drawingml/2006/main" noGrp="1"/>
          </p:cNvSpPr>
          <p:nvPr/>
        </p:nvSpPr>
        <p:spPr>
          <a:xfrm xmlns:a="http://schemas.openxmlformats.org/drawingml/2006/main">
            <a:off x="647640" y="3733920"/>
            <a:ext cx="314280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80" b="0" u="none">
                <a:solidFill>
                  <a:srgbClr val="BDBBB4"/>
                </a:solidFill>
                <a:latin typeface="Georgia"/>
                <a:ea typeface="Georgia"/>
                <a:cs typeface="Georgia"/>
              </a:rPr>
              <a:t>Creator and builder of Goalie.</a:t>
            </a:r>
            <a:endParaRPr sz="1280" b="0" u="none">
              <a:solidFill>
                <a:srgbClr val="FFFFFF"/>
              </a:solidFill>
              <a:latin typeface="Arial"/>
              <a:ea typeface="Arial"/>
              <a:cs typeface="Arial"/>
            </a:endParaRPr>
          </a:p>
        </p:txBody>
      </p:sp>
      <p:sp>
        <p:nvSpPr>
          <p:cNvPr id="159" name="">
            <a:extLst xmlns:a="http://schemas.openxmlformats.org/drawingml/2006/main">
              <a:ext uri="{FF2B5EF4-FFF2-40B4-BE49-F238E27FC236}">
                <a16:creationId xmlns:a16="http://schemas.microsoft.com/office/drawing/2014/main" id="{99DEF8A9-1F60-47EA-BFF2-F834E2D7CCAB}"/>
              </a:ext>
            </a:extLst>
          </p:cNvPr>
          <p:cNvSpPr>
            <a:spLocks xmlns:a="http://schemas.openxmlformats.org/drawingml/2006/main" noGrp="1"/>
          </p:cNvSpPr>
          <p:nvPr/>
        </p:nvSpPr>
        <p:spPr>
          <a:xfrm xmlns:a="http://schemas.openxmlformats.org/drawingml/2006/main">
            <a:off x="4343400" y="3333600"/>
            <a:ext cx="2857320" cy="266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350" b="1" u="none">
                <a:solidFill>
                  <a:srgbClr val="FFFFFF"/>
                </a:solidFill>
                <a:latin typeface="Aptos"/>
                <a:ea typeface="Aptos"/>
                <a:cs typeface="Aptos"/>
              </a:rPr>
              <a:t>GOALIE CLI</a:t>
            </a:r>
            <a:endParaRPr sz="1350" b="0" u="none">
              <a:solidFill>
                <a:srgbClr val="FFFFFF"/>
              </a:solidFill>
              <a:latin typeface="Arial"/>
              <a:ea typeface="Arial"/>
              <a:cs typeface="Arial"/>
            </a:endParaRPr>
          </a:p>
        </p:txBody>
      </p:sp>
      <p:sp>
        <p:nvSpPr>
          <p:cNvPr id="160" name="">
            <a:extLst xmlns:a="http://schemas.openxmlformats.org/drawingml/2006/main">
              <a:ext uri="{FF2B5EF4-FFF2-40B4-BE49-F238E27FC236}">
                <a16:creationId xmlns:a16="http://schemas.microsoft.com/office/drawing/2014/main" id="{929AD556-2381-4A23-90DD-7C9D631723C2}"/>
              </a:ext>
            </a:extLst>
          </p:cNvPr>
          <p:cNvSpPr>
            <a:spLocks xmlns:a="http://schemas.openxmlformats.org/drawingml/2006/main" noGrp="1"/>
          </p:cNvSpPr>
          <p:nvPr/>
        </p:nvSpPr>
        <p:spPr>
          <a:xfrm xmlns:a="http://schemas.openxmlformats.org/drawingml/2006/main">
            <a:off x="4343400" y="3733920"/>
            <a:ext cx="314280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80" b="0" u="none">
                <a:solidFill>
                  <a:srgbClr val="BDBBB4"/>
                </a:solidFill>
                <a:latin typeface="Georgia"/>
                <a:ea typeface="Georgia"/>
                <a:cs typeface="Georgia"/>
              </a:rPr>
              <a:t>Open-source harness for long-horizon coding agents.</a:t>
            </a:r>
            <a:endParaRPr sz="1280" b="0" u="none">
              <a:solidFill>
                <a:srgbClr val="FFFFFF"/>
              </a:solidFill>
              <a:latin typeface="Arial"/>
              <a:ea typeface="Arial"/>
              <a:cs typeface="Arial"/>
            </a:endParaRPr>
          </a:p>
        </p:txBody>
      </p:sp>
      <p:sp>
        <p:nvSpPr>
          <p:cNvPr id="161" name="">
            <a:extLst xmlns:a="http://schemas.openxmlformats.org/drawingml/2006/main">
              <a:ext uri="{FF2B5EF4-FFF2-40B4-BE49-F238E27FC236}">
                <a16:creationId xmlns:a16="http://schemas.microsoft.com/office/drawing/2014/main" id="{E45EFDD0-46D2-49D0-986C-7A648A54C7F0}"/>
              </a:ext>
            </a:extLst>
          </p:cNvPr>
          <p:cNvSpPr>
            <a:spLocks xmlns:a="http://schemas.openxmlformats.org/drawingml/2006/main" noGrp="1"/>
          </p:cNvSpPr>
          <p:nvPr/>
        </p:nvSpPr>
        <p:spPr>
          <a:xfrm xmlns:a="http://schemas.openxmlformats.org/drawingml/2006/main">
            <a:off x="8039160" y="3333600"/>
            <a:ext cx="2857320" cy="266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350" b="1" u="none">
                <a:solidFill>
                  <a:srgbClr val="FFFFFF"/>
                </a:solidFill>
                <a:latin typeface="Aptos"/>
                <a:ea typeface="Aptos"/>
                <a:cs typeface="Aptos"/>
              </a:rPr>
              <a:t>YOUR NEXT MOVE</a:t>
            </a:r>
            <a:endParaRPr sz="1350" b="0" u="none">
              <a:solidFill>
                <a:srgbClr val="FFFFFF"/>
              </a:solidFill>
              <a:latin typeface="Arial"/>
              <a:ea typeface="Arial"/>
              <a:cs typeface="Arial"/>
            </a:endParaRPr>
          </a:p>
        </p:txBody>
      </p:sp>
      <p:sp>
        <p:nvSpPr>
          <p:cNvPr id="162" name="">
            <a:extLst xmlns:a="http://schemas.openxmlformats.org/drawingml/2006/main">
              <a:ext uri="{FF2B5EF4-FFF2-40B4-BE49-F238E27FC236}">
                <a16:creationId xmlns:a16="http://schemas.microsoft.com/office/drawing/2014/main" id="{05FB66B3-8E5E-4935-86F7-F34A4B70C54F}"/>
              </a:ext>
            </a:extLst>
          </p:cNvPr>
          <p:cNvSpPr>
            <a:spLocks xmlns:a="http://schemas.openxmlformats.org/drawingml/2006/main" noGrp="1"/>
          </p:cNvSpPr>
          <p:nvPr/>
        </p:nvSpPr>
        <p:spPr>
          <a:xfrm xmlns:a="http://schemas.openxmlformats.org/drawingml/2006/main">
            <a:off x="8039160" y="3733920"/>
            <a:ext cx="314280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280" b="0" u="none">
                <a:solidFill>
                  <a:srgbClr val="BDBBB4"/>
                </a:solidFill>
                <a:latin typeface="Georgia"/>
                <a:ea typeface="Georgia"/>
                <a:cs typeface="Georgia"/>
              </a:rPr>
              <a:t>Try it on a hard task. Break it. Improve it.</a:t>
            </a:r>
            <a:endParaRPr sz="1280" b="0" u="none">
              <a:solidFill>
                <a:srgbClr val="FFFFFF"/>
              </a:solidFill>
              <a:latin typeface="Arial"/>
              <a:ea typeface="Arial"/>
              <a:cs typeface="Arial"/>
            </a:endParaRPr>
          </a:p>
        </p:txBody>
      </p:sp>
      <p:sp>
        <p:nvSpPr>
          <p:cNvPr id="163" name="closing-rule">
            <a:extLst xmlns:a="http://schemas.openxmlformats.org/drawingml/2006/main">
              <a:ext uri="{FF2B5EF4-FFF2-40B4-BE49-F238E27FC236}">
                <a16:creationId xmlns:a16="http://schemas.microsoft.com/office/drawing/2014/main" id="{3808C748-F7A7-4382-AA1C-3E91F663BE62}"/>
              </a:ext>
            </a:extLst>
          </p:cNvPr>
          <p:cNvSpPr>
            <a:spLocks xmlns:a="http://schemas.openxmlformats.org/drawingml/2006/main" noGrp="1"/>
          </p:cNvSpPr>
          <p:nvPr/>
        </p:nvSpPr>
        <p:spPr>
          <a:xfrm xmlns:a="http://schemas.openxmlformats.org/drawingml/2006/main">
            <a:off x="609480" y="4705200"/>
            <a:ext cx="10438920" cy="18720"/>
          </a:xfrm>
          <a:prstGeom xmlns:a="http://schemas.openxmlformats.org/drawingml/2006/main" prst="rect">
            <a:avLst/>
          </a:prstGeom>
          <a:solidFill xmlns:a="http://schemas.openxmlformats.org/drawingml/2006/main">
            <a:srgbClr val="9B2F86"/>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5920" rIns="90000" bIns="-25920" anchor="t">
            <a:noAutofit/>
          </a:bodyPr>
          <a:lstStyle xmlns:a="http://schemas.openxmlformats.org/drawingml/2006/main"/>
          <a:p xmlns:a="http://schemas.openxmlformats.org/drawingml/2006/main">
            <a:pPr>
              <a:buNone/>
            </a:pPr>
            <a:endParaRPr sz="1800" b="0" u="none">
              <a:solidFill>
                <a:srgbClr val="FFFFFF"/>
              </a:solidFill>
              <a:latin typeface="Arial"/>
              <a:ea typeface="Arial"/>
              <a:cs typeface="Arial"/>
            </a:endParaRPr>
          </a:p>
        </p:txBody>
      </p:sp>
      <p:sp>
        <p:nvSpPr>
          <p:cNvPr id="164" name="">
            <a:extLst xmlns:a="http://schemas.openxmlformats.org/drawingml/2006/main">
              <a:ext uri="{FF2B5EF4-FFF2-40B4-BE49-F238E27FC236}">
                <a16:creationId xmlns:a16="http://schemas.microsoft.com/office/drawing/2014/main" id="{21BF2698-42F3-448F-B516-E703D2B33274}"/>
              </a:ext>
            </a:extLst>
          </p:cNvPr>
          <p:cNvSpPr>
            <a:spLocks xmlns:a="http://schemas.openxmlformats.org/drawingml/2006/main" noGrp="1"/>
          </p:cNvSpPr>
          <p:nvPr/>
        </p:nvSpPr>
        <p:spPr>
          <a:xfrm xmlns:a="http://schemas.openxmlformats.org/drawingml/2006/main">
            <a:off x="609480" y="5095800"/>
            <a:ext cx="266652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980" b="1" u="none">
                <a:solidFill>
                  <a:srgbClr val="9B2F86"/>
                </a:solidFill>
                <a:latin typeface="Aptos"/>
                <a:ea typeface="Aptos"/>
                <a:cs typeface="Aptos"/>
              </a:rPr>
              <a:t>WHAT I NEED NEXT</a:t>
            </a:r>
            <a:endParaRPr sz="980" b="0" u="none">
              <a:solidFill>
                <a:srgbClr val="FFFFFF"/>
              </a:solidFill>
              <a:latin typeface="Arial"/>
              <a:ea typeface="Arial"/>
              <a:cs typeface="Arial"/>
            </a:endParaRPr>
          </a:p>
        </p:txBody>
      </p:sp>
      <p:sp>
        <p:nvSpPr>
          <p:cNvPr id="165" name="">
            <a:extLst xmlns:a="http://schemas.openxmlformats.org/drawingml/2006/main">
              <a:ext uri="{FF2B5EF4-FFF2-40B4-BE49-F238E27FC236}">
                <a16:creationId xmlns:a16="http://schemas.microsoft.com/office/drawing/2014/main" id="{CE82E118-EC79-42CD-83FC-46805BE96D63}"/>
              </a:ext>
            </a:extLst>
          </p:cNvPr>
          <p:cNvSpPr>
            <a:spLocks xmlns:a="http://schemas.openxmlformats.org/drawingml/2006/main" noGrp="1"/>
          </p:cNvSpPr>
          <p:nvPr/>
        </p:nvSpPr>
        <p:spPr>
          <a:xfrm xmlns:a="http://schemas.openxmlformats.org/drawingml/2006/main">
            <a:off x="609480" y="5448240"/>
            <a:ext cx="7333920" cy="571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0000"/>
              </a:lnSpc>
              <a:buNone/>
            </a:pPr>
            <a:r>
              <a:rPr sz="1800" b="0" u="none">
                <a:solidFill>
                  <a:srgbClr val="FFFFFF"/>
                </a:solidFill>
                <a:latin typeface="Georgia"/>
                <a:ea typeface="Georgia"/>
                <a:cs typeface="Georgia"/>
              </a:rPr>
              <a:t>Find Goalie on GitHub—and give the project a star.</a:t>
            </a:r>
            <a:endParaRPr sz="1800" b="0" u="none">
              <a:solidFill>
                <a:srgbClr val="FFFFFF"/>
              </a:solidFill>
              <a:latin typeface="Arial"/>
              <a:ea typeface="Arial"/>
              <a:cs typeface="Arial"/>
            </a:endParaRPr>
          </a:p>
        </p:txBody>
      </p:sp>
      <p:sp>
        <p:nvSpPr>
          <p:cNvPr id="166" name="">
            <a:extLst xmlns:a="http://schemas.openxmlformats.org/drawingml/2006/main">
              <a:ext uri="{FF2B5EF4-FFF2-40B4-BE49-F238E27FC236}">
                <a16:creationId xmlns:a16="http://schemas.microsoft.com/office/drawing/2014/main" id="{B1F7A5DF-EFD3-426B-BEC6-DC657C4EC6D6}"/>
              </a:ext>
            </a:extLst>
          </p:cNvPr>
          <p:cNvSpPr>
            <a:spLocks xmlns:a="http://schemas.openxmlformats.org/drawingml/2006/main" noGrp="1"/>
          </p:cNvSpPr>
          <p:nvPr/>
        </p:nvSpPr>
        <p:spPr>
          <a:xfrm xmlns:a="http://schemas.openxmlformats.org/drawingml/2006/main">
            <a:off x="8763120" y="5467320"/>
            <a:ext cx="22856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pPr>
            <a:r>
              <a:rPr sz="1050" b="1" u="none">
                <a:solidFill>
                  <a:srgbClr val="FFFFFF"/>
                </a:solidFill>
                <a:latin typeface="Aptos"/>
                <a:ea typeface="Aptos"/>
                <a:cs typeface="Aptos"/>
              </a:rPr>
              <a:t>GITHUB / QR</a:t>
            </a:r>
            <a:endParaRPr sz="1050" b="0" u="none">
              <a:solidFill>
                <a:srgbClr val="FFFFFF"/>
              </a:solidFill>
              <a:latin typeface="Arial"/>
              <a:ea typeface="Arial"/>
              <a:cs typeface="Arial"/>
            </a:endParaRPr>
          </a:p>
        </p:txBody>
      </p:sp>
      <p:sp>
        <p:nvSpPr>
          <p:cNvPr id="167" name="">
            <a:extLst xmlns:a="http://schemas.openxmlformats.org/drawingml/2006/main">
              <a:ext uri="{FF2B5EF4-FFF2-40B4-BE49-F238E27FC236}">
                <a16:creationId xmlns:a16="http://schemas.microsoft.com/office/drawing/2014/main" id="{AC909F77-CFC4-4DF0-AABA-734E6DD57F95}"/>
              </a:ext>
            </a:extLst>
          </p:cNvPr>
          <p:cNvSpPr>
            <a:spLocks xmlns:a="http://schemas.openxmlformats.org/drawingml/2006/main" noGrp="1"/>
          </p:cNvSpPr>
          <p:nvPr/>
        </p:nvSpPr>
        <p:spPr>
          <a:xfrm xmlns:a="http://schemas.openxmlformats.org/drawingml/2006/main">
            <a:off x="8763120" y="5810400"/>
            <a:ext cx="2285640" cy="3236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pPr>
            <a:r>
              <a:rPr sz="1050" b="0" u="none">
                <a:solidFill>
                  <a:srgbClr val="BDBBB4"/>
                </a:solidFill>
                <a:latin typeface="Georgia"/>
                <a:ea typeface="Georgia"/>
                <a:cs typeface="Georgia"/>
              </a:rPr>
              <a:t>STAR GOALIE →</a:t>
            </a:r>
            <a:endParaRPr sz="1050" b="0" u="none">
              <a:solidFill>
                <a:srgbClr val="FFFFFF"/>
              </a:solidFill>
              <a:latin typeface="Arial"/>
              <a:ea typeface="Arial"/>
              <a:cs typeface="Arial"/>
            </a:endParaRPr>
          </a:p>
        </p:txBody>
      </p:sp>
    </p:spTree>
    <p:extLst>
      <p:ext uri="{BB962C8B-B14F-4D97-AF65-F5344CB8AC3E}">
        <p14:creationId xmlns:p14="http://schemas.microsoft.com/office/powerpoint/2010/main" val="19604653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2026-08-23T01:20:41.2800000Z</dcterms:created>
  <dcterms:modified xsi:type="dcterms:W3CDTF">2026-08-23T01:20:41.2800000Z</dcterms:modified>
</coreProperties>
</file>