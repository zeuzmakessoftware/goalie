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e3c19ca2e04f48" /><Relationship Type="http://schemas.openxmlformats.org/officeDocument/2006/relationships/extended-properties" Target="/docProps/app.xml" Id="Rac6c4b36a2ef4878" /><Relationship Type="http://schemas.openxmlformats.org/officeDocument/2006/relationships/officeDocument" Target="/ppt/presentation.xml" Id="Rb21ba8ba0ed946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696a693e4347b2"/>
  </p:sldMasterIdLst>
  <p:notesMasterIdLst>
    <p:notesMasterId xmlns:r="http://schemas.openxmlformats.org/officeDocument/2006/relationships" r:id="R0ecce2e114224e2f"/>
  </p:notesMasterIdLst>
  <p:sldIdLst>
    <p:sldId xmlns:r="http://schemas.openxmlformats.org/officeDocument/2006/relationships" id="256" r:id="R5b1a86fee3584d81"/>
    <p:sldId xmlns:r="http://schemas.openxmlformats.org/officeDocument/2006/relationships" id="257" r:id="R102ed721440b434b"/>
    <p:sldId xmlns:r="http://schemas.openxmlformats.org/officeDocument/2006/relationships" id="258" r:id="R241398e4c083495d"/>
    <p:sldId xmlns:r="http://schemas.openxmlformats.org/officeDocument/2006/relationships" id="259" r:id="R47df98ad0d564000"/>
    <p:sldId xmlns:r="http://schemas.openxmlformats.org/officeDocument/2006/relationships" id="260" r:id="R130fd78cb2924ccf"/>
    <p:sldId xmlns:r="http://schemas.openxmlformats.org/officeDocument/2006/relationships" id="261" r:id="R7100f9fcda0e4b5e"/>
    <p:sldId xmlns:r="http://schemas.openxmlformats.org/officeDocument/2006/relationships" id="262" r:id="R3e06f0f2753440e6"/>
    <p:sldId xmlns:r="http://schemas.openxmlformats.org/officeDocument/2006/relationships" id="263" r:id="Rc43efd2154474e74"/>
    <p:sldId xmlns:r="http://schemas.openxmlformats.org/officeDocument/2006/relationships" id="264" r:id="R091b5da67a1741f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c0dc942c8f4284" /><Relationship Type="http://schemas.openxmlformats.org/officeDocument/2006/relationships/slideMaster" Target="/ppt/slideMasters/slideMaster1.xml" Id="R81696a693e4347b2" /><Relationship Type="http://schemas.openxmlformats.org/officeDocument/2006/relationships/notesMaster" Target="/ppt/notesMasters/notesMaster1.xml" Id="R0ecce2e114224e2f" /><Relationship Type="http://schemas.openxmlformats.org/officeDocument/2006/relationships/presProps" Target="/ppt/presProps.xml" Id="R9b94622244a94c75" /><Relationship Type="http://schemas.openxmlformats.org/officeDocument/2006/relationships/tableStyles" Target="/ppt/tableStyles.xml" Id="R839587055a084f15" /><Relationship Type="http://schemas.openxmlformats.org/officeDocument/2006/relationships/slide" Target="/ppt/slides/slide1.xml" Id="R5b1a86fee3584d81" /><Relationship Type="http://schemas.openxmlformats.org/officeDocument/2006/relationships/slide" Target="/ppt/slides/slide2.xml" Id="R102ed721440b434b" /><Relationship Type="http://schemas.openxmlformats.org/officeDocument/2006/relationships/slide" Target="/ppt/slides/slide3.xml" Id="R241398e4c083495d" /><Relationship Type="http://schemas.openxmlformats.org/officeDocument/2006/relationships/slide" Target="/ppt/slides/slide4.xml" Id="R47df98ad0d564000" /><Relationship Type="http://schemas.openxmlformats.org/officeDocument/2006/relationships/slide" Target="/ppt/slides/slide5.xml" Id="R130fd78cb2924ccf" /><Relationship Type="http://schemas.openxmlformats.org/officeDocument/2006/relationships/slide" Target="/ppt/slides/slide6.xml" Id="R7100f9fcda0e4b5e" /><Relationship Type="http://schemas.openxmlformats.org/officeDocument/2006/relationships/slide" Target="/ppt/slides/slide7.xml" Id="R3e06f0f2753440e6" /><Relationship Type="http://schemas.openxmlformats.org/officeDocument/2006/relationships/slide" Target="/ppt/slides/slide8.xml" Id="Rc43efd2154474e74" /><Relationship Type="http://schemas.openxmlformats.org/officeDocument/2006/relationships/slide" Target="/ppt/slides/slide9.xml" Id="R091b5da67a1741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0e1c7bd8b445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7c4ff290db4dd2" /><Relationship Type="http://schemas.openxmlformats.org/officeDocument/2006/relationships/notesMaster" Target="/ppt/notesMasters/notesMaster1.xml" Id="R1614b2f31a0245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24ec89febf4ea6" /><Relationship Type="http://schemas.openxmlformats.org/officeDocument/2006/relationships/notesMaster" Target="/ppt/notesMasters/notesMaster1.xml" Id="Rb1dddb894e2347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8d5cf739e54496" /><Relationship Type="http://schemas.openxmlformats.org/officeDocument/2006/relationships/notesMaster" Target="/ppt/notesMasters/notesMaster1.xml" Id="R370d9e9b30934a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1b17bde5364c18" /><Relationship Type="http://schemas.openxmlformats.org/officeDocument/2006/relationships/notesMaster" Target="/ppt/notesMasters/notesMaster1.xml" Id="Rbcce7d5fdd74460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12c23762e941ef" /><Relationship Type="http://schemas.openxmlformats.org/officeDocument/2006/relationships/notesMaster" Target="/ppt/notesMasters/notesMaster1.xml" Id="R72eea92c230d49e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821d125f6d4b28" /><Relationship Type="http://schemas.openxmlformats.org/officeDocument/2006/relationships/notesMaster" Target="/ppt/notesMasters/notesMaster1.xml" Id="Rf5881ac7b8c347c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202c54991794673" /><Relationship Type="http://schemas.openxmlformats.org/officeDocument/2006/relationships/notesMaster" Target="/ppt/notesMasters/notesMaster1.xml" Id="Rbc3907f777e440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d7ecf2693fb4317" /><Relationship Type="http://schemas.openxmlformats.org/officeDocument/2006/relationships/notesMaster" Target="/ppt/notesMasters/notesMaster1.xml" Id="Rdc9e441a933d4bf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c99479318d14632" /><Relationship Type="http://schemas.openxmlformats.org/officeDocument/2006/relationships/notesMaster" Target="/ppt/notesMasters/notesMaster1.xml" Id="R22054bdaf8644f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https://blog.agihouse.org/posts/long-horizon-agents-a-technical-primer (visual style reference)</a:t>
            </a:r>
          </a:p>
          <a:p xmlns:a="http://schemas.openxmlformats.org/drawingml/2006/main">
            <a:r>
              <a:t>- OpenAI ImageGen (generated editorial hero image)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https://blog.agihouse.org/posts/long-horizon-agents-a-technical-primer (visual style reference)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https://blog.agihouse.org/posts/long-horizon-agents-a-technical-primer (visual style reference)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https://blog.agihouse.org/posts/long-horizon-agents-a-technical-primer (visual style reference)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https://blog.agihouse.org/posts/long-horizon-agents-a-technical-primer (visual style reference)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https://blog.agihouse.org/posts/long-horizon-agents-a-technical-primer (visual style reference)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https://blog.agihouse.org/posts/long-horizon-agents-a-technical-primer (visual style reference)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https://blog.agihouse.org/posts/long-horizon-agents-a-technical-primer (visual style reference)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https://blog.agihouse.org/posts/long-horizon-agents-a-technical-primer (visual style reference)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c295b834a84a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c26d09bbf74750" /><Relationship Type="http://schemas.openxmlformats.org/officeDocument/2006/relationships/slideLayout" Target="/ppt/slideLayouts/slideLayout1.xml" Id="Rb5b104ee594140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b104ee594140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5e8da3bcbf4053" /><Relationship Type="http://schemas.openxmlformats.org/officeDocument/2006/relationships/image" Target="/ppt/media/image.png" Id="R19f097cc6eb14e76" /><Relationship Type="http://schemas.openxmlformats.org/officeDocument/2006/relationships/notesSlide" Target="/ppt/notesSlides/notesSlide1.xml" Id="Ra73e70b4def047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4144a971dd4675" /><Relationship Type="http://schemas.openxmlformats.org/officeDocument/2006/relationships/notesSlide" Target="/ppt/notesSlides/notesSlide2.xml" Id="R51376f4004d846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b538981b5a4133" /><Relationship Type="http://schemas.openxmlformats.org/officeDocument/2006/relationships/notesSlide" Target="/ppt/notesSlides/notesSlide3.xml" Id="R7d47cd4d93f54e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ff1352b6494966" /><Relationship Type="http://schemas.openxmlformats.org/officeDocument/2006/relationships/notesSlide" Target="/ppt/notesSlides/notesSlide4.xml" Id="Ra9a06cfd118346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68eff092f54b83" /><Relationship Type="http://schemas.openxmlformats.org/officeDocument/2006/relationships/notesSlide" Target="/ppt/notesSlides/notesSlide5.xml" Id="R7793cf69b61148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08792935584a13" /><Relationship Type="http://schemas.openxmlformats.org/officeDocument/2006/relationships/notesSlide" Target="/ppt/notesSlides/notesSlide6.xml" Id="R69e8ee852cab4a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544ced18bc4fa0" /><Relationship Type="http://schemas.openxmlformats.org/officeDocument/2006/relationships/notesSlide" Target="/ppt/notesSlides/notesSlide7.xml" Id="R3405a6729d9a4f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b3c3e8c19f413a" /><Relationship Type="http://schemas.openxmlformats.org/officeDocument/2006/relationships/notesSlide" Target="/ppt/notesSlides/notesSlide8.xml" Id="Rc9d2e09905b64db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f3c8ee348a41d9" /><Relationship Type="http://schemas.openxmlformats.org/officeDocument/2006/relationships/notesSlide" Target="/ppt/notesSlides/notesSlide9.xml" Id="Ra08a3322450242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op-bar">
            <a:extLst xmlns:a="http://schemas.openxmlformats.org/drawingml/2006/main">
              <a:ext uri="{FF2B5EF4-FFF2-40B4-BE49-F238E27FC236}">
                <a16:creationId xmlns:a16="http://schemas.microsoft.com/office/drawing/2014/main" id="{F09C4C25-2694-488A-B0CF-37E54B584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467210-4B33-4D26-BFBD-0F6F1A07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14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✦  BUILD DAY ENTRY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4522AB-6F7A-42AE-A673-89D0D955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1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C9C7C0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C9C7C0"/>
                </a:solidFill>
                <a:latin typeface="Aptos"/>
                <a:ea typeface="Aptos"/>
                <a:cs typeface="Aptos"/>
              </a:rPr>
              <a:t>COVER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108758-30C3-434D-932F-B6C6EDDF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1714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8B0435-E6E1-4786-8E11-FBDB68B5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6D6B6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6D6B65"/>
                </a:solidFill>
                <a:latin typeface="Aptos"/>
                <a:ea typeface="Aptos"/>
                <a:cs typeface="Aptos"/>
              </a:rPr>
              <a:t>LONG-HORIZON AGENTS BUILD DAY</a:t>
            </a:r>
          </a:p>
        </p:txBody>
      </p:sp>
      <p:sp>
        <p:nvSpPr>
          <p:cNvPr id="6" name="project-name">
            <a:extLst xmlns:a="http://schemas.openxmlformats.org/drawingml/2006/main">
              <a:ext uri="{FF2B5EF4-FFF2-40B4-BE49-F238E27FC236}">
                <a16:creationId xmlns:a16="http://schemas.microsoft.com/office/drawing/2014/main" id="{4AF1C3CE-7D5E-44A1-875C-64662139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9715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650" b="0" i="0">
                <a:solidFill>
                  <a:srgbClr val="0A0A0A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0" i="0">
                <a:solidFill>
                  <a:srgbClr val="0A0A0A"/>
                </a:solidFill>
                <a:latin typeface="Aptos Display"/>
                <a:ea typeface="Aptos Display"/>
                <a:cs typeface="Aptos Display"/>
              </a:rPr>
              <a:t>PROJECT NAME</a:t>
            </a:r>
          </a:p>
        </p:txBody>
      </p:sp>
      <p:sp>
        <p:nvSpPr>
          <p:cNvPr id="7" name="one-line-value-proposition">
            <a:extLst xmlns:a="http://schemas.openxmlformats.org/drawingml/2006/main">
              <a:ext uri="{FF2B5EF4-FFF2-40B4-BE49-F238E27FC236}">
                <a16:creationId xmlns:a16="http://schemas.microsoft.com/office/drawing/2014/main" id="{529CA829-19F8-413D-961F-B693A6AE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43175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 i="0">
                <a:solidFill>
                  <a:srgbClr val="0A0A0A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0A0A0A"/>
                </a:solidFill>
                <a:latin typeface="Georgia"/>
                <a:ea typeface="Georgia"/>
                <a:cs typeface="Georgia"/>
              </a:rPr>
              <a:t>One sentence that makes the product impossible to misunderstand.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9F24D3-37B5-4815-A7E1-D2D73D3B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71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6D6B6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6D6B65"/>
                </a:solidFill>
                <a:latin typeface="Aptos"/>
                <a:ea typeface="Aptos"/>
                <a:cs typeface="Aptos"/>
              </a:rPr>
              <a:t>TEAM NAME  ·  AUG 22, 2026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f097cc6eb14e76"/>
          <a:srcRect xmlns:a="http://schemas.openxmlformats.org/drawingml/2006/main" l="0" t="27651" r="0" b="276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790950"/>
            <a:ext cx="12192000" cy="3067050"/>
          </a:xfrm>
          <a:prstGeom xmlns:a="http://schemas.openxmlformats.org/drawingml/2006/main" prst="rect">
            <a:avLst/>
          </a:prstGeom>
        </p:spPr>
      </p:pic>
      <p:sp>
        <p:nvSpPr>
          <p:cNvPr id="10" name="hero-caption-band">
            <a:extLst xmlns:a="http://schemas.openxmlformats.org/drawingml/2006/main">
              <a:ext uri="{FF2B5EF4-FFF2-40B4-BE49-F238E27FC236}">
                <a16:creationId xmlns:a16="http://schemas.microsoft.com/office/drawing/2014/main" id="{61025803-D1FF-46B0-8B57-5F2D9526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7664BC-B925-45ED-9211-E9FFD716C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HACKATHON ENTRY TEMPLATE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1DEF94-9496-4F26-A4B3-D19954CA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53415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D8D7D1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D8D7D1"/>
                </a:solidFill>
                <a:latin typeface="Aptos"/>
                <a:ea typeface="Aptos"/>
                <a:cs typeface="Aptos"/>
              </a:rPr>
              <a:t>REPLACE EVERY PLACEHOLDER BEFORE PRESENTING</a:t>
            </a:r>
          </a:p>
        </p:txBody>
      </p:sp>
    </p:spTree>
    <p:extLst>
      <p:ext uri="{BB962C8B-B14F-4D97-AF65-F5344CB8AC3E}">
        <p14:creationId xmlns:p14="http://schemas.microsoft.com/office/powerpoint/2010/main" val="5745628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bar">
            <a:extLst xmlns:a="http://schemas.openxmlformats.org/drawingml/2006/main">
              <a:ext uri="{FF2B5EF4-FFF2-40B4-BE49-F238E27FC236}">
                <a16:creationId xmlns:a16="http://schemas.microsoft.com/office/drawing/2014/main" id="{ECBA4794-C271-47B0-BA2F-B405DAB3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FC66BB-4911-40F9-9122-B1037DEE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14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✦  BUILD DAY ENTRY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DE1ADA-4498-41B1-B946-114B4AF4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1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C9C7C0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C9C7C0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6A682D-CB73-43D0-80FB-8F74230A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1714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51B95A-365E-4703-94DD-DB464103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A0A0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A0A0A"/>
                </a:solidFill>
                <a:latin typeface="Aptos"/>
                <a:ea typeface="Aptos"/>
                <a:cs typeface="Aptos"/>
              </a:rPr>
              <a:t>CONTENTS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8EC8EE-91C5-41CD-8E42-5CDDA397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428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00" b="0" i="0">
                <a:solidFill>
                  <a:srgbClr val="6D6B65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6D6B65"/>
                </a:solidFill>
                <a:latin typeface="Georgia"/>
                <a:ea typeface="Georgia"/>
                <a:cs typeface="Georgia"/>
              </a:rPr>
              <a:t>Problem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00" b="0" i="0">
                <a:solidFill>
                  <a:srgbClr val="6D6B65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6D6B65"/>
                </a:solidFill>
                <a:latin typeface="Georgia"/>
                <a:ea typeface="Georgia"/>
                <a:cs typeface="Georgia"/>
              </a:rPr>
              <a:t>Who feels it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00" b="0" i="0">
                <a:solidFill>
                  <a:srgbClr val="6D6B65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6D6B65"/>
                </a:solidFill>
                <a:latin typeface="Georgia"/>
                <a:ea typeface="Georgia"/>
                <a:cs typeface="Georgia"/>
              </a:rPr>
              <a:t>Why it persists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00" b="0" i="0">
                <a:solidFill>
                  <a:srgbClr val="6D6B65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6D6B65"/>
                </a:solidFill>
                <a:latin typeface="Georgia"/>
                <a:ea typeface="Georgia"/>
                <a:cs typeface="Georgia"/>
              </a:rPr>
              <a:t>What it costs</a:t>
            </a:r>
          </a:p>
        </p:txBody>
      </p:sp>
      <p:sp>
        <p:nvSpPr>
          <p:cNvPr id="7" name="editorial-rule">
            <a:extLst xmlns:a="http://schemas.openxmlformats.org/drawingml/2006/main">
              <a:ext uri="{FF2B5EF4-FFF2-40B4-BE49-F238E27FC236}">
                <a16:creationId xmlns:a16="http://schemas.microsoft.com/office/drawing/2014/main" id="{054DA4C3-0CAA-4124-BCFC-C01B854C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028700"/>
            <a:ext cx="9525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D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8DB28F-9A19-481F-9A95-31A75DB0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9334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6D6B6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6D6B65"/>
                </a:solidFill>
                <a:latin typeface="Aptos"/>
                <a:ea typeface="Aptos"/>
                <a:cs typeface="Aptos"/>
              </a:rPr>
              <a:t>01 / PROBLEM</a:t>
            </a:r>
          </a:p>
        </p:txBody>
      </p:sp>
      <p:sp>
        <p:nvSpPr>
          <p:cNvPr id="9" name="problem-title">
            <a:extLst xmlns:a="http://schemas.openxmlformats.org/drawingml/2006/main">
              <a:ext uri="{FF2B5EF4-FFF2-40B4-BE49-F238E27FC236}">
                <a16:creationId xmlns:a16="http://schemas.microsoft.com/office/drawing/2014/main" id="{BE0540AB-8978-468A-98BC-BABDBB38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333500"/>
            <a:ext cx="8572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0" i="0">
                <a:solidFill>
                  <a:srgbClr val="0A0A0A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0" i="0">
                <a:solidFill>
                  <a:srgbClr val="0A0A0A"/>
                </a:solidFill>
                <a:latin typeface="Aptos Display"/>
                <a:ea typeface="Aptos Display"/>
                <a:cs typeface="Aptos Display"/>
              </a:rPr>
              <a:t>The problem is visible.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3600" b="0" i="0">
                <a:solidFill>
                  <a:srgbClr val="0A0A0A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0" i="0">
                <a:solidFill>
                  <a:srgbClr val="0A0A0A"/>
                </a:solidFill>
                <a:latin typeface="Aptos Display"/>
                <a:ea typeface="Aptos Display"/>
                <a:cs typeface="Aptos Display"/>
              </a:rPr>
              <a:t>The cost is compounding.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C6C35F-B63E-434B-89E8-F1381853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97180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650" b="0" i="0">
                <a:solidFill>
                  <a:srgbClr val="0A0A0A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0A0A0A"/>
                </a:solidFill>
                <a:latin typeface="Georgia"/>
                <a:ea typeface="Georgia"/>
                <a:cs typeface="Georgia"/>
              </a:rPr>
              <a:t>Describe the user, the moment the workflow breaks, and why existing solutions still leave the hard part unresolved.</a:t>
            </a:r>
          </a:p>
        </p:txBody>
      </p:sp>
      <p:sp>
        <p:nvSpPr>
          <p:cNvPr id="11" name="primary-problem-metric">
            <a:extLst xmlns:a="http://schemas.openxmlformats.org/drawingml/2006/main">
              <a:ext uri="{FF2B5EF4-FFF2-40B4-BE49-F238E27FC236}">
                <a16:creationId xmlns:a16="http://schemas.microsoft.com/office/drawing/2014/main" id="{022A5FAD-DCA4-4EF8-A559-285A2C68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305300"/>
            <a:ext cx="247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400" b="0" i="0">
                <a:solidFill>
                  <a:srgbClr val="0A0A0A"/>
                </a:solidFill>
                <a:latin typeface="Aptos Display"/>
                <a:ea typeface="Aptos Display"/>
                <a:cs typeface="Aptos Display"/>
              </a:defRPr>
            </a:pPr>
            <a:r>
              <a:rPr sz="5400" b="0" i="0">
                <a:solidFill>
                  <a:srgbClr val="0A0A0A"/>
                </a:solidFill>
                <a:latin typeface="Aptos Display"/>
                <a:ea typeface="Aptos Display"/>
                <a:cs typeface="Aptos Display"/>
              </a:rPr>
              <a:t>XX%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19A171-BBB3-4965-A4D9-C05D6DA3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43865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 i="0">
                <a:solidFill>
                  <a:srgbClr val="6D6B6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D6B65"/>
                </a:solidFill>
                <a:latin typeface="Aptos"/>
                <a:ea typeface="Aptos"/>
                <a:cs typeface="Aptos"/>
              </a:rPr>
              <a:t>PRIMARY COST OR FAILURE RATE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125" b="0" i="0">
                <a:solidFill>
                  <a:srgbClr val="6D6B6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D6B65"/>
                </a:solidFill>
                <a:latin typeface="Aptos"/>
                <a:ea typeface="Aptos"/>
                <a:cs typeface="Aptos"/>
              </a:rPr>
              <a:t>Add the source and sample size in one line.</a:t>
            </a:r>
          </a:p>
        </p:txBody>
      </p:sp>
      <p:sp>
        <p:nvSpPr>
          <p:cNvPr id="1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BB995430-4FD2-4470-A35A-CE4993F9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524500"/>
            <a:ext cx="814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2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C616C4-EB8A-4074-BF25-95E9A6AC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66737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1">
                <a:solidFill>
                  <a:srgbClr val="6D6B65"/>
                </a:solidFill>
                <a:latin typeface="Aptos"/>
                <a:ea typeface="Aptos"/>
                <a:cs typeface="Aptos"/>
              </a:defRPr>
            </a:pPr>
            <a:r>
              <a:rPr sz="1050" b="0" i="1">
                <a:solidFill>
                  <a:srgbClr val="6D6B65"/>
                </a:solidFill>
                <a:latin typeface="Aptos"/>
                <a:ea typeface="Aptos"/>
                <a:cs typeface="Aptos"/>
              </a:rPr>
              <a:t>The audience should feel the problem before they hear the feature list.</a:t>
            </a:r>
          </a:p>
        </p:txBody>
      </p:sp>
    </p:spTree>
    <p:extLst>
      <p:ext uri="{BB962C8B-B14F-4D97-AF65-F5344CB8AC3E}">
        <p14:creationId xmlns:p14="http://schemas.microsoft.com/office/powerpoint/2010/main" val="12917662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bar">
            <a:extLst xmlns:a="http://schemas.openxmlformats.org/drawingml/2006/main">
              <a:ext uri="{FF2B5EF4-FFF2-40B4-BE49-F238E27FC236}">
                <a16:creationId xmlns:a16="http://schemas.microsoft.com/office/drawing/2014/main" id="{0877C572-1389-464A-BDA4-96E2BD27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2C5A2A-A92F-4107-9CA4-E4A8D957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14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✦  BUILD DAY ENTRY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460B7E-8556-41C9-9474-82B427BA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1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C9C7C0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C9C7C0"/>
                </a:solidFill>
                <a:latin typeface="Aptos"/>
                <a:ea typeface="Aptos"/>
                <a:cs typeface="Aptos"/>
              </a:rPr>
              <a:t>INSIGHT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E72048-9C22-42CF-87D3-BA319572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1714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F92FC9-D68C-4171-86AD-5DCEFCC8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6D6B6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6D6B65"/>
                </a:solidFill>
                <a:latin typeface="Aptos"/>
                <a:ea typeface="Aptos"/>
                <a:cs typeface="Aptos"/>
              </a:rPr>
              <a:t>02 / THE INSIGHT</a:t>
            </a:r>
          </a:p>
        </p:txBody>
      </p:sp>
      <p:sp>
        <p:nvSpPr>
          <p:cNvPr id="6" name="core-insight">
            <a:extLst xmlns:a="http://schemas.openxmlformats.org/drawingml/2006/main">
              <a:ext uri="{FF2B5EF4-FFF2-40B4-BE49-F238E27FC236}">
                <a16:creationId xmlns:a16="http://schemas.microsoft.com/office/drawing/2014/main" id="{5D137BA6-85F5-4B2C-8DCC-DD4B9DB8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62125"/>
            <a:ext cx="1009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3825" b="0" i="0">
                <a:solidFill>
                  <a:srgbClr val="0A0A0A"/>
                </a:solidFill>
                <a:latin typeface="Georgia"/>
                <a:ea typeface="Georgia"/>
                <a:cs typeface="Georgia"/>
              </a:defRPr>
            </a:pPr>
            <a:r>
              <a:rPr sz="3825" b="0" i="0">
                <a:solidFill>
                  <a:srgbClr val="0A0A0A"/>
                </a:solidFill>
                <a:latin typeface="Georgia"/>
                <a:ea typeface="Georgia"/>
                <a:cs typeface="Georgia"/>
              </a:rPr>
              <a:t>“The non-obvious thing</a:t>
            </a:r>
          </a:p>
          <a:p xmlns:a="http://schemas.openxmlformats.org/drawingml/2006/main">
            <a:pPr algn="ctr">
              <a:lnSpc>
                <a:spcPct val="103000"/>
              </a:lnSpc>
              <a:buNone/>
              <a:defRPr sz="3825" b="0" i="0">
                <a:solidFill>
                  <a:srgbClr val="0A0A0A"/>
                </a:solidFill>
                <a:latin typeface="Georgia"/>
                <a:ea typeface="Georgia"/>
                <a:cs typeface="Georgia"/>
              </a:defRPr>
            </a:pPr>
            <a:r>
              <a:rPr sz="3825" b="0" i="0">
                <a:solidFill>
                  <a:srgbClr val="0A0A0A"/>
                </a:solidFill>
                <a:latin typeface="Georgia"/>
                <a:ea typeface="Georgia"/>
                <a:cs typeface="Georgia"/>
              </a:rPr>
              <a:t>we learned goes here.”</a:t>
            </a:r>
          </a:p>
        </p:txBody>
      </p:sp>
      <p:sp>
        <p:nvSpPr>
          <p:cNvPr id="7" name="accent-rule">
            <a:extLst xmlns:a="http://schemas.openxmlformats.org/drawingml/2006/main">
              <a:ext uri="{FF2B5EF4-FFF2-40B4-BE49-F238E27FC236}">
                <a16:creationId xmlns:a16="http://schemas.microsoft.com/office/drawing/2014/main" id="{F4E4AB7F-8D2E-4DE0-A61C-68B840F6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0050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2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53FD69-3B50-46DA-B5E4-08FB69E7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00550"/>
            <a:ext cx="704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 b="0" i="0">
                <a:solidFill>
                  <a:srgbClr val="6D6B65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6D6B65"/>
                </a:solidFill>
                <a:latin typeface="Aptos"/>
                <a:ea typeface="Aptos"/>
                <a:cs typeface="Aptos"/>
              </a:rPr>
              <a:t>Explain why this insight changes the design of the product—not merely how you describe 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7083BD-88A8-46B7-8E49-124479FF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619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9B2F8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B2F86"/>
                </a:solidFill>
                <a:latin typeface="Aptos"/>
                <a:ea typeface="Aptos"/>
                <a:cs typeface="Aptos"/>
              </a:rPr>
              <a:t>EVIDENCE / OBSERVATION / USER QUOTE</a:t>
            </a:r>
          </a:p>
        </p:txBody>
      </p:sp>
    </p:spTree>
    <p:extLst>
      <p:ext uri="{BB962C8B-B14F-4D97-AF65-F5344CB8AC3E}">
        <p14:creationId xmlns:p14="http://schemas.microsoft.com/office/powerpoint/2010/main" val="14073468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-bar">
            <a:extLst xmlns:a="http://schemas.openxmlformats.org/drawingml/2006/main">
              <a:ext uri="{FF2B5EF4-FFF2-40B4-BE49-F238E27FC236}">
                <a16:creationId xmlns:a16="http://schemas.microsoft.com/office/drawing/2014/main" id="{1CBDC37E-126D-422A-B78E-D129B0BD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E3D21A-F938-476B-9B38-9469D48A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14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A0A0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A0A0A"/>
                </a:solidFill>
                <a:latin typeface="Aptos"/>
                <a:ea typeface="Aptos"/>
                <a:cs typeface="Aptos"/>
              </a:rPr>
              <a:t>✦  BUILD DAY ENTRY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CCF64D-A37D-438D-8124-7544FCC7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1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6D6B65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D6B65"/>
                </a:solidFill>
                <a:latin typeface="Aptos"/>
                <a:ea typeface="Aptos"/>
                <a:cs typeface="Aptos"/>
              </a:rPr>
              <a:t>SOLUTION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788715-D85C-438E-B049-B70CE772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1714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0A0A0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A0A0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3A8DBE-6521-4E8C-A74B-EC6FCCF7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DBBB4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BDBBB4"/>
                </a:solidFill>
                <a:latin typeface="Aptos"/>
                <a:ea typeface="Aptos"/>
                <a:cs typeface="Aptos"/>
              </a:rPr>
              <a:t>03 / SOLUTION</a:t>
            </a:r>
          </a:p>
        </p:txBody>
      </p:sp>
      <p:sp>
        <p:nvSpPr>
          <p:cNvPr id="6" name="solution-title">
            <a:extLst xmlns:a="http://schemas.openxmlformats.org/drawingml/2006/main">
              <a:ext uri="{FF2B5EF4-FFF2-40B4-BE49-F238E27FC236}">
                <a16:creationId xmlns:a16="http://schemas.microsoft.com/office/drawing/2014/main" id="{74ECD4EA-E851-4C47-BD34-D5B4CCC3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0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0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 focused system that closes the loop.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972CC3-6CD0-4BF2-8D74-1BEB6102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D5D3CC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D5D3CC"/>
                </a:solidFill>
                <a:latin typeface="Georgia"/>
                <a:ea typeface="Georgia"/>
                <a:cs typeface="Georgia"/>
              </a:rPr>
              <a:t>Replace these three verbs with the core behavior of your product.</a:t>
            </a:r>
          </a:p>
        </p:txBody>
      </p:sp>
      <p:sp>
        <p:nvSpPr>
          <p:cNvPr id="8" name="process-line">
            <a:extLst xmlns:a="http://schemas.openxmlformats.org/drawingml/2006/main">
              <a:ext uri="{FF2B5EF4-FFF2-40B4-BE49-F238E27FC236}">
                <a16:creationId xmlns:a16="http://schemas.microsoft.com/office/drawing/2014/main" id="{0AA463C6-2B05-4B1D-90CD-45DFDD20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76650"/>
            <a:ext cx="809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639033-2D7B-4348-92D9-DC896525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1EF42D-BD80-4640-BF1C-9E87CCFF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33775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2337A4-871C-407B-8119-16544B60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053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0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0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OBSERVE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79CDFC-BE3D-4B7F-B871-85D92410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0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C9C7C0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C9C7C0"/>
                </a:solidFill>
                <a:latin typeface="Georgia"/>
                <a:ea typeface="Georgia"/>
                <a:cs typeface="Georgia"/>
              </a:rPr>
              <a:t>What signal enters the system?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1B4C4A-4969-4470-A47C-DB52A2D4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337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2F8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5E48FF-74E5-455D-927A-83F5D174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33775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8DAE96-DC9C-4F24-8F3E-33A7E53F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3053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0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0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DECIDE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65FBB2-96BE-43F6-A67B-82721F13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762500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C9C7C0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C9C7C0"/>
                </a:solidFill>
                <a:latin typeface="Georgia"/>
                <a:ea typeface="Georgia"/>
                <a:cs typeface="Georgia"/>
              </a:rPr>
              <a:t>What reasoning or model changes the outcome?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EEB8DE-5B08-4EE9-BB5F-BD846784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337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6C1589-2F3E-43AD-8489-03B6FB15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33775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19DB38-E494-4B77-82D3-3A6CE4AB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3053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0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0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VERIFY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F7E05F-0D0A-4D7E-A4BA-7AC984256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762500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C9C7C0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C9C7C0"/>
                </a:solidFill>
                <a:latin typeface="Georgia"/>
                <a:ea typeface="Georgia"/>
                <a:cs typeface="Georgia"/>
              </a:rPr>
              <a:t>How does the system know it worked?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1F424A-A7BF-4E87-B226-33B56F549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9B2F86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B2F86"/>
                </a:solidFill>
                <a:latin typeface="Aptos"/>
                <a:ea typeface="Aptos"/>
                <a:cs typeface="Aptos"/>
              </a:rPr>
              <a:t>ONE LINE ON THE DELIGHTFUL DIFFERENCE</a:t>
            </a:r>
          </a:p>
        </p:txBody>
      </p:sp>
    </p:spTree>
    <p:extLst>
      <p:ext uri="{BB962C8B-B14F-4D97-AF65-F5344CB8AC3E}">
        <p14:creationId xmlns:p14="http://schemas.microsoft.com/office/powerpoint/2010/main" val="12173236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bar">
            <a:extLst xmlns:a="http://schemas.openxmlformats.org/drawingml/2006/main">
              <a:ext uri="{FF2B5EF4-FFF2-40B4-BE49-F238E27FC236}">
                <a16:creationId xmlns:a16="http://schemas.microsoft.com/office/drawing/2014/main" id="{9256DC29-2932-482F-820E-D35383AF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7BA3E1-B378-4C41-85AB-D9D6960A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14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✦  BUILD DAY ENTRY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DB45FB-1180-486C-BB24-6636FA92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1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C9C7C0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C9C7C0"/>
                </a:solidFill>
                <a:latin typeface="Aptos"/>
                <a:ea typeface="Aptos"/>
                <a:cs typeface="Aptos"/>
              </a:rPr>
              <a:t>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C13DD9-9022-4168-851A-EAC1552D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1714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899947-D2EF-4798-B9A0-2BAA2DFE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6D6B6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6D6B65"/>
                </a:solidFill>
                <a:latin typeface="Aptos"/>
                <a:ea typeface="Aptos"/>
                <a:cs typeface="Aptos"/>
              </a:rPr>
              <a:t>04 / PRODUCT DEMO</a:t>
            </a:r>
          </a:p>
        </p:txBody>
      </p:sp>
      <p:sp>
        <p:nvSpPr>
          <p:cNvPr id="6" name="demo-title">
            <a:extLst xmlns:a="http://schemas.openxmlformats.org/drawingml/2006/main">
              <a:ext uri="{FF2B5EF4-FFF2-40B4-BE49-F238E27FC236}">
                <a16:creationId xmlns:a16="http://schemas.microsoft.com/office/drawing/2014/main" id="{028DC15F-3A6E-4F25-A580-1A82D3A5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885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0" i="0">
                <a:solidFill>
                  <a:srgbClr val="0A0A0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0" i="0">
                <a:solidFill>
                  <a:srgbClr val="0A0A0A"/>
                </a:solidFill>
                <a:latin typeface="Aptos Display"/>
                <a:ea typeface="Aptos Display"/>
                <a:cs typeface="Aptos Display"/>
              </a:rPr>
              <a:t>Show the product doing the hard part.</a:t>
            </a:r>
          </a:p>
        </p:txBody>
      </p:sp>
      <p:sp>
        <p:nvSpPr>
          <p:cNvPr id="7" name="product-demo-placeholder">
            <a:extLst xmlns:a="http://schemas.openxmlformats.org/drawingml/2006/main">
              <a:ext uri="{FF2B5EF4-FFF2-40B4-BE49-F238E27FC236}">
                <a16:creationId xmlns:a16="http://schemas.microsoft.com/office/drawing/2014/main" id="{5DA77057-66A0-492D-8D37-13854DE8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C4C4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FD471D-7D0B-4FAB-B9EA-DE07E8A1C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95650"/>
            <a:ext cx="571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0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0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DROP PRODUCT DEMO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325" b="0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0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OR SCREENSHOT HERE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4F1F53-D26B-4AB3-8530-61C7889A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39BA3A-60C9-4EFA-833B-331CE8D6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6D6B65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6D6B65"/>
                </a:solidFill>
                <a:latin typeface="Georgia"/>
                <a:ea typeface="Georgia"/>
                <a:cs typeface="Georgia"/>
              </a:rPr>
              <a:t>Caption the moment judges should notice. Keep it specific.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EED355-88B5-4EF2-A45A-D6F432ED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9817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9B2F86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B2F86"/>
                </a:solidFill>
                <a:latin typeface="Aptos"/>
                <a:ea typeface="Aptos"/>
                <a:cs typeface="Aptos"/>
              </a:rPr>
              <a:t>LIVE DEMO →</a:t>
            </a:r>
          </a:p>
        </p:txBody>
      </p:sp>
    </p:spTree>
    <p:extLst>
      <p:ext uri="{BB962C8B-B14F-4D97-AF65-F5344CB8AC3E}">
        <p14:creationId xmlns:p14="http://schemas.microsoft.com/office/powerpoint/2010/main" val="2143107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op-bar">
            <a:extLst xmlns:a="http://schemas.openxmlformats.org/drawingml/2006/main">
              <a:ext uri="{FF2B5EF4-FFF2-40B4-BE49-F238E27FC236}">
                <a16:creationId xmlns:a16="http://schemas.microsoft.com/office/drawing/2014/main" id="{448A1790-8915-48A1-B9C1-563E48AD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03B173-6439-4770-AA9D-3CB76514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14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✦  BUILD DAY ENTRY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EA23FA-E51F-4EA9-B07A-530F9844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1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C9C7C0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C9C7C0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6FA112-9DA2-4E0C-B00C-F225E69B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1714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AEDCF1-4453-4E39-8E07-A7C6E132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6D6B6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6D6B65"/>
                </a:solidFill>
                <a:latin typeface="Aptos"/>
                <a:ea typeface="Aptos"/>
                <a:cs typeface="Aptos"/>
              </a:rPr>
              <a:t>05 / SYSTEM</a:t>
            </a:r>
          </a:p>
        </p:txBody>
      </p:sp>
      <p:sp>
        <p:nvSpPr>
          <p:cNvPr id="6" name="architecture-title">
            <a:extLst xmlns:a="http://schemas.openxmlformats.org/drawingml/2006/main">
              <a:ext uri="{FF2B5EF4-FFF2-40B4-BE49-F238E27FC236}">
                <a16:creationId xmlns:a16="http://schemas.microsoft.com/office/drawing/2014/main" id="{25635033-F551-4121-B37D-F42AB9E6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5334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150" b="0" i="0">
                <a:solidFill>
                  <a:srgbClr val="0A0A0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0" i="0">
                <a:solidFill>
                  <a:srgbClr val="0A0A0A"/>
                </a:solidFill>
                <a:latin typeface="Aptos Display"/>
                <a:ea typeface="Aptos Display"/>
                <a:cs typeface="Aptos Display"/>
              </a:rPr>
              <a:t>The architecture protects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3150" b="0" i="0">
                <a:solidFill>
                  <a:srgbClr val="0A0A0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0" i="0">
                <a:solidFill>
                  <a:srgbClr val="0A0A0A"/>
                </a:solidFill>
                <a:latin typeface="Aptos Display"/>
                <a:ea typeface="Aptos Display"/>
                <a:cs typeface="Aptos Display"/>
              </a:rPr>
              <a:t>the product promise.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091D02-EAD2-493A-910C-5FC5A1CF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0"/>
            <a:ext cx="4381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75" b="0" i="0">
                <a:solidFill>
                  <a:srgbClr val="0A0A0A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0A0A0A"/>
                </a:solidFill>
                <a:latin typeface="Georgia"/>
                <a:ea typeface="Georgia"/>
                <a:cs typeface="Georgia"/>
              </a:rPr>
              <a:t>Name the one technical choice that makes the demo credible: persistence, verification, latency, data access, or safety.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F5FB4B-0FA2-4C5B-B50B-32178458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3387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9B2F8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9B2F86"/>
                </a:solidFill>
                <a:latin typeface="Aptos"/>
                <a:ea typeface="Aptos"/>
                <a:cs typeface="Aptos"/>
              </a:rPr>
              <a:t>TECHNICAL EDGE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FF7A52-DD5D-41F8-AEB9-6898D267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6D6B65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D6B65"/>
                </a:solidFill>
                <a:latin typeface="Aptos"/>
                <a:ea typeface="Aptos"/>
                <a:cs typeface="Aptos"/>
              </a:rPr>
              <a:t>One concise sentence on what is genuinely hard to reproduce.</a:t>
            </a:r>
          </a:p>
        </p:txBody>
      </p:sp>
      <p:sp>
        <p:nvSpPr>
          <p:cNvPr id="10" name="connector-1">
            <a:extLst xmlns:a="http://schemas.openxmlformats.org/drawingml/2006/main">
              <a:ext uri="{FF2B5EF4-FFF2-40B4-BE49-F238E27FC236}">
                <a16:creationId xmlns:a16="http://schemas.microsoft.com/office/drawing/2014/main" id="{77FE4760-B0B6-4726-AC06-E1A820F0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09775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4EE7AA-0CBD-42F7-A3A6-8CC6539A9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192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3EE"/>
          </a:solidFill>
          <a:ln xmlns:a="http://schemas.openxmlformats.org/drawingml/2006/main" w="19050">
            <a:solidFill>
              <a:srgbClr val="0A0A0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680776-BAEB-414C-98FD-F345CA7E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383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0A0A0A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A0A0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4F8C47-A111-4D57-99C2-5698A3B5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620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0A0A0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0" i="0">
                <a:solidFill>
                  <a:srgbClr val="0A0A0A"/>
                </a:solidFill>
                <a:latin typeface="Aptos Display"/>
                <a:ea typeface="Aptos Display"/>
                <a:cs typeface="Aptos Display"/>
              </a:rPr>
              <a:t>INPUT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679F9E-E539-4D2F-B46B-101008FD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0497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6D6B65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6D6B65"/>
                </a:solidFill>
                <a:latin typeface="Georgia"/>
                <a:ea typeface="Georgia"/>
                <a:cs typeface="Georgia"/>
              </a:rPr>
              <a:t>Trigger, context, or user intent</a:t>
            </a:r>
          </a:p>
        </p:txBody>
      </p:sp>
      <p:sp>
        <p:nvSpPr>
          <p:cNvPr id="15" name="rule-1">
            <a:extLst xmlns:a="http://schemas.openxmlformats.org/drawingml/2006/main">
              <a:ext uri="{FF2B5EF4-FFF2-40B4-BE49-F238E27FC236}">
                <a16:creationId xmlns:a16="http://schemas.microsoft.com/office/drawing/2014/main" id="{C6193F38-65C8-4BDE-8694-0DCD1948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43125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D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onnector-2">
            <a:extLst xmlns:a="http://schemas.openxmlformats.org/drawingml/2006/main">
              <a:ext uri="{FF2B5EF4-FFF2-40B4-BE49-F238E27FC236}">
                <a16:creationId xmlns:a16="http://schemas.microsoft.com/office/drawing/2014/main" id="{757906F5-E6A2-4D7A-B3F1-D5488213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28975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3EBEF2-C9CE-4D83-8993-90188AD5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384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3EE"/>
          </a:solidFill>
          <a:ln xmlns:a="http://schemas.openxmlformats.org/drawingml/2006/main" w="19050">
            <a:solidFill>
              <a:srgbClr val="0A0A0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00F217-E60A-4104-B1FB-C62C8EEC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0A0A0A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A0A0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E95D68-7927-4368-95B2-ED2365583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812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0A0A0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0" i="0">
                <a:solidFill>
                  <a:srgbClr val="0A0A0A"/>
                </a:solidFill>
                <a:latin typeface="Aptos Display"/>
                <a:ea typeface="Aptos Display"/>
                <a:cs typeface="Aptos Display"/>
              </a:rPr>
              <a:t>AGENT LOOP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D7FBCD-49EC-436A-9A27-5C74E419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2417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6D6B65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6D6B65"/>
                </a:solidFill>
                <a:latin typeface="Georgia"/>
                <a:ea typeface="Georgia"/>
                <a:cs typeface="Georgia"/>
              </a:rPr>
              <a:t>Plan → tool use → checkpoint</a:t>
            </a:r>
          </a:p>
        </p:txBody>
      </p:sp>
      <p:sp>
        <p:nvSpPr>
          <p:cNvPr id="21" name="rule-2">
            <a:extLst xmlns:a="http://schemas.openxmlformats.org/drawingml/2006/main">
              <a:ext uri="{FF2B5EF4-FFF2-40B4-BE49-F238E27FC236}">
                <a16:creationId xmlns:a16="http://schemas.microsoft.com/office/drawing/2014/main" id="{77F1A729-9C63-4D69-8833-1CE26675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62325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D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onnector-3">
            <a:extLst xmlns:a="http://schemas.openxmlformats.org/drawingml/2006/main">
              <a:ext uri="{FF2B5EF4-FFF2-40B4-BE49-F238E27FC236}">
                <a16:creationId xmlns:a16="http://schemas.microsoft.com/office/drawing/2014/main" id="{2EA1C25D-CAAD-4513-BC97-AFBFB876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448175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2714F3-257A-4934-BAD6-58BB9869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576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2F86"/>
          </a:solidFill>
          <a:ln xmlns:a="http://schemas.openxmlformats.org/drawingml/2006/main" w="19050">
            <a:solidFill>
              <a:srgbClr val="0A0A0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C28C88-34D0-4D4E-99F2-C7B06E71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767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60B43A-E5F2-4309-9EED-AF8065E7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004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0A0A0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0" i="0">
                <a:solidFill>
                  <a:srgbClr val="0A0A0A"/>
                </a:solidFill>
                <a:latin typeface="Aptos Display"/>
                <a:ea typeface="Aptos Display"/>
                <a:cs typeface="Aptos Display"/>
              </a:rPr>
              <a:t>VERIFIER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85E2B3-712D-4E17-A7C5-3C32BFF3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4337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6D6B65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6D6B65"/>
                </a:solidFill>
                <a:latin typeface="Georgia"/>
                <a:ea typeface="Georgia"/>
                <a:cs typeface="Georgia"/>
              </a:rPr>
              <a:t>Environment state or metric</a:t>
            </a:r>
          </a:p>
        </p:txBody>
      </p:sp>
      <p:sp>
        <p:nvSpPr>
          <p:cNvPr id="27" name="rule-3">
            <a:extLst xmlns:a="http://schemas.openxmlformats.org/drawingml/2006/main">
              <a:ext uri="{FF2B5EF4-FFF2-40B4-BE49-F238E27FC236}">
                <a16:creationId xmlns:a16="http://schemas.microsoft.com/office/drawing/2014/main" id="{7C655C25-A26C-44F2-A889-F4C2D799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81525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D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18A2A4-3F2A-4198-AE9B-126EDF62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768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3EE"/>
          </a:solidFill>
          <a:ln xmlns:a="http://schemas.openxmlformats.org/drawingml/2006/main" w="19050">
            <a:solidFill>
              <a:srgbClr val="0A0A0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FE6925-2734-44C5-910A-7D7879A0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959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0A0A0A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A0A0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0D9733-A80A-4029-89E3-D69A6781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196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0A0A0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0" i="0">
                <a:solidFill>
                  <a:srgbClr val="0A0A0A"/>
                </a:solidFill>
                <a:latin typeface="Aptos Display"/>
                <a:ea typeface="Aptos Display"/>
                <a:cs typeface="Aptos Display"/>
              </a:rPr>
              <a:t>OUTCOME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068519-0515-4796-AF29-C14C4BDC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6257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6D6B65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6D6B65"/>
                </a:solidFill>
                <a:latin typeface="Georgia"/>
                <a:ea typeface="Georgia"/>
                <a:cs typeface="Georgia"/>
              </a:rPr>
              <a:t>Action the user can trust</a:t>
            </a:r>
          </a:p>
        </p:txBody>
      </p:sp>
      <p:sp>
        <p:nvSpPr>
          <p:cNvPr id="32" name="rule-4">
            <a:extLst xmlns:a="http://schemas.openxmlformats.org/drawingml/2006/main">
              <a:ext uri="{FF2B5EF4-FFF2-40B4-BE49-F238E27FC236}">
                <a16:creationId xmlns:a16="http://schemas.microsoft.com/office/drawing/2014/main" id="{9EE57FAF-B7C8-4093-93CF-248AA300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800725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DC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075480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bar">
            <a:extLst xmlns:a="http://schemas.openxmlformats.org/drawingml/2006/main">
              <a:ext uri="{FF2B5EF4-FFF2-40B4-BE49-F238E27FC236}">
                <a16:creationId xmlns:a16="http://schemas.microsoft.com/office/drawing/2014/main" id="{DD6F30EE-2F6F-48E8-B3C6-F08CAB01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A47B91-F8C8-4EB1-BE7E-69F96ECC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14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✦  BUILD DAY ENTRY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9D1FC8-8E14-4E41-B5C3-23A1BECD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1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C9C7C0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C9C7C0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C7C03A-3C2B-4ED4-8CBE-870A77FC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1714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6AA68C-8191-4B23-86AE-40AED8CE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6D6B6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6D6B65"/>
                </a:solidFill>
                <a:latin typeface="Aptos"/>
                <a:ea typeface="Aptos"/>
                <a:cs typeface="Aptos"/>
              </a:rPr>
              <a:t>06 / MEASUREMENT</a:t>
            </a:r>
          </a:p>
        </p:txBody>
      </p:sp>
      <p:sp>
        <p:nvSpPr>
          <p:cNvPr id="6" name="evidence-title">
            <a:extLst xmlns:a="http://schemas.openxmlformats.org/drawingml/2006/main">
              <a:ext uri="{FF2B5EF4-FFF2-40B4-BE49-F238E27FC236}">
                <a16:creationId xmlns:a16="http://schemas.microsoft.com/office/drawing/2014/main" id="{30EBA7AD-3D8D-4AB8-9A74-1ADACB17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0" i="0">
                <a:solidFill>
                  <a:srgbClr val="0A0A0A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0" i="0">
                <a:solidFill>
                  <a:srgbClr val="0A0A0A"/>
                </a:solidFill>
                <a:latin typeface="Aptos Display"/>
                <a:ea typeface="Aptos Display"/>
                <a:cs typeface="Aptos Display"/>
              </a:rPr>
              <a:t>A credible win in one honest measurement.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17EB98-0437-47B8-96B5-364F40C5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9B2F86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B2F86"/>
                </a:solidFill>
                <a:latin typeface="Aptos"/>
                <a:ea typeface="Aptos"/>
                <a:cs typeface="Aptos"/>
              </a:rPr>
              <a:t>PRIMARY METRIC</a:t>
            </a:r>
          </a:p>
        </p:txBody>
      </p:sp>
      <p:sp>
        <p:nvSpPr>
          <p:cNvPr id="8" name="primary-success-metric">
            <a:extLst xmlns:a="http://schemas.openxmlformats.org/drawingml/2006/main">
              <a:ext uri="{FF2B5EF4-FFF2-40B4-BE49-F238E27FC236}">
                <a16:creationId xmlns:a16="http://schemas.microsoft.com/office/drawing/2014/main" id="{2C51481B-936D-4BEA-9126-FED99416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42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600" b="0" i="0">
                <a:solidFill>
                  <a:srgbClr val="0A0A0A"/>
                </a:solidFill>
                <a:latin typeface="Aptos Display"/>
                <a:ea typeface="Aptos Display"/>
                <a:cs typeface="Aptos Display"/>
              </a:defRPr>
            </a:pPr>
            <a:r>
              <a:rPr sz="6600" b="0" i="0">
                <a:solidFill>
                  <a:srgbClr val="0A0A0A"/>
                </a:solidFill>
                <a:latin typeface="Aptos Display"/>
                <a:ea typeface="Aptos Display"/>
                <a:cs typeface="Aptos Display"/>
              </a:rPr>
              <a:t>XX%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285510-73AF-4693-B191-5088F08C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71950"/>
            <a:ext cx="400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00" b="0" i="0">
                <a:solidFill>
                  <a:srgbClr val="0A0A0A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0A0A0A"/>
                </a:solidFill>
                <a:latin typeface="Georgia"/>
                <a:ea typeface="Georgia"/>
                <a:cs typeface="Georgia"/>
              </a:rPr>
              <a:t>Describe what changed, compared with what baseline, over what sample.</a:t>
            </a:r>
          </a:p>
        </p:txBody>
      </p:sp>
      <p:sp>
        <p:nvSpPr>
          <p:cNvPr id="10" name="metric-divider">
            <a:extLst xmlns:a="http://schemas.openxmlformats.org/drawingml/2006/main">
              <a:ext uri="{FF2B5EF4-FFF2-40B4-BE49-F238E27FC236}">
                <a16:creationId xmlns:a16="http://schemas.microsoft.com/office/drawing/2014/main" id="{22135E5E-8F8C-4104-BE5D-ADFCC37E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00300"/>
            <a:ext cx="95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D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BFF88E-F324-4A6D-A9A5-356A8F8D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812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0" i="0">
                <a:solidFill>
                  <a:srgbClr val="0A0A0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0" i="0">
                <a:solidFill>
                  <a:srgbClr val="0A0A0A"/>
                </a:solidFill>
                <a:latin typeface="Aptos Display"/>
                <a:ea typeface="Aptos Display"/>
                <a:cs typeface="Aptos Display"/>
              </a:rPr>
              <a:t>XX×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FDF9BB-7C6B-42AB-9E1E-1F659C10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193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9B2F86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B2F86"/>
                </a:solidFill>
                <a:latin typeface="Aptos"/>
                <a:ea typeface="Aptos"/>
                <a:cs typeface="Aptos"/>
              </a:rPr>
              <a:t>FASTER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E8BE3F-809A-47CD-8B7D-E81CEFFA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0510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6D6B65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6D6B65"/>
                </a:solidFill>
                <a:latin typeface="Georgia"/>
                <a:ea typeface="Georgia"/>
                <a:cs typeface="Georgia"/>
              </a:rPr>
              <a:t>Time-to-result versus baseline</a:t>
            </a:r>
          </a:p>
        </p:txBody>
      </p:sp>
      <p:sp>
        <p:nvSpPr>
          <p:cNvPr id="14" name="metric-rule-1">
            <a:extLst xmlns:a="http://schemas.openxmlformats.org/drawingml/2006/main">
              <a:ext uri="{FF2B5EF4-FFF2-40B4-BE49-F238E27FC236}">
                <a16:creationId xmlns:a16="http://schemas.microsoft.com/office/drawing/2014/main" id="{56CA4A80-6C38-4178-86FE-0C62D6C6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385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D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FF5FB7-93E1-430F-9EDB-3E7144F4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480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0" i="0">
                <a:solidFill>
                  <a:srgbClr val="0A0A0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0" i="0">
                <a:solidFill>
                  <a:srgbClr val="0A0A0A"/>
                </a:solidFill>
                <a:latin typeface="Aptos Display"/>
                <a:ea typeface="Aptos Display"/>
                <a:cs typeface="Aptos Display"/>
              </a:rPr>
              <a:t>XX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F29720-E786-4B1A-8297-347412C3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861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9B2F86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B2F86"/>
                </a:solidFill>
                <a:latin typeface="Aptos"/>
                <a:ea typeface="Aptos"/>
                <a:cs typeface="Aptos"/>
              </a:rPr>
              <a:t>RUNS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E8152F-5F63-4CA1-A5F9-BC4ED8E7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7190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6D6B65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6D6B65"/>
                </a:solidFill>
                <a:latin typeface="Georgia"/>
                <a:ea typeface="Georgia"/>
                <a:cs typeface="Georgia"/>
              </a:rPr>
              <a:t>State the sample size</a:t>
            </a:r>
          </a:p>
        </p:txBody>
      </p:sp>
      <p:sp>
        <p:nvSpPr>
          <p:cNvPr id="18" name="metric-rule-2">
            <a:extLst xmlns:a="http://schemas.openxmlformats.org/drawingml/2006/main">
              <a:ext uri="{FF2B5EF4-FFF2-40B4-BE49-F238E27FC236}">
                <a16:creationId xmlns:a16="http://schemas.microsoft.com/office/drawing/2014/main" id="{05407178-39B1-489F-988A-7CC2DAB9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053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D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823FCD-70B4-41D0-9817-69C1E719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148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0" i="0">
                <a:solidFill>
                  <a:srgbClr val="0A0A0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0" i="0">
                <a:solidFill>
                  <a:srgbClr val="0A0A0A"/>
                </a:solidFill>
                <a:latin typeface="Aptos Display"/>
                <a:ea typeface="Aptos Display"/>
                <a:cs typeface="Aptos Display"/>
              </a:rPr>
              <a:t>XX%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9A90DC-56F8-4406-A235-07417468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529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9B2F86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B2F86"/>
                </a:solidFill>
                <a:latin typeface="Aptos"/>
                <a:ea typeface="Aptos"/>
                <a:cs typeface="Aptos"/>
              </a:rPr>
              <a:t>SUCCESS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CFAB49-63B1-4DCD-9E91-EAB0A0E2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3870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6D6B65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6D6B65"/>
                </a:solidFill>
                <a:latin typeface="Georgia"/>
                <a:ea typeface="Georgia"/>
                <a:cs typeface="Georgia"/>
              </a:rPr>
              <a:t>Define success precisely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191D9E-11B0-4492-8809-7F55C3DB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6197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6D6B6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D6B65"/>
                </a:solidFill>
                <a:latin typeface="Aptos"/>
                <a:ea typeface="Aptos"/>
                <a:cs typeface="Aptos"/>
              </a:rPr>
              <a:t>REPLACE ALL SAMPLE VALUES · CITE THE SOURCE</a:t>
            </a:r>
          </a:p>
        </p:txBody>
      </p:sp>
    </p:spTree>
    <p:extLst>
      <p:ext uri="{BB962C8B-B14F-4D97-AF65-F5344CB8AC3E}">
        <p14:creationId xmlns:p14="http://schemas.microsoft.com/office/powerpoint/2010/main" val="7930142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bar">
            <a:extLst xmlns:a="http://schemas.openxmlformats.org/drawingml/2006/main">
              <a:ext uri="{FF2B5EF4-FFF2-40B4-BE49-F238E27FC236}">
                <a16:creationId xmlns:a16="http://schemas.microsoft.com/office/drawing/2014/main" id="{944B86CF-51F0-48C8-BB7B-024CA927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236ABE-19A3-476A-99EA-BCE5D1E3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14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✦  BUILD DAY ENTRY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FC3216-97AB-427C-9919-EB86DF59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1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C9C7C0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C9C7C0"/>
                </a:solidFill>
                <a:latin typeface="Aptos"/>
                <a:ea typeface="Aptos"/>
                <a:cs typeface="Aptos"/>
              </a:rPr>
              <a:t>WHY NOW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6EC334-43E0-419B-A76F-7221D7BF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1714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2235E9-D90E-42DA-BB58-496EC31D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6D6B6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6D6B65"/>
                </a:solidFill>
                <a:latin typeface="Aptos"/>
                <a:ea typeface="Aptos"/>
                <a:cs typeface="Aptos"/>
              </a:rPr>
              <a:t>07 / WHY THIS WINS</a:t>
            </a:r>
          </a:p>
        </p:txBody>
      </p:sp>
      <p:sp>
        <p:nvSpPr>
          <p:cNvPr id="6" name="why-now-title">
            <a:extLst xmlns:a="http://schemas.openxmlformats.org/drawingml/2006/main">
              <a:ext uri="{FF2B5EF4-FFF2-40B4-BE49-F238E27FC236}">
                <a16:creationId xmlns:a16="http://schemas.microsoft.com/office/drawing/2014/main" id="{CC02B12E-9A63-4281-82E0-6414CF4B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742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0" i="0">
                <a:solidFill>
                  <a:srgbClr val="0A0A0A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0" i="0">
                <a:solidFill>
                  <a:srgbClr val="0A0A0A"/>
                </a:solidFill>
                <a:latin typeface="Aptos Display"/>
                <a:ea typeface="Aptos Display"/>
                <a:cs typeface="Aptos Display"/>
              </a:rPr>
              <a:t>Why this idea matters now.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B23444-13C0-4769-9397-4F8A68DF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9B2F86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9B2F8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08E3E5-4537-42E9-A652-CEE1BA41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336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0" i="0">
                <a:solidFill>
                  <a:srgbClr val="0A0A0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0" i="0">
                <a:solidFill>
                  <a:srgbClr val="0A0A0A"/>
                </a:solidFill>
                <a:latin typeface="Aptos Display"/>
                <a:ea typeface="Aptos Display"/>
                <a:cs typeface="Aptos Display"/>
              </a:rPr>
              <a:t>A capability shift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A5B84C-5416-499D-A18D-F07B2022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71750"/>
            <a:ext cx="561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6D6B65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6D6B65"/>
                </a:solidFill>
                <a:latin typeface="Georgia"/>
                <a:ea typeface="Georgia"/>
                <a:cs typeface="Georgia"/>
              </a:rPr>
              <a:t>Name the model, platform, or behavior that only recently became possible.</a:t>
            </a:r>
          </a:p>
        </p:txBody>
      </p:sp>
      <p:sp>
        <p:nvSpPr>
          <p:cNvPr id="10" name="reason-rule-1">
            <a:extLst xmlns:a="http://schemas.openxmlformats.org/drawingml/2006/main">
              <a:ext uri="{FF2B5EF4-FFF2-40B4-BE49-F238E27FC236}">
                <a16:creationId xmlns:a16="http://schemas.microsoft.com/office/drawing/2014/main" id="{8214FE17-8DFB-4590-BB7F-43950F30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D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623C44-6074-4C13-92D0-83B5FA95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9B2F86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9B2F8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0EC7D4-E45F-4460-8742-C11C439E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766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0" i="0">
                <a:solidFill>
                  <a:srgbClr val="0A0A0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0" i="0">
                <a:solidFill>
                  <a:srgbClr val="0A0A0A"/>
                </a:solidFill>
                <a:latin typeface="Aptos Display"/>
                <a:ea typeface="Aptos Display"/>
                <a:cs typeface="Aptos Display"/>
              </a:rPr>
              <a:t>A distribution advantage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624643-5813-4D47-80DF-48735B33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714750"/>
            <a:ext cx="561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6D6B65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6D6B65"/>
                </a:solidFill>
                <a:latin typeface="Georgia"/>
                <a:ea typeface="Georgia"/>
                <a:cs typeface="Georgia"/>
              </a:rPr>
              <a:t>Explain how this reaches users faster than a technically similar product.</a:t>
            </a:r>
          </a:p>
        </p:txBody>
      </p:sp>
      <p:sp>
        <p:nvSpPr>
          <p:cNvPr id="14" name="reason-rule-2">
            <a:extLst xmlns:a="http://schemas.openxmlformats.org/drawingml/2006/main">
              <a:ext uri="{FF2B5EF4-FFF2-40B4-BE49-F238E27FC236}">
                <a16:creationId xmlns:a16="http://schemas.microsoft.com/office/drawing/2014/main" id="{194C36AF-A7D4-4D51-9978-157CD789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D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CF0538-E2E1-4BC2-AC66-9E423EAB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9B2F86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9B2F8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C77F50-13FE-4D2F-B1CD-1BF8053F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96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0" i="0">
                <a:solidFill>
                  <a:srgbClr val="0A0A0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0" i="0">
                <a:solidFill>
                  <a:srgbClr val="0A0A0A"/>
                </a:solidFill>
                <a:latin typeface="Aptos Display"/>
                <a:ea typeface="Aptos Display"/>
                <a:cs typeface="Aptos Display"/>
              </a:rPr>
              <a:t>A compounding moat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78EFF2-0715-4BA3-930D-3765E291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857750"/>
            <a:ext cx="561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6D6B65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6D6B65"/>
                </a:solidFill>
                <a:latin typeface="Georgia"/>
                <a:ea typeface="Georgia"/>
                <a:cs typeface="Georgia"/>
              </a:rPr>
              <a:t>Identify the data, workflow, or feedback loop that improves with every use.</a:t>
            </a:r>
          </a:p>
        </p:txBody>
      </p:sp>
      <p:sp>
        <p:nvSpPr>
          <p:cNvPr id="18" name="reason-rule-3">
            <a:extLst xmlns:a="http://schemas.openxmlformats.org/drawingml/2006/main">
              <a:ext uri="{FF2B5EF4-FFF2-40B4-BE49-F238E27FC236}">
                <a16:creationId xmlns:a16="http://schemas.microsoft.com/office/drawing/2014/main" id="{5665143E-4079-4937-98CC-825E7635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DC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161186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op-bar">
            <a:extLst xmlns:a="http://schemas.openxmlformats.org/drawingml/2006/main">
              <a:ext uri="{FF2B5EF4-FFF2-40B4-BE49-F238E27FC236}">
                <a16:creationId xmlns:a16="http://schemas.microsoft.com/office/drawing/2014/main" id="{A1B0AD88-A4B3-461F-9F75-F1595981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631861-191B-46FC-AC3A-B908F515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14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A0A0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A0A0A"/>
                </a:solidFill>
                <a:latin typeface="Aptos"/>
                <a:ea typeface="Aptos"/>
                <a:cs typeface="Aptos"/>
              </a:rPr>
              <a:t>✦  BUILD DAY ENTRY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25A957-FC75-4798-A317-C8DA4E1E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1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6D6B65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D6B65"/>
                </a:solidFill>
                <a:latin typeface="Aptos"/>
                <a:ea typeface="Aptos"/>
                <a:cs typeface="Aptos"/>
              </a:rPr>
              <a:t>TEAM + NEXT STEP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972BED-B9C6-4874-8D82-912744D4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1714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0A0A0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A0A0A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E9841A-6CD8-4CF2-B649-A801E8DB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DBBB4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BDBBB4"/>
                </a:solidFill>
                <a:latin typeface="Aptos"/>
                <a:ea typeface="Aptos"/>
                <a:cs typeface="Aptos"/>
              </a:rPr>
              <a:t>08 / CLOSE</a:t>
            </a:r>
          </a:p>
        </p:txBody>
      </p:sp>
      <p:sp>
        <p:nvSpPr>
          <p:cNvPr id="6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33FDF747-546B-40E2-A1CF-5CFBE0E4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7429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975" b="0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975" b="0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team can ship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975" b="0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975" b="0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next version.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6BD12D-5ECE-49E5-81F9-279CE8AC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NAME / ROLE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725FB2-86DA-42C4-935D-2A984AB0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338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BDBBB4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BDBBB4"/>
                </a:solidFill>
                <a:latin typeface="Georgia"/>
                <a:ea typeface="Georgia"/>
                <a:cs typeface="Georgia"/>
              </a:rPr>
              <a:t>One line of unusually relevant experience.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F2D94C-40D2-4DC2-A71A-8B4F2A23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33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NAME /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DF6A33-6604-4FC6-B3BB-2BB6C64F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338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BDBBB4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BDBBB4"/>
                </a:solidFill>
                <a:latin typeface="Georgia"/>
                <a:ea typeface="Georgia"/>
                <a:cs typeface="Georgia"/>
              </a:rPr>
              <a:t>One line of unusually relevant experience.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145DBD-B2A6-4711-9AC4-26BB32D7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33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NAME /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F08CA0-D114-4DAD-9A08-9FA49EB1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338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BDBBB4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BDBBB4"/>
                </a:solidFill>
                <a:latin typeface="Georgia"/>
                <a:ea typeface="Georgia"/>
                <a:cs typeface="Georgia"/>
              </a:rPr>
              <a:t>One line of unusually relevant experience.</a:t>
            </a:r>
          </a:p>
        </p:txBody>
      </p:sp>
      <p:sp>
        <p:nvSpPr>
          <p:cNvPr id="13" name="closing-rule">
            <a:extLst xmlns:a="http://schemas.openxmlformats.org/drawingml/2006/main">
              <a:ext uri="{FF2B5EF4-FFF2-40B4-BE49-F238E27FC236}">
                <a16:creationId xmlns:a16="http://schemas.microsoft.com/office/drawing/2014/main" id="{0F882B88-6415-462E-83B1-BEFC13D5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439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2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C2C2AA-4122-4B24-B3C7-BB48D978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9B2F86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9B2F86"/>
                </a:solidFill>
                <a:latin typeface="Aptos"/>
                <a:ea typeface="Aptos"/>
                <a:cs typeface="Aptos"/>
              </a:rPr>
              <a:t>WHAT WE NEED NEXT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3D7F8B-87F1-416C-A958-C13E5250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 pilot partner, a technical collaborator, or one concrete decision.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7015E5-05B8-47B3-AF47-722B7892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4673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DEMO URL / QR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C48DA1-D05A-4D4D-BA61-AD57928E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810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BDBBB4"/>
                </a:solidFill>
                <a:latin typeface="Georgia"/>
                <a:ea typeface="Georgia"/>
                <a:cs typeface="Georgia"/>
              </a:defRPr>
            </a:pPr>
            <a:r>
              <a:rPr sz="1050" b="0" i="0">
                <a:solidFill>
                  <a:srgbClr val="BDBBB4"/>
                </a:solidFill>
                <a:latin typeface="Georgia"/>
                <a:ea typeface="Georgia"/>
                <a:cs typeface="Georgia"/>
              </a:rPr>
              <a:t>Make the final request easy to answer.</a:t>
            </a:r>
          </a:p>
        </p:txBody>
      </p:sp>
    </p:spTree>
    <p:extLst>
      <p:ext uri="{BB962C8B-B14F-4D97-AF65-F5344CB8AC3E}">
        <p14:creationId xmlns:p14="http://schemas.microsoft.com/office/powerpoint/2010/main" val="14835094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2026-08-22T23:26:41.3620000Z</dcterms:created>
  <dcterms:modified xsi:type="dcterms:W3CDTF">2026-08-22T23:26:41.3620000Z</dcterms:modified>
</coreProperties>
</file>