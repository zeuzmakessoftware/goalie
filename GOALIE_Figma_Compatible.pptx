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C718F5A-38C7-45A9-9B54-0D50AF6E3B9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https://blog.agihouse.org/posts/long-horizon-agents-a-technical-primer (visual style reference)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OpenAI ImageGen (generated editorial hero image)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https://blog.agihouse.org/posts/long-horizon-agents-a-technical-primer (visual style reference)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https://blog.agihouse.org/posts/long-horizon-agents-a-technical-primer (visual style reference)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https://blog.agihouse.org/posts/long-horizon-agents-a-technical-primer (visual style reference)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https://blog.agihouse.org/posts/long-horizon-agents-a-technical-primer (visual style reference)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https://blog.agihouse.org/posts/long-horizon-agents-a-technical-primer (visual style reference)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https://blog.agihouse.org/posts/long-horizon-agents-a-technical-primer (visual style reference)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https://blog.agihouse.org/posts/long-horizon-agents-a-technical-primer (visual style reference)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https://blog.agihouse.org/posts/long-horizon-agents-a-technical-primer (visual style reference)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op-bar"/>
          <p:cNvSpPr/>
          <p:nvPr/>
        </p:nvSpPr>
        <p:spPr>
          <a:xfrm>
            <a:off x="0" y="0"/>
            <a:ext cx="12191760" cy="552240"/>
          </a:xfrm>
          <a:prstGeom prst="rect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285840" y="171360"/>
            <a:ext cx="2476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✦  BUILD DAY ENTRY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810560" y="171360"/>
            <a:ext cx="3142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C9C7C0"/>
                </a:solidFill>
                <a:effectLst/>
                <a:uFillTx/>
                <a:latin typeface="Aptos"/>
                <a:ea typeface="Aptos"/>
              </a:rPr>
              <a:t>COVER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11239560" y="171360"/>
            <a:ext cx="666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09480" y="914400"/>
            <a:ext cx="476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LONG-HORIZON AGENTS BUILD DAY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roject-name"/>
          <p:cNvSpPr/>
          <p:nvPr/>
        </p:nvSpPr>
        <p:spPr>
          <a:xfrm>
            <a:off x="609480" y="1285920"/>
            <a:ext cx="971532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90000"/>
              </a:lnSpc>
            </a:pPr>
            <a:r>
              <a:rPr lang="en-US" sz="465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PROJECT NAME</a:t>
            </a:r>
            <a:endParaRPr lang="en-US" sz="4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one-line-value-proposition"/>
          <p:cNvSpPr/>
          <p:nvPr/>
        </p:nvSpPr>
        <p:spPr>
          <a:xfrm>
            <a:off x="647640" y="2543040"/>
            <a:ext cx="809604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12000"/>
              </a:lnSpc>
            </a:pPr>
            <a:r>
              <a:rPr lang="en-US" sz="1800" b="0" u="none" strike="noStrike">
                <a:solidFill>
                  <a:srgbClr val="0A0A0A"/>
                </a:solidFill>
                <a:effectLst/>
                <a:uFillTx/>
                <a:latin typeface="Georgia"/>
                <a:ea typeface="Georgia"/>
              </a:rPr>
              <a:t>One sentence that makes the product impossible to misunderstand.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647640" y="3371760"/>
            <a:ext cx="476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TEAM NAME  ·  AUG 22, 2026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"/>
          <p:cNvPicPr/>
          <p:nvPr/>
        </p:nvPicPr>
        <p:blipFill>
          <a:blip r:embed="rId1"/>
          <a:srcRect l="0" t="27646" r="0" b="27646"/>
          <a:stretch/>
        </p:blipFill>
        <p:spPr>
          <a:xfrm>
            <a:off x="0" y="3790800"/>
            <a:ext cx="12191760" cy="306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hero-caption-band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0A0A0A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04920" y="6534000"/>
            <a:ext cx="34286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HACKATHON ENTRY TEMPLATE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7429680" y="6534000"/>
            <a:ext cx="43812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820" b="0" u="none" strike="noStrike">
                <a:solidFill>
                  <a:srgbClr val="D8D7D1"/>
                </a:solidFill>
                <a:effectLst/>
                <a:uFillTx/>
                <a:latin typeface="Aptos"/>
                <a:ea typeface="Aptos"/>
              </a:rPr>
              <a:t>REPLACE EVERY PLACEHOLDER BEFORE PRESENTING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p-bar"/>
          <p:cNvSpPr/>
          <p:nvPr/>
        </p:nvSpPr>
        <p:spPr>
          <a:xfrm>
            <a:off x="0" y="0"/>
            <a:ext cx="12191760" cy="552240"/>
          </a:xfrm>
          <a:prstGeom prst="rect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285840" y="171360"/>
            <a:ext cx="2476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✦  BUILD DAY ENTRY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7810560" y="171360"/>
            <a:ext cx="3142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C9C7C0"/>
                </a:solidFill>
                <a:effectLst/>
                <a:uFillTx/>
                <a:latin typeface="Aptos"/>
                <a:ea typeface="Aptos"/>
              </a:rPr>
              <a:t>PROBLEM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1239560" y="171360"/>
            <a:ext cx="666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609480" y="952560"/>
            <a:ext cx="1618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0A0A0A"/>
                </a:solidFill>
                <a:effectLst/>
                <a:uFillTx/>
                <a:latin typeface="Aptos"/>
                <a:ea typeface="Aptos"/>
              </a:rPr>
              <a:t>CONTENTS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09480" y="1380960"/>
            <a:ext cx="1428480" cy="16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35000"/>
              </a:lnSpc>
            </a:pPr>
            <a:r>
              <a:rPr lang="en-US" sz="120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Problem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lang="en-US" sz="120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Who feels 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lang="en-US" sz="120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Why it persists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lang="en-US" sz="120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What it costs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editorial-rule"/>
          <p:cNvSpPr/>
          <p:nvPr/>
        </p:nvSpPr>
        <p:spPr>
          <a:xfrm>
            <a:off x="2266920" y="1028880"/>
            <a:ext cx="9000" cy="4857480"/>
          </a:xfrm>
          <a:prstGeom prst="rect">
            <a:avLst/>
          </a:prstGeom>
          <a:solidFill>
            <a:srgbClr val="CFCD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2714760" y="933480"/>
            <a:ext cx="476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01 / PROBLEM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roblem-title"/>
          <p:cNvSpPr/>
          <p:nvPr/>
        </p:nvSpPr>
        <p:spPr>
          <a:xfrm>
            <a:off x="2714760" y="1333440"/>
            <a:ext cx="8572320" cy="13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94000"/>
              </a:lnSpc>
            </a:pPr>
            <a:r>
              <a:rPr lang="en-US" sz="360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The problem is visible.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en-US" sz="360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The cost is compounding.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2714760" y="2971800"/>
            <a:ext cx="742932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28000"/>
              </a:lnSpc>
            </a:pPr>
            <a:r>
              <a:rPr lang="en-US" sz="1650" b="0" u="none" strike="noStrike">
                <a:solidFill>
                  <a:srgbClr val="0A0A0A"/>
                </a:solidFill>
                <a:effectLst/>
                <a:uFillTx/>
                <a:latin typeface="Georgia"/>
                <a:ea typeface="Georgia"/>
              </a:rPr>
              <a:t>Describe the user, the moment the workflow breaks, and why existing solutions still leave the hard part unresolved.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rimary-problem-metric"/>
          <p:cNvSpPr/>
          <p:nvPr/>
        </p:nvSpPr>
        <p:spPr>
          <a:xfrm>
            <a:off x="2714760" y="4305240"/>
            <a:ext cx="2476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540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XX%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429160" y="4438800"/>
            <a:ext cx="533376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20000"/>
              </a:lnSpc>
            </a:pPr>
            <a:r>
              <a:rPr lang="en-US" sz="1130" b="0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PRIMARY COST OR FAILURE RATE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130" b="0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Add the source and sample size in one line.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accent-rule"/>
          <p:cNvSpPr/>
          <p:nvPr/>
        </p:nvSpPr>
        <p:spPr>
          <a:xfrm>
            <a:off x="2714760" y="5524560"/>
            <a:ext cx="8143560" cy="18720"/>
          </a:xfrm>
          <a:prstGeom prst="rect">
            <a:avLst/>
          </a:prstGeom>
          <a:solidFill>
            <a:srgbClr val="9B2F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2714760" y="566748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050" b="0" i="1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The audience should feel the problem before they hear the feature list.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op-bar"/>
          <p:cNvSpPr/>
          <p:nvPr/>
        </p:nvSpPr>
        <p:spPr>
          <a:xfrm>
            <a:off x="0" y="0"/>
            <a:ext cx="12191760" cy="552240"/>
          </a:xfrm>
          <a:prstGeom prst="rect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285840" y="171360"/>
            <a:ext cx="2476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✦  BUILD DAY ENTRY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7810560" y="171360"/>
            <a:ext cx="3142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C9C7C0"/>
                </a:solidFill>
                <a:effectLst/>
                <a:uFillTx/>
                <a:latin typeface="Aptos"/>
                <a:ea typeface="Aptos"/>
              </a:rPr>
              <a:t>INSIGHT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1239560" y="171360"/>
            <a:ext cx="666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09480" y="876240"/>
            <a:ext cx="476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02 / THE INSIGHT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core-insight"/>
          <p:cNvSpPr/>
          <p:nvPr/>
        </p:nvSpPr>
        <p:spPr>
          <a:xfrm>
            <a:off x="1047600" y="1762200"/>
            <a:ext cx="1009620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3000"/>
              </a:lnSpc>
            </a:pPr>
            <a:r>
              <a:rPr lang="en-US" sz="3820" b="0" u="none" strike="noStrike">
                <a:solidFill>
                  <a:srgbClr val="0A0A0A"/>
                </a:solidFill>
                <a:effectLst/>
                <a:uFillTx/>
                <a:latin typeface="Georgia"/>
                <a:ea typeface="Georgia"/>
              </a:rPr>
              <a:t>“The non-obvious thing</a:t>
            </a:r>
            <a:endParaRPr lang="en-US" sz="3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3000"/>
              </a:lnSpc>
            </a:pPr>
            <a:r>
              <a:rPr lang="en-US" sz="3820" b="0" u="none" strike="noStrike">
                <a:solidFill>
                  <a:srgbClr val="0A0A0A"/>
                </a:solidFill>
                <a:effectLst/>
                <a:uFillTx/>
                <a:latin typeface="Georgia"/>
                <a:ea typeface="Georgia"/>
              </a:rPr>
              <a:t>we learned goes here.”</a:t>
            </a:r>
            <a:endParaRPr lang="en-US" sz="3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accent-rule"/>
          <p:cNvSpPr/>
          <p:nvPr/>
        </p:nvSpPr>
        <p:spPr>
          <a:xfrm>
            <a:off x="4095720" y="4000680"/>
            <a:ext cx="4000320" cy="18720"/>
          </a:xfrm>
          <a:prstGeom prst="rect">
            <a:avLst/>
          </a:prstGeom>
          <a:solidFill>
            <a:srgbClr val="9B2F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2571840" y="4400640"/>
            <a:ext cx="70480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20000"/>
              </a:lnSpc>
            </a:pPr>
            <a:r>
              <a:rPr lang="en-US" sz="1500" b="0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Explain why this insight changes the design of the product—not merely how you describe it.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3905280" y="5619600"/>
            <a:ext cx="43812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900" b="1" u="none" strike="noStrike">
                <a:solidFill>
                  <a:srgbClr val="9B2F86"/>
                </a:solidFill>
                <a:effectLst/>
                <a:uFillTx/>
                <a:latin typeface="Aptos"/>
                <a:ea typeface="Aptos"/>
              </a:rPr>
              <a:t>EVIDENCE / OBSERVATION / USER QUOTE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op-bar"/>
          <p:cNvSpPr/>
          <p:nvPr/>
        </p:nvSpPr>
        <p:spPr>
          <a:xfrm>
            <a:off x="0" y="0"/>
            <a:ext cx="12191760" cy="552240"/>
          </a:xfrm>
          <a:prstGeom prst="rect">
            <a:avLst/>
          </a:prstGeom>
          <a:solidFill>
            <a:srgbClr val="F4F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285840" y="171360"/>
            <a:ext cx="2476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0A0A0A"/>
                </a:solidFill>
                <a:effectLst/>
                <a:uFillTx/>
                <a:latin typeface="Aptos"/>
                <a:ea typeface="Aptos"/>
              </a:rPr>
              <a:t>✦  BUILD DAY ENTRY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810560" y="171360"/>
            <a:ext cx="3142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SOLUTION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1239560" y="171360"/>
            <a:ext cx="666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0A0A0A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09480" y="914400"/>
            <a:ext cx="476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BDBBB4"/>
                </a:solidFill>
                <a:effectLst/>
                <a:uFillTx/>
                <a:latin typeface="Aptos"/>
                <a:ea typeface="Aptos"/>
              </a:rPr>
              <a:t>03 / SOLUTION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olution-title"/>
          <p:cNvSpPr/>
          <p:nvPr/>
        </p:nvSpPr>
        <p:spPr>
          <a:xfrm>
            <a:off x="609480" y="1333440"/>
            <a:ext cx="9334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450" b="0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 focused system that closes the loop.</a:t>
            </a:r>
            <a:endParaRPr lang="en-US" sz="3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28560" y="2152800"/>
            <a:ext cx="66672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D5D3CC"/>
                </a:solidFill>
                <a:effectLst/>
                <a:uFillTx/>
                <a:latin typeface="Georgia"/>
                <a:ea typeface="Georgia"/>
              </a:rPr>
              <a:t>Replace these three verbs with the core behavior of your product.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rocess-line"/>
          <p:cNvSpPr/>
          <p:nvPr/>
        </p:nvSpPr>
        <p:spPr>
          <a:xfrm>
            <a:off x="1238400" y="3676680"/>
            <a:ext cx="8096040" cy="18720"/>
          </a:xfrm>
          <a:prstGeom prst="rect">
            <a:avLst/>
          </a:prstGeom>
          <a:solidFill>
            <a:srgbClr val="4B4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66720" y="3333600"/>
            <a:ext cx="685440" cy="68544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666720" y="3533760"/>
            <a:ext cx="6854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47640" y="4305240"/>
            <a:ext cx="2476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OBSERVE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47640" y="4762440"/>
            <a:ext cx="27144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20000"/>
              </a:lnSpc>
            </a:pPr>
            <a:r>
              <a:rPr lang="en-US" sz="1280" b="0" u="none" strike="noStrike">
                <a:solidFill>
                  <a:srgbClr val="C9C7C0"/>
                </a:solidFill>
                <a:effectLst/>
                <a:uFillTx/>
                <a:latin typeface="Georgia"/>
                <a:ea typeface="Georgia"/>
              </a:rPr>
              <a:t>What signal enters the system?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191120" y="3333600"/>
            <a:ext cx="685440" cy="685440"/>
          </a:xfrm>
          <a:prstGeom prst="ellipse">
            <a:avLst/>
          </a:prstGeom>
          <a:solidFill>
            <a:srgbClr val="9B2F86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191120" y="3533760"/>
            <a:ext cx="6854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172040" y="4305240"/>
            <a:ext cx="2476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DECIDE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172040" y="4762440"/>
            <a:ext cx="27144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20000"/>
              </a:lnSpc>
            </a:pPr>
            <a:r>
              <a:rPr lang="en-US" sz="1280" b="0" u="none" strike="noStrike">
                <a:solidFill>
                  <a:srgbClr val="C9C7C0"/>
                </a:solidFill>
                <a:effectLst/>
                <a:uFillTx/>
                <a:latin typeface="Georgia"/>
                <a:ea typeface="Georgia"/>
              </a:rPr>
              <a:t>What reasoning or model changes the outcome?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715160" y="3333600"/>
            <a:ext cx="685440" cy="68544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715160" y="3533760"/>
            <a:ext cx="6854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696080" y="4305240"/>
            <a:ext cx="2476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VERIFY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7696080" y="4762440"/>
            <a:ext cx="27144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20000"/>
              </a:lnSpc>
            </a:pPr>
            <a:r>
              <a:rPr lang="en-US" sz="1280" b="0" u="none" strike="noStrike">
                <a:solidFill>
                  <a:srgbClr val="C9C7C0"/>
                </a:solidFill>
                <a:effectLst/>
                <a:uFillTx/>
                <a:latin typeface="Georgia"/>
                <a:ea typeface="Georgia"/>
              </a:rPr>
              <a:t>How does the system know it worked?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66720" y="6114960"/>
            <a:ext cx="8381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9B2F86"/>
                </a:solidFill>
                <a:effectLst/>
                <a:uFillTx/>
                <a:latin typeface="Aptos"/>
                <a:ea typeface="Aptos"/>
              </a:rPr>
              <a:t>ONE LINE ON THE DELIGHTFUL DIFFERENCE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op-bar"/>
          <p:cNvSpPr/>
          <p:nvPr/>
        </p:nvSpPr>
        <p:spPr>
          <a:xfrm>
            <a:off x="0" y="0"/>
            <a:ext cx="12191760" cy="552240"/>
          </a:xfrm>
          <a:prstGeom prst="rect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285840" y="171360"/>
            <a:ext cx="2476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✦  BUILD DAY ENTRY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7810560" y="171360"/>
            <a:ext cx="3142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C9C7C0"/>
                </a:solidFill>
                <a:effectLst/>
                <a:uFillTx/>
                <a:latin typeface="Aptos"/>
                <a:ea typeface="Aptos"/>
              </a:rPr>
              <a:t>DEMO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1239560" y="171360"/>
            <a:ext cx="666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609480" y="876240"/>
            <a:ext cx="476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04 / PRODUCT DEMO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demo-title"/>
          <p:cNvSpPr/>
          <p:nvPr/>
        </p:nvSpPr>
        <p:spPr>
          <a:xfrm>
            <a:off x="609480" y="1257480"/>
            <a:ext cx="885780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23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Show the product doing the hard part.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roduct-demo-placeholder"/>
          <p:cNvSpPr/>
          <p:nvPr/>
        </p:nvSpPr>
        <p:spPr>
          <a:xfrm>
            <a:off x="609480" y="2095560"/>
            <a:ext cx="10972440" cy="3676320"/>
          </a:xfrm>
          <a:prstGeom prst="rect">
            <a:avLst/>
          </a:prstGeom>
          <a:solidFill>
            <a:srgbClr val="BEC4C4"/>
          </a:solidFill>
          <a:ln w="9525">
            <a:solidFill>
              <a:srgbClr val="0A0A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238560" y="3295800"/>
            <a:ext cx="571464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320" b="0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DROP PRODUCT DEMO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320" b="0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OR SCREENSHOT HERE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800280" y="2305080"/>
            <a:ext cx="475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09480" y="5981760"/>
            <a:ext cx="8000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Caption the moment judges should notice. Keep it specific.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9715680" y="5981760"/>
            <a:ext cx="1866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9B2F86"/>
                </a:solidFill>
                <a:effectLst/>
                <a:uFillTx/>
                <a:latin typeface="Aptos"/>
                <a:ea typeface="Aptos"/>
              </a:rPr>
              <a:t>LIVE DEMO →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op-bar"/>
          <p:cNvSpPr/>
          <p:nvPr/>
        </p:nvSpPr>
        <p:spPr>
          <a:xfrm>
            <a:off x="0" y="0"/>
            <a:ext cx="12191760" cy="552240"/>
          </a:xfrm>
          <a:prstGeom prst="rect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285840" y="171360"/>
            <a:ext cx="2476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✦  BUILD DAY ENTRY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7810560" y="171360"/>
            <a:ext cx="3142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C9C7C0"/>
                </a:solidFill>
                <a:effectLst/>
                <a:uFillTx/>
                <a:latin typeface="Aptos"/>
                <a:ea typeface="Aptos"/>
              </a:rPr>
              <a:t>ARCHITECTURE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1239560" y="171360"/>
            <a:ext cx="666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609480" y="876240"/>
            <a:ext cx="476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05 / SYSTEM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architecture-title"/>
          <p:cNvSpPr/>
          <p:nvPr/>
        </p:nvSpPr>
        <p:spPr>
          <a:xfrm>
            <a:off x="609480" y="1295280"/>
            <a:ext cx="5333760" cy="11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94000"/>
              </a:lnSpc>
            </a:pPr>
            <a:r>
              <a:rPr lang="en-US" sz="315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The architecture protects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en-US" sz="315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the product promise.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28560" y="2666880"/>
            <a:ext cx="438120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28000"/>
              </a:lnSpc>
            </a:pPr>
            <a:r>
              <a:rPr lang="en-US" sz="1580" b="0" u="none" strike="noStrike">
                <a:solidFill>
                  <a:srgbClr val="0A0A0A"/>
                </a:solidFill>
                <a:effectLst/>
                <a:uFillTx/>
                <a:latin typeface="Georgia"/>
                <a:ea typeface="Georgia"/>
              </a:rPr>
              <a:t>Name the one technical choice that makes the demo credible: persistence, verification, latency, data access, or safety.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28560" y="4334040"/>
            <a:ext cx="1714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9B2F86"/>
                </a:solidFill>
                <a:effectLst/>
                <a:uFillTx/>
                <a:latin typeface="Aptos"/>
                <a:ea typeface="Aptos"/>
              </a:rPr>
              <a:t>TECHNICAL EDGE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28560" y="4648320"/>
            <a:ext cx="4095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20000"/>
              </a:lnSpc>
            </a:pPr>
            <a:r>
              <a:rPr lang="en-US" sz="1280" b="0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One concise sentence on what is genuinely hard to reproduce.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onnector-1"/>
          <p:cNvSpPr/>
          <p:nvPr/>
        </p:nvSpPr>
        <p:spPr>
          <a:xfrm>
            <a:off x="6896160" y="2009880"/>
            <a:ext cx="18720" cy="399600"/>
          </a:xfrm>
          <a:prstGeom prst="rect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572160" y="1419120"/>
            <a:ext cx="666360" cy="666360"/>
          </a:xfrm>
          <a:prstGeom prst="ellipse">
            <a:avLst/>
          </a:prstGeom>
          <a:solidFill>
            <a:srgbClr val="F4F3EE"/>
          </a:solidFill>
          <a:ln w="19050">
            <a:solidFill>
              <a:srgbClr val="0A0A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572160" y="1638360"/>
            <a:ext cx="666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0A0A0A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524720" y="1362240"/>
            <a:ext cx="3333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INPUT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524720" y="1704960"/>
            <a:ext cx="3333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Trigger, context, or user intent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ule-1"/>
          <p:cNvSpPr/>
          <p:nvPr/>
        </p:nvSpPr>
        <p:spPr>
          <a:xfrm>
            <a:off x="7524720" y="2143080"/>
            <a:ext cx="3333240" cy="9000"/>
          </a:xfrm>
          <a:prstGeom prst="rect">
            <a:avLst/>
          </a:prstGeom>
          <a:solidFill>
            <a:srgbClr val="CFCD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onnector-2"/>
          <p:cNvSpPr/>
          <p:nvPr/>
        </p:nvSpPr>
        <p:spPr>
          <a:xfrm>
            <a:off x="6896160" y="3228840"/>
            <a:ext cx="18720" cy="399600"/>
          </a:xfrm>
          <a:prstGeom prst="rect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572160" y="2638440"/>
            <a:ext cx="666360" cy="666360"/>
          </a:xfrm>
          <a:prstGeom prst="ellipse">
            <a:avLst/>
          </a:prstGeom>
          <a:solidFill>
            <a:srgbClr val="F4F3EE"/>
          </a:solidFill>
          <a:ln w="19050">
            <a:solidFill>
              <a:srgbClr val="0A0A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572160" y="2857680"/>
            <a:ext cx="666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0A0A0A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7524720" y="2581200"/>
            <a:ext cx="3333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AGENT LOOP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7524720" y="2924280"/>
            <a:ext cx="3333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Plan → tool use → checkpoint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ule-2"/>
          <p:cNvSpPr/>
          <p:nvPr/>
        </p:nvSpPr>
        <p:spPr>
          <a:xfrm>
            <a:off x="7524720" y="3362400"/>
            <a:ext cx="3333240" cy="9000"/>
          </a:xfrm>
          <a:prstGeom prst="rect">
            <a:avLst/>
          </a:prstGeom>
          <a:solidFill>
            <a:srgbClr val="CFCD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onnector-3"/>
          <p:cNvSpPr/>
          <p:nvPr/>
        </p:nvSpPr>
        <p:spPr>
          <a:xfrm>
            <a:off x="6896160" y="4448160"/>
            <a:ext cx="18720" cy="399600"/>
          </a:xfrm>
          <a:prstGeom prst="rect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572160" y="3857760"/>
            <a:ext cx="666360" cy="666360"/>
          </a:xfrm>
          <a:prstGeom prst="ellipse">
            <a:avLst/>
          </a:prstGeom>
          <a:solidFill>
            <a:srgbClr val="9B2F86"/>
          </a:solidFill>
          <a:ln w="19050">
            <a:solidFill>
              <a:srgbClr val="0A0A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572160" y="4076640"/>
            <a:ext cx="666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7524720" y="3800520"/>
            <a:ext cx="3333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VERIFIER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7524720" y="4143240"/>
            <a:ext cx="3333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Environment state or 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ule-3"/>
          <p:cNvSpPr/>
          <p:nvPr/>
        </p:nvSpPr>
        <p:spPr>
          <a:xfrm>
            <a:off x="7524720" y="4581360"/>
            <a:ext cx="3333240" cy="9000"/>
          </a:xfrm>
          <a:prstGeom prst="rect">
            <a:avLst/>
          </a:prstGeom>
          <a:solidFill>
            <a:srgbClr val="CFCD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6572160" y="5076720"/>
            <a:ext cx="666360" cy="666360"/>
          </a:xfrm>
          <a:prstGeom prst="ellipse">
            <a:avLst/>
          </a:prstGeom>
          <a:solidFill>
            <a:srgbClr val="F4F3EE"/>
          </a:solidFill>
          <a:ln w="19050">
            <a:solidFill>
              <a:srgbClr val="0A0A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6572160" y="5295960"/>
            <a:ext cx="666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0A0A0A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7524720" y="5019840"/>
            <a:ext cx="3333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OUTCOME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7524720" y="5362560"/>
            <a:ext cx="3333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Action the user can trust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ule-4"/>
          <p:cNvSpPr/>
          <p:nvPr/>
        </p:nvSpPr>
        <p:spPr>
          <a:xfrm>
            <a:off x="7524720" y="5800680"/>
            <a:ext cx="3333240" cy="9000"/>
          </a:xfrm>
          <a:prstGeom prst="rect">
            <a:avLst/>
          </a:prstGeom>
          <a:solidFill>
            <a:srgbClr val="CFCD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op-bar"/>
          <p:cNvSpPr/>
          <p:nvPr/>
        </p:nvSpPr>
        <p:spPr>
          <a:xfrm>
            <a:off x="0" y="0"/>
            <a:ext cx="12191760" cy="552240"/>
          </a:xfrm>
          <a:prstGeom prst="rect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85840" y="171360"/>
            <a:ext cx="2476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✦  BUILD DAY ENTRY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810560" y="171360"/>
            <a:ext cx="3142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C9C7C0"/>
                </a:solidFill>
                <a:effectLst/>
                <a:uFillTx/>
                <a:latin typeface="Aptos"/>
                <a:ea typeface="Aptos"/>
              </a:rPr>
              <a:t>EVIDENCE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1239560" y="171360"/>
            <a:ext cx="666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09480" y="876240"/>
            <a:ext cx="476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06 / MEASUREMENT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evidence-title"/>
          <p:cNvSpPr/>
          <p:nvPr/>
        </p:nvSpPr>
        <p:spPr>
          <a:xfrm>
            <a:off x="609480" y="1285920"/>
            <a:ext cx="95245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45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A credible win in one honest measurement.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28560" y="2476440"/>
            <a:ext cx="2285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9B2F86"/>
                </a:solidFill>
                <a:effectLst/>
                <a:uFillTx/>
                <a:latin typeface="Aptos"/>
                <a:ea typeface="Aptos"/>
              </a:rPr>
              <a:t>PRIMARY METRIC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rimary-success-metric"/>
          <p:cNvSpPr/>
          <p:nvPr/>
        </p:nvSpPr>
        <p:spPr>
          <a:xfrm>
            <a:off x="609480" y="2857680"/>
            <a:ext cx="34286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660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XX%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28560" y="4172040"/>
            <a:ext cx="400032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24000"/>
              </a:lnSpc>
            </a:pPr>
            <a:r>
              <a:rPr lang="en-US" sz="1500" b="0" u="none" strike="noStrike">
                <a:solidFill>
                  <a:srgbClr val="0A0A0A"/>
                </a:solidFill>
                <a:effectLst/>
                <a:uFillTx/>
                <a:latin typeface="Georgia"/>
                <a:ea typeface="Georgia"/>
              </a:rPr>
              <a:t>Describe what changed, compared with what baseline, over what sample.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metric-divider"/>
          <p:cNvSpPr/>
          <p:nvPr/>
        </p:nvSpPr>
        <p:spPr>
          <a:xfrm>
            <a:off x="5143680" y="2400480"/>
            <a:ext cx="9000" cy="3142800"/>
          </a:xfrm>
          <a:prstGeom prst="rect">
            <a:avLst/>
          </a:prstGeom>
          <a:solidFill>
            <a:srgbClr val="CFCD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5810400" y="2381400"/>
            <a:ext cx="18093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XX×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7810560" y="241920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9B2F86"/>
                </a:solidFill>
                <a:effectLst/>
                <a:uFillTx/>
                <a:latin typeface="Aptos"/>
                <a:ea typeface="Aptos"/>
              </a:rPr>
              <a:t>FASTER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7810560" y="2705040"/>
            <a:ext cx="3333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Time-to-result versus baseline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metric-rule-1"/>
          <p:cNvSpPr/>
          <p:nvPr/>
        </p:nvSpPr>
        <p:spPr>
          <a:xfrm>
            <a:off x="5810400" y="3238560"/>
            <a:ext cx="5143320" cy="9000"/>
          </a:xfrm>
          <a:prstGeom prst="rect">
            <a:avLst/>
          </a:prstGeom>
          <a:solidFill>
            <a:srgbClr val="CFCD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5810400" y="3448080"/>
            <a:ext cx="18093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XX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7810560" y="348624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9B2F86"/>
                </a:solidFill>
                <a:effectLst/>
                <a:uFillTx/>
                <a:latin typeface="Aptos"/>
                <a:ea typeface="Aptos"/>
              </a:rPr>
              <a:t>RUNS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7810560" y="3772080"/>
            <a:ext cx="3333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State the sample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metric-rule-2"/>
          <p:cNvSpPr/>
          <p:nvPr/>
        </p:nvSpPr>
        <p:spPr>
          <a:xfrm>
            <a:off x="5810400" y="4305240"/>
            <a:ext cx="5143320" cy="9000"/>
          </a:xfrm>
          <a:prstGeom prst="rect">
            <a:avLst/>
          </a:prstGeom>
          <a:solidFill>
            <a:srgbClr val="CFCD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810400" y="4514760"/>
            <a:ext cx="18093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15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XX%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7810560" y="4552920"/>
            <a:ext cx="1809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9B2F86"/>
                </a:solidFill>
                <a:effectLst/>
                <a:uFillTx/>
                <a:latin typeface="Aptos"/>
                <a:ea typeface="Aptos"/>
              </a:rPr>
              <a:t>SUCCESS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7810560" y="4838760"/>
            <a:ext cx="3333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Define success precisely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810400" y="5619600"/>
            <a:ext cx="5143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REPLACE ALL SAMPLE VALUES · CITE THE SOURCE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op-bar"/>
          <p:cNvSpPr/>
          <p:nvPr/>
        </p:nvSpPr>
        <p:spPr>
          <a:xfrm>
            <a:off x="0" y="0"/>
            <a:ext cx="12191760" cy="552240"/>
          </a:xfrm>
          <a:prstGeom prst="rect">
            <a:avLst/>
          </a:prstGeom>
          <a:solidFill>
            <a:srgbClr val="0A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285840" y="171360"/>
            <a:ext cx="2476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✦  BUILD DAY ENTRY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810560" y="171360"/>
            <a:ext cx="3142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C9C7C0"/>
                </a:solidFill>
                <a:effectLst/>
                <a:uFillTx/>
                <a:latin typeface="Aptos"/>
                <a:ea typeface="Aptos"/>
              </a:rPr>
              <a:t>WHY NOW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11239560" y="171360"/>
            <a:ext cx="666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09480" y="876240"/>
            <a:ext cx="476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07 / WHY THIS WINS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why-now-title"/>
          <p:cNvSpPr/>
          <p:nvPr/>
        </p:nvSpPr>
        <p:spPr>
          <a:xfrm>
            <a:off x="609480" y="1295280"/>
            <a:ext cx="74293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353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Why this idea matters now.</a:t>
            </a:r>
            <a:endParaRPr lang="en-US" sz="3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609480" y="2571840"/>
            <a:ext cx="761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9B2F86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714680" y="2533680"/>
            <a:ext cx="34286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202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A capability shift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5429160" y="2571840"/>
            <a:ext cx="56192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18000"/>
              </a:lnSpc>
            </a:pPr>
            <a:r>
              <a:rPr lang="en-US" sz="135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Name the model, platform, or behavior that only recently became possible.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ason-rule-1"/>
          <p:cNvSpPr/>
          <p:nvPr/>
        </p:nvSpPr>
        <p:spPr>
          <a:xfrm>
            <a:off x="609480" y="3314880"/>
            <a:ext cx="10438920" cy="9000"/>
          </a:xfrm>
          <a:prstGeom prst="rect">
            <a:avLst/>
          </a:prstGeom>
          <a:solidFill>
            <a:srgbClr val="CFCD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609480" y="3714840"/>
            <a:ext cx="761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9B2F86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1714680" y="3676680"/>
            <a:ext cx="34286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202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A distribution advantage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5429160" y="3714840"/>
            <a:ext cx="56192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18000"/>
              </a:lnSpc>
            </a:pPr>
            <a:r>
              <a:rPr lang="en-US" sz="135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Explain how this reaches users faster than a technically similar product.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ason-rule-2"/>
          <p:cNvSpPr/>
          <p:nvPr/>
        </p:nvSpPr>
        <p:spPr>
          <a:xfrm>
            <a:off x="609480" y="4457880"/>
            <a:ext cx="10438920" cy="9000"/>
          </a:xfrm>
          <a:prstGeom prst="rect">
            <a:avLst/>
          </a:prstGeom>
          <a:solidFill>
            <a:srgbClr val="CFCD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609480" y="4857840"/>
            <a:ext cx="761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9B2F86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1714680" y="4819680"/>
            <a:ext cx="34286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2020" b="0" u="none" strike="noStrike">
                <a:solidFill>
                  <a:srgbClr val="0A0A0A"/>
                </a:solidFill>
                <a:effectLst/>
                <a:uFillTx/>
                <a:latin typeface="Aptos Display"/>
                <a:ea typeface="Aptos Display"/>
              </a:rPr>
              <a:t>A compounding moat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5429160" y="4857840"/>
            <a:ext cx="56192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18000"/>
              </a:lnSpc>
            </a:pPr>
            <a:r>
              <a:rPr lang="en-US" sz="1350" b="0" u="none" strike="noStrike">
                <a:solidFill>
                  <a:srgbClr val="6D6B65"/>
                </a:solidFill>
                <a:effectLst/>
                <a:uFillTx/>
                <a:latin typeface="Georgia"/>
                <a:ea typeface="Georgia"/>
              </a:rPr>
              <a:t>Identify the data, workflow, or feedback loop that improves with every use.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ason-rule-3"/>
          <p:cNvSpPr/>
          <p:nvPr/>
        </p:nvSpPr>
        <p:spPr>
          <a:xfrm>
            <a:off x="609480" y="5600880"/>
            <a:ext cx="10438920" cy="9000"/>
          </a:xfrm>
          <a:prstGeom prst="rect">
            <a:avLst/>
          </a:prstGeom>
          <a:solidFill>
            <a:srgbClr val="CFCD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op-bar"/>
          <p:cNvSpPr/>
          <p:nvPr/>
        </p:nvSpPr>
        <p:spPr>
          <a:xfrm>
            <a:off x="0" y="0"/>
            <a:ext cx="12191760" cy="552240"/>
          </a:xfrm>
          <a:prstGeom prst="rect">
            <a:avLst/>
          </a:prstGeom>
          <a:solidFill>
            <a:srgbClr val="F4F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285840" y="171360"/>
            <a:ext cx="2476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0A0A0A"/>
                </a:solidFill>
                <a:effectLst/>
                <a:uFillTx/>
                <a:latin typeface="Aptos"/>
                <a:ea typeface="Aptos"/>
              </a:rPr>
              <a:t>✦  BUILD DAY ENTRY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7810560" y="171360"/>
            <a:ext cx="3142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6D6B65"/>
                </a:solidFill>
                <a:effectLst/>
                <a:uFillTx/>
                <a:latin typeface="Aptos"/>
                <a:ea typeface="Aptos"/>
              </a:rPr>
              <a:t>TEAM + NEXT STEP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1239560" y="171360"/>
            <a:ext cx="666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0A0A0A"/>
                </a:solidFill>
                <a:effectLst/>
                <a:uFillTx/>
                <a:latin typeface="Aptos"/>
                <a:ea typeface="Aptos"/>
              </a:rPr>
              <a:t>09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09480" y="914400"/>
            <a:ext cx="476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BDBBB4"/>
                </a:solidFill>
                <a:effectLst/>
                <a:uFillTx/>
                <a:latin typeface="Aptos"/>
                <a:ea typeface="Aptos"/>
              </a:rPr>
              <a:t>08 / CLOSE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closing-title"/>
          <p:cNvSpPr/>
          <p:nvPr/>
        </p:nvSpPr>
        <p:spPr>
          <a:xfrm>
            <a:off x="609480" y="1333440"/>
            <a:ext cx="742932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92000"/>
              </a:lnSpc>
            </a:pPr>
            <a:r>
              <a:rPr lang="en-US" sz="3970" b="0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The team can ship</a:t>
            </a:r>
            <a:endParaRPr lang="en-US" sz="3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2000"/>
              </a:lnSpc>
            </a:pPr>
            <a:r>
              <a:rPr lang="en-US" sz="3970" b="0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the next version.</a:t>
            </a:r>
            <a:endParaRPr lang="en-US" sz="3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47640" y="3333600"/>
            <a:ext cx="2857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NAME / ROLE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47640" y="3733920"/>
            <a:ext cx="31428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BDBBB4"/>
                </a:solidFill>
                <a:effectLst/>
                <a:uFillTx/>
                <a:latin typeface="Georgia"/>
                <a:ea typeface="Georgia"/>
              </a:rPr>
              <a:t>One line of unusually relevant experience.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4343400" y="3333600"/>
            <a:ext cx="2857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NAME / ROLE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4343400" y="3733920"/>
            <a:ext cx="31428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BDBBB4"/>
                </a:solidFill>
                <a:effectLst/>
                <a:uFillTx/>
                <a:latin typeface="Georgia"/>
                <a:ea typeface="Georgia"/>
              </a:rPr>
              <a:t>One line of unusually relevant experience.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8039160" y="3333600"/>
            <a:ext cx="2857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NAME / ROLE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8039160" y="3733920"/>
            <a:ext cx="31428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BDBBB4"/>
                </a:solidFill>
                <a:effectLst/>
                <a:uFillTx/>
                <a:latin typeface="Georgia"/>
                <a:ea typeface="Georgia"/>
              </a:rPr>
              <a:t>One line of unusually relevant experience.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closing-rule"/>
          <p:cNvSpPr/>
          <p:nvPr/>
        </p:nvSpPr>
        <p:spPr>
          <a:xfrm>
            <a:off x="609480" y="4705200"/>
            <a:ext cx="10438920" cy="18720"/>
          </a:xfrm>
          <a:prstGeom prst="rect">
            <a:avLst/>
          </a:prstGeom>
          <a:solidFill>
            <a:srgbClr val="9B2F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609480" y="5095800"/>
            <a:ext cx="2666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9B2F86"/>
                </a:solidFill>
                <a:effectLst/>
                <a:uFillTx/>
                <a:latin typeface="Aptos"/>
                <a:ea typeface="Aptos"/>
              </a:rPr>
              <a:t>WHAT WE NEED NEXT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609480" y="5448240"/>
            <a:ext cx="73339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 pilot partner, a technical collaborator, or one concrete decision.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8763120" y="54673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DEMO URL / QR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8763120" y="5810400"/>
            <a:ext cx="2285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>
              <a:lnSpc>
                <a:spcPct val="100000"/>
              </a:lnSpc>
            </a:pPr>
            <a:r>
              <a:rPr lang="en-US" sz="1050" b="0" u="none" strike="noStrike">
                <a:solidFill>
                  <a:srgbClr val="BDBBB4"/>
                </a:solidFill>
                <a:effectLst/>
                <a:uFillTx/>
                <a:latin typeface="Georgia"/>
                <a:ea typeface="Georgia"/>
              </a:rPr>
              <a:t>Make the final request easy to answer.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LibreOfficeDev/26.8.0.0.alpha0$MacOSX_AARCH64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2026-08-22T23:26:41Z</dcterms:created>
  <dc:creator>Walnut Exporter</dc:creator>
  <dc:description/>
  <dc:language>en-US</dc:language>
  <cp:lastModifiedBy>Walnut Exporter</cp:lastModifiedBy>
  <dcterms:modified xsi:type="dcterms:W3CDTF">2026-08-22T23:26:41Z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