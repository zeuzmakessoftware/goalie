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160ed2fbdb4e59" /><Relationship Type="http://schemas.openxmlformats.org/officeDocument/2006/relationships/extended-properties" Target="/docProps/app.xml" Id="R17570109e03b480b" /><Relationship Type="http://schemas.openxmlformats.org/officeDocument/2006/relationships/officeDocument" Target="/ppt/presentation.xml" Id="R13973dfe359641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f65219e33044ed"/>
  </p:sldMasterIdLst>
  <p:notesMasterIdLst>
    <p:notesMasterId xmlns:r="http://schemas.openxmlformats.org/officeDocument/2006/relationships" r:id="Rbef0649ca10a4f76"/>
  </p:notesMasterIdLst>
  <p:sldIdLst>
    <p:sldId xmlns:r="http://schemas.openxmlformats.org/officeDocument/2006/relationships" id="256" r:id="Rf4f29f83fd2e4bab"/>
    <p:sldId xmlns:r="http://schemas.openxmlformats.org/officeDocument/2006/relationships" id="257" r:id="Rcb046fe23cd0424c"/>
    <p:sldId xmlns:r="http://schemas.openxmlformats.org/officeDocument/2006/relationships" id="258" r:id="R80a6af35e1a94fe5"/>
    <p:sldId xmlns:r="http://schemas.openxmlformats.org/officeDocument/2006/relationships" id="259" r:id="R81127a9f6e9c4221"/>
    <p:sldId xmlns:r="http://schemas.openxmlformats.org/officeDocument/2006/relationships" id="260" r:id="R453b4cb67df44b04"/>
    <p:sldId xmlns:r="http://schemas.openxmlformats.org/officeDocument/2006/relationships" id="261" r:id="R7dab2a161aa84715"/>
    <p:sldId xmlns:r="http://schemas.openxmlformats.org/officeDocument/2006/relationships" id="262" r:id="Reed9da72baf245dd"/>
    <p:sldId xmlns:r="http://schemas.openxmlformats.org/officeDocument/2006/relationships" id="263" r:id="R97726170122c45dc"/>
    <p:sldId xmlns:r="http://schemas.openxmlformats.org/officeDocument/2006/relationships" id="264" r:id="R05650d0a83134a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fbc63ef94849e8" /><Relationship Type="http://schemas.openxmlformats.org/officeDocument/2006/relationships/slideMaster" Target="/ppt/slideMasters/slideMaster1.xml" Id="R36f65219e33044ed" /><Relationship Type="http://schemas.openxmlformats.org/officeDocument/2006/relationships/notesMaster" Target="/ppt/notesMasters/notesMaster1.xml" Id="Rbef0649ca10a4f76" /><Relationship Type="http://schemas.openxmlformats.org/officeDocument/2006/relationships/presProps" Target="/ppt/presProps.xml" Id="Ra2b3c950b8954fda" /><Relationship Type="http://schemas.openxmlformats.org/officeDocument/2006/relationships/tableStyles" Target="/ppt/tableStyles.xml" Id="R2949d34152454442" /><Relationship Type="http://schemas.openxmlformats.org/officeDocument/2006/relationships/slide" Target="/ppt/slides/slide1.xml" Id="Rf4f29f83fd2e4bab" /><Relationship Type="http://schemas.openxmlformats.org/officeDocument/2006/relationships/slide" Target="/ppt/slides/slide2.xml" Id="Rcb046fe23cd0424c" /><Relationship Type="http://schemas.openxmlformats.org/officeDocument/2006/relationships/slide" Target="/ppt/slides/slide3.xml" Id="R80a6af35e1a94fe5" /><Relationship Type="http://schemas.openxmlformats.org/officeDocument/2006/relationships/slide" Target="/ppt/slides/slide4.xml" Id="R81127a9f6e9c4221" /><Relationship Type="http://schemas.openxmlformats.org/officeDocument/2006/relationships/slide" Target="/ppt/slides/slide5.xml" Id="R453b4cb67df44b04" /><Relationship Type="http://schemas.openxmlformats.org/officeDocument/2006/relationships/slide" Target="/ppt/slides/slide6.xml" Id="R7dab2a161aa84715" /><Relationship Type="http://schemas.openxmlformats.org/officeDocument/2006/relationships/slide" Target="/ppt/slides/slide7.xml" Id="Reed9da72baf245dd" /><Relationship Type="http://schemas.openxmlformats.org/officeDocument/2006/relationships/slide" Target="/ppt/slides/slide8.xml" Id="R97726170122c45dc" /><Relationship Type="http://schemas.openxmlformats.org/officeDocument/2006/relationships/slide" Target="/ppt/slides/slide9.xml" Id="R05650d0a83134a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1fdae39b5f47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2dfb2c3dff416f" /><Relationship Type="http://schemas.openxmlformats.org/officeDocument/2006/relationships/notesMaster" Target="/ppt/notesMasters/notesMaster1.xml" Id="Rfcc2ef64858b4d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baffbe3ffd4bde" /><Relationship Type="http://schemas.openxmlformats.org/officeDocument/2006/relationships/notesMaster" Target="/ppt/notesMasters/notesMaster1.xml" Id="R26ffd3e222b949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30c714fbd544c3" /><Relationship Type="http://schemas.openxmlformats.org/officeDocument/2006/relationships/notesMaster" Target="/ppt/notesMasters/notesMaster1.xml" Id="Re0affd0359ec41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86c3f3a5e34ca1" /><Relationship Type="http://schemas.openxmlformats.org/officeDocument/2006/relationships/notesMaster" Target="/ppt/notesMasters/notesMaster1.xml" Id="R57c011ad1fdb48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2cdc4ced554375" /><Relationship Type="http://schemas.openxmlformats.org/officeDocument/2006/relationships/notesMaster" Target="/ppt/notesMasters/notesMaster1.xml" Id="R2b841c344d1244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12c48648934687" /><Relationship Type="http://schemas.openxmlformats.org/officeDocument/2006/relationships/notesMaster" Target="/ppt/notesMasters/notesMaster1.xml" Id="R83686c3592ed42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74fc06896646df" /><Relationship Type="http://schemas.openxmlformats.org/officeDocument/2006/relationships/notesMaster" Target="/ppt/notesMasters/notesMaster1.xml" Id="Rec2321e0e17b47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2273a75f6b4607" /><Relationship Type="http://schemas.openxmlformats.org/officeDocument/2006/relationships/notesMaster" Target="/ppt/notesMasters/notesMaster1.xml" Id="Rb8cd9fe451334e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1411393dd94799" /><Relationship Type="http://schemas.openxmlformats.org/officeDocument/2006/relationships/notesMaster" Target="/ppt/notesMasters/notesMaster1.xml" Id="R51e10fd481794b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https://blog.agihouse.org/posts/long-horizon-agents-a-technical-primer (visual style reference)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OpenAI ImageGen (generated editorial hero image)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https://blog.agihouse.org/posts/long-horizon-agents-a-technical-primer (visual style reference)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https://blog.agihouse.org/posts/long-horizon-agents-a-technical-primer (visual style reference)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https://blog.agihouse.org/posts/long-horizon-agents-a-technical-primer (visual style reference)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https://blog.agihouse.org/posts/long-horizon-agents-a-technical-primer (visual style reference)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https://blog.agihouse.org/posts/long-horizon-agents-a-technical-primer (visual style reference)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https://blog.agihouse.org/posts/long-horizon-agents-a-technical-primer (visual style reference)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https://blog.agihouse.org/posts/long-horizon-agents-a-technical-primer (visual style reference)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https://blog.agihouse.org/posts/long-horizon-agents-a-technical-primer (visual style reference)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761d4473a54cb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01134DD-C049-4D63-A791-E8F0ADA059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90000"/>
              </a:lnSpc>
              <a:buNone/>
            </a:pPr>
            <a:endParaRPr sz="4400" b="0" u="none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5A7DCAB-27F7-4E42-8329-8D828512D50A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a25c2a58c143c8" /><Relationship Type="http://schemas.openxmlformats.org/officeDocument/2006/relationships/slideLayout" Target="/ppt/slideLayouts/slideLayout1.xml" Id="Rc4a8811d47ca49e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5F0A1BA-AB9E-4145-896D-B0C326AAD4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pPr indent="0" algn="l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Click to edit the title text format</a:t>
            </a:r>
            <a:endParaRPr sz="4400" b="0" u="none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468901E-743A-4535-9239-C3E39E203D6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a8811d47ca49eb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4a684921a49a1" /><Relationship Type="http://schemas.openxmlformats.org/officeDocument/2006/relationships/image" Target="/ppt/media/image.png" Id="Rc81ba64422484a99" /><Relationship Type="http://schemas.openxmlformats.org/officeDocument/2006/relationships/notesSlide" Target="/ppt/notesSlides/notesSlide1.xml" Id="R908139b2ae3a48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3db7ad8a44319" /><Relationship Type="http://schemas.openxmlformats.org/officeDocument/2006/relationships/notesSlide" Target="/ppt/notesSlides/notesSlide2.xml" Id="R3d55ed9d7a184f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215485dd94afa" /><Relationship Type="http://schemas.openxmlformats.org/officeDocument/2006/relationships/notesSlide" Target="/ppt/notesSlides/notesSlide3.xml" Id="R1c0e4c01bffc4a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f839068ba40d2" /><Relationship Type="http://schemas.openxmlformats.org/officeDocument/2006/relationships/notesSlide" Target="/ppt/notesSlides/notesSlide4.xml" Id="R7296c9a4911246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0fed9c7a94a8e" /><Relationship Type="http://schemas.openxmlformats.org/officeDocument/2006/relationships/notesSlide" Target="/ppt/notesSlides/notesSlide5.xml" Id="R27ae444d200c4d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fea5964a743e0" /><Relationship Type="http://schemas.openxmlformats.org/officeDocument/2006/relationships/notesSlide" Target="/ppt/notesSlides/notesSlide6.xml" Id="R89227844e7c149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a727d98a14a80" /><Relationship Type="http://schemas.openxmlformats.org/officeDocument/2006/relationships/notesSlide" Target="/ppt/notesSlides/notesSlide7.xml" Id="Rc8418c1babb64d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f19c01c314a23" /><Relationship Type="http://schemas.openxmlformats.org/officeDocument/2006/relationships/notesSlide" Target="/ppt/notesSlides/notesSlide8.xml" Id="Rb8e49b9cf9d243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0e301339e45b5" /><Relationship Type="http://schemas.openxmlformats.org/officeDocument/2006/relationships/notesSlide" Target="/ppt/notesSlides/notesSlide9.xml" Id="R7e31e67803684b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bar">
            <a:extLst xmlns:a="http://schemas.openxmlformats.org/drawingml/2006/main">
              <a:ext uri="{FF2B5EF4-FFF2-40B4-BE49-F238E27FC236}">
                <a16:creationId xmlns:a16="http://schemas.microsoft.com/office/drawing/2014/main" id="{225C86D2-4548-4CEB-AE7F-CA5A68B8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552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A3F3C-6268-4AEB-BE85-B7A4C872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40" y="171360"/>
            <a:ext cx="247608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✦  BUILD DAY ENTRY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8E4EC-4B19-4C90-843E-1E07B7C1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60" y="171360"/>
            <a:ext cx="314280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0" u="none">
                <a:solidFill>
                  <a:srgbClr val="C9C7C0"/>
                </a:solidFill>
                <a:latin typeface="Aptos"/>
                <a:ea typeface="Aptos"/>
                <a:cs typeface="Aptos"/>
              </a:rPr>
              <a:t>COVER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F606C4-8227-4CE7-AD67-2808439D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60" y="171360"/>
            <a:ext cx="66636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8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2AD3D-B09C-4394-A915-4463EA5B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914400"/>
            <a:ext cx="4762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80" b="1" u="none">
                <a:solidFill>
                  <a:srgbClr val="6D6B65"/>
                </a:solidFill>
                <a:latin typeface="Aptos"/>
                <a:ea typeface="Aptos"/>
                <a:cs typeface="Aptos"/>
              </a:rPr>
              <a:t>LONG-HORIZON AGENTS BUILD DAY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project-name">
            <a:extLst xmlns:a="http://schemas.openxmlformats.org/drawingml/2006/main">
              <a:ext uri="{FF2B5EF4-FFF2-40B4-BE49-F238E27FC236}">
                <a16:creationId xmlns:a16="http://schemas.microsoft.com/office/drawing/2014/main" id="{CCAF069F-CF15-497E-AB86-49E6547D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85920"/>
            <a:ext cx="9715320" cy="1123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4650" b="0" u="none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PROJECT NAME</a:t>
            </a:r>
            <a:endParaRPr sz="4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one-line-value-proposition">
            <a:extLst xmlns:a="http://schemas.openxmlformats.org/drawingml/2006/main">
              <a:ext uri="{FF2B5EF4-FFF2-40B4-BE49-F238E27FC236}">
                <a16:creationId xmlns:a16="http://schemas.microsoft.com/office/drawing/2014/main" id="{7192AD5A-9C16-418A-B90D-2CC7755B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40" y="2543040"/>
            <a:ext cx="8096040" cy="62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1800" b="0" u="none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One sentence that makes the product impossible to misunderstand.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B0B150-580A-419A-B9ED-CDE3F8B4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40" y="3371760"/>
            <a:ext cx="4762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80" b="1" u="none">
                <a:solidFill>
                  <a:srgbClr val="6D6B65"/>
                </a:solidFill>
                <a:latin typeface="Aptos"/>
                <a:ea typeface="Aptos"/>
                <a:cs typeface="Aptos"/>
              </a:rPr>
              <a:t>TEAM NAME  ·  AUG 22, 2026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1ba64422484a99"/>
          <a:srcRect xmlns:a="http://schemas.openxmlformats.org/drawingml/2006/main" l="0" t="27646" r="0" b="27646"/>
          <a:stretch xmlns:a="http://schemas.openxmlformats.org/drawingml/2006/main"/>
        </p:blipFill>
        <p:spPr>
          <a:xfrm xmlns:a="http://schemas.openxmlformats.org/drawingml/2006/main">
            <a:off x="0" y="3790800"/>
            <a:ext cx="12191760" cy="30668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1" name="hero-caption-band">
            <a:extLst xmlns:a="http://schemas.openxmlformats.org/drawingml/2006/main">
              <a:ext uri="{FF2B5EF4-FFF2-40B4-BE49-F238E27FC236}">
                <a16:creationId xmlns:a16="http://schemas.microsoft.com/office/drawing/2014/main" id="{9727766D-83CE-4419-90CC-BE98C05A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76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80000"/>
            </a:srgbClr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8B293D-F857-45DA-AC1E-F3A667D1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20" y="6534000"/>
            <a:ext cx="342864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HACKATHON ENTRY TEMPLATE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6DBB1A-C827-4A73-83A6-16358FC2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680" y="6534000"/>
            <a:ext cx="438120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820" b="0" u="none">
                <a:solidFill>
                  <a:srgbClr val="D8D7D1"/>
                </a:solidFill>
                <a:latin typeface="Aptos"/>
                <a:ea typeface="Aptos"/>
                <a:cs typeface="Aptos"/>
              </a:rPr>
              <a:t>REPLACE EVERY PLACEHOLDER BEFORE PRESENTING</a:t>
            </a:r>
            <a:endParaRPr sz="8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83176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bar">
            <a:extLst xmlns:a="http://schemas.openxmlformats.org/drawingml/2006/main">
              <a:ext uri="{FF2B5EF4-FFF2-40B4-BE49-F238E27FC236}">
                <a16:creationId xmlns:a16="http://schemas.microsoft.com/office/drawing/2014/main" id="{768C7AEB-BB5C-4330-B0D6-A899D2FC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552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338D9F-BB28-4058-B044-5279C6CE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40" y="171360"/>
            <a:ext cx="247608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✦  BUILD DAY ENTRY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D546F9-A159-4159-B3F7-DFE9FE40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60" y="171360"/>
            <a:ext cx="314280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0" u="none">
                <a:solidFill>
                  <a:srgbClr val="C9C7C0"/>
                </a:solidFill>
                <a:latin typeface="Aptos"/>
                <a:ea typeface="Aptos"/>
                <a:cs typeface="Aptos"/>
              </a:rPr>
              <a:t>PROBLEM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7CF447-044C-4BC3-BB82-8B6115B0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60" y="171360"/>
            <a:ext cx="66636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8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C06A76-2524-4F1B-A208-58D269D9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952560"/>
            <a:ext cx="161892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 u="none">
                <a:solidFill>
                  <a:srgbClr val="0A0A0A"/>
                </a:solidFill>
                <a:latin typeface="Aptos"/>
                <a:ea typeface="Aptos"/>
                <a:cs typeface="Aptos"/>
              </a:rPr>
              <a:t>CONTENTS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4B800A-ADAA-401C-BBB2-3E43B4CF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380960"/>
            <a:ext cx="1428480" cy="1618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200" b="0" u="none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Problem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200" b="0" u="none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Who feels it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200" b="0" u="none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Why it persists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200" b="0" u="none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What it costs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editorial-rule">
            <a:extLst xmlns:a="http://schemas.openxmlformats.org/drawingml/2006/main">
              <a:ext uri="{FF2B5EF4-FFF2-40B4-BE49-F238E27FC236}">
                <a16:creationId xmlns:a16="http://schemas.microsoft.com/office/drawing/2014/main" id="{47B87530-A72F-41D4-8B85-F756E7B8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20" y="1028880"/>
            <a:ext cx="9000" cy="485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DC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8034ED-AF67-4991-B19E-6EC0D9FB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760" y="933480"/>
            <a:ext cx="4762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80" b="1" u="none">
                <a:solidFill>
                  <a:srgbClr val="6D6B65"/>
                </a:solidFill>
                <a:latin typeface="Aptos"/>
                <a:ea typeface="Aptos"/>
                <a:cs typeface="Aptos"/>
              </a:rPr>
              <a:t>01 / PROBLEM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F35F2074-8ACD-496E-ABFD-7F614ED6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760" y="1333440"/>
            <a:ext cx="8572320" cy="1352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</a:pPr>
            <a:r>
              <a:rPr sz="3600" b="0" u="none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The problem is visible.</a:t>
            </a:r>
            <a:endParaRPr sz="3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94000"/>
              </a:lnSpc>
              <a:buNone/>
            </a:pPr>
            <a:r>
              <a:rPr sz="3600" b="0" u="none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The cost is compounding.</a:t>
            </a:r>
            <a:endParaRPr sz="3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A20BF8-D4CB-45EC-BFED-7CCDA059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760" y="2971800"/>
            <a:ext cx="742932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</a:pPr>
            <a:r>
              <a:rPr sz="1650" b="0" u="none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Describe the user, the moment the workflow breaks, and why existing solutions still leave the hard part unresolved.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primary-problem-metric">
            <a:extLst xmlns:a="http://schemas.openxmlformats.org/drawingml/2006/main">
              <a:ext uri="{FF2B5EF4-FFF2-40B4-BE49-F238E27FC236}">
                <a16:creationId xmlns:a16="http://schemas.microsoft.com/office/drawing/2014/main" id="{EE41A03C-66AE-47B8-882F-1964A0F6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760" y="4305240"/>
            <a:ext cx="247608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5400" b="0" u="none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XX%</a:t>
            </a:r>
            <a:endParaRPr sz="5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91CDCF-B366-4CD9-B065-EA03F266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160" y="4438800"/>
            <a:ext cx="5333760" cy="666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130" b="0" u="none">
                <a:solidFill>
                  <a:srgbClr val="6D6B65"/>
                </a:solidFill>
                <a:latin typeface="Aptos"/>
                <a:ea typeface="Aptos"/>
                <a:cs typeface="Aptos"/>
              </a:rPr>
              <a:t>PRIMARY COST OR FAILURE RATE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130" b="0" u="none">
                <a:solidFill>
                  <a:srgbClr val="6D6B65"/>
                </a:solidFill>
                <a:latin typeface="Aptos"/>
                <a:ea typeface="Aptos"/>
                <a:cs typeface="Aptos"/>
              </a:rPr>
              <a:t>Add the source and sample size in one line.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179E0DA3-181A-4FE3-8FA8-37628D84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760" y="5524560"/>
            <a:ext cx="8143560" cy="1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2F8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25920" rIns="90000" bIns="-259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421F2B-8C8D-4572-9F04-523797A5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760" y="5667480"/>
            <a:ext cx="809604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0" i="1" u="none">
                <a:solidFill>
                  <a:srgbClr val="6D6B65"/>
                </a:solidFill>
                <a:latin typeface="Aptos"/>
                <a:ea typeface="Aptos"/>
                <a:cs typeface="Aptos"/>
              </a:rPr>
              <a:t>The audience should feel the problem before they hear the feature list.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43739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op-bar">
            <a:extLst xmlns:a="http://schemas.openxmlformats.org/drawingml/2006/main">
              <a:ext uri="{FF2B5EF4-FFF2-40B4-BE49-F238E27FC236}">
                <a16:creationId xmlns:a16="http://schemas.microsoft.com/office/drawing/2014/main" id="{6986C3D5-D6B0-43C3-B213-FBB1219C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552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E291FE-B509-474E-BF0D-803F71F3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40" y="171360"/>
            <a:ext cx="247608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✦  BUILD DAY ENTRY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DA2C07-B7A1-4C04-887E-2236858B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60" y="171360"/>
            <a:ext cx="314280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0" u="none">
                <a:solidFill>
                  <a:srgbClr val="C9C7C0"/>
                </a:solidFill>
                <a:latin typeface="Aptos"/>
                <a:ea typeface="Aptos"/>
                <a:cs typeface="Aptos"/>
              </a:rPr>
              <a:t>INSIGHT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D34734-7AA2-48F8-92A4-018046FE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60" y="171360"/>
            <a:ext cx="66636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8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77A5E3-4705-4848-AE3D-A4D6C5CB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876240"/>
            <a:ext cx="4762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80" b="1" u="none">
                <a:solidFill>
                  <a:srgbClr val="6D6B65"/>
                </a:solidFill>
                <a:latin typeface="Aptos"/>
                <a:ea typeface="Aptos"/>
                <a:cs typeface="Aptos"/>
              </a:rPr>
              <a:t>02 / THE INSIGHT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core-insight">
            <a:extLst xmlns:a="http://schemas.openxmlformats.org/drawingml/2006/main">
              <a:ext uri="{FF2B5EF4-FFF2-40B4-BE49-F238E27FC236}">
                <a16:creationId xmlns:a16="http://schemas.microsoft.com/office/drawing/2014/main" id="{574122E3-1863-43FD-AE0B-35B1B58F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00" y="1762200"/>
            <a:ext cx="10096200" cy="171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</a:pPr>
            <a:r>
              <a:rPr sz="3820" b="0" u="none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“The non-obvious thing</a:t>
            </a:r>
            <a:endParaRPr sz="38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3000"/>
              </a:lnSpc>
              <a:buNone/>
            </a:pPr>
            <a:r>
              <a:rPr sz="3820" b="0" u="none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we learned goes here.”</a:t>
            </a:r>
            <a:endParaRPr sz="38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accent-rule">
            <a:extLst xmlns:a="http://schemas.openxmlformats.org/drawingml/2006/main">
              <a:ext uri="{FF2B5EF4-FFF2-40B4-BE49-F238E27FC236}">
                <a16:creationId xmlns:a16="http://schemas.microsoft.com/office/drawing/2014/main" id="{B7006359-8035-45F0-ABD8-1965658D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20" y="4000680"/>
            <a:ext cx="4000320" cy="1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2F8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25920" rIns="90000" bIns="-259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55BD73-9075-4653-9793-F4C7EC9C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840" y="4400640"/>
            <a:ext cx="7048080" cy="666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500" b="0" u="none">
                <a:solidFill>
                  <a:srgbClr val="6D6B65"/>
                </a:solidFill>
                <a:latin typeface="Aptos"/>
                <a:ea typeface="Aptos"/>
                <a:cs typeface="Aptos"/>
              </a:rPr>
              <a:t>Explain why this insight changes the design of the product—not merely how you describe it.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5D1B49-DBC6-4D35-BFED-11713334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80" y="5619600"/>
            <a:ext cx="438120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00" b="1" u="none">
                <a:solidFill>
                  <a:srgbClr val="9B2F86"/>
                </a:solidFill>
                <a:latin typeface="Aptos"/>
                <a:ea typeface="Aptos"/>
                <a:cs typeface="Aptos"/>
              </a:rPr>
              <a:t>EVIDENCE / OBSERVATION / USER QUOTE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7210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op-bar">
            <a:extLst xmlns:a="http://schemas.openxmlformats.org/drawingml/2006/main">
              <a:ext uri="{FF2B5EF4-FFF2-40B4-BE49-F238E27FC236}">
                <a16:creationId xmlns:a16="http://schemas.microsoft.com/office/drawing/2014/main" id="{3CECD844-E81A-41E4-AAC3-54D05BEB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552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E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5CC6CD-6AB5-4E50-AA57-A7E8043E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40" y="171360"/>
            <a:ext cx="247608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 u="none">
                <a:solidFill>
                  <a:srgbClr val="0A0A0A"/>
                </a:solidFill>
                <a:latin typeface="Aptos"/>
                <a:ea typeface="Aptos"/>
                <a:cs typeface="Aptos"/>
              </a:rPr>
              <a:t>✦  BUILD DAY ENTRY</a:t>
            </a:r>
            <a:endParaRPr sz="10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E5E679-3577-4452-B520-BB33DDE9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60" y="171360"/>
            <a:ext cx="314280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0" u="none">
                <a:solidFill>
                  <a:srgbClr val="6D6B65"/>
                </a:solidFill>
                <a:latin typeface="Aptos"/>
                <a:ea typeface="Aptos"/>
                <a:cs typeface="Aptos"/>
              </a:rPr>
              <a:t>SOLUTION</a:t>
            </a:r>
            <a:endParaRPr sz="9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6F300C4-0EBD-4A0A-9576-32E7F39A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60" y="171360"/>
            <a:ext cx="66636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80" b="1" u="none">
                <a:solidFill>
                  <a:srgbClr val="0A0A0A"/>
                </a:solidFill>
                <a:latin typeface="Aptos"/>
                <a:ea typeface="Aptos"/>
                <a:cs typeface="Aptos"/>
              </a:rPr>
              <a:t>04</a:t>
            </a:r>
            <a:endParaRPr sz="9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1A2684-E5BF-463F-9430-0D6F65C7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914400"/>
            <a:ext cx="4762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80" b="1" u="none">
                <a:solidFill>
                  <a:srgbClr val="BDBBB4"/>
                </a:solidFill>
                <a:latin typeface="Aptos"/>
                <a:ea typeface="Aptos"/>
                <a:cs typeface="Aptos"/>
              </a:rPr>
              <a:t>03 / SOLUTION</a:t>
            </a:r>
            <a:endParaRPr sz="9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olution-title">
            <a:extLst xmlns:a="http://schemas.openxmlformats.org/drawingml/2006/main">
              <a:ext uri="{FF2B5EF4-FFF2-40B4-BE49-F238E27FC236}">
                <a16:creationId xmlns:a16="http://schemas.microsoft.com/office/drawing/2014/main" id="{D6BC9944-4F39-4646-A9B4-F943CF2E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333440"/>
            <a:ext cx="933408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450" b="0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focused system that closes the loop.</a:t>
            </a:r>
            <a:endParaRPr sz="34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A07576D-A1B1-45F9-BE66-D88B2505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2152800"/>
            <a:ext cx="6667200" cy="361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u="none">
                <a:solidFill>
                  <a:srgbClr val="D5D3CC"/>
                </a:solidFill>
                <a:latin typeface="Georgia"/>
                <a:ea typeface="Georgia"/>
                <a:cs typeface="Georgia"/>
              </a:rPr>
              <a:t>Replace these three verbs with the core behavior of your product.</a:t>
            </a:r>
            <a:endParaRPr sz="13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process-line">
            <a:extLst xmlns:a="http://schemas.openxmlformats.org/drawingml/2006/main">
              <a:ext uri="{FF2B5EF4-FFF2-40B4-BE49-F238E27FC236}">
                <a16:creationId xmlns:a16="http://schemas.microsoft.com/office/drawing/2014/main" id="{224DF94E-CD4A-465F-B1BB-ADF54DDA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400" y="3676680"/>
            <a:ext cx="8096040" cy="1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25920" rIns="90000" bIns="-259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B702DD-FBD1-4335-B5DF-1DE88D11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3333600"/>
            <a:ext cx="685440" cy="685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19050">
            <a:solidFill>
              <a:srgbClr val="FFFF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BF4B036-E845-4E2C-907E-777392D5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3533760"/>
            <a:ext cx="685440" cy="24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58514F-ED88-44F2-991E-E784E38D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40" y="4305240"/>
            <a:ext cx="247608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950" b="0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OBSERVE</a:t>
            </a:r>
            <a:endParaRPr sz="19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67EF8DF-B6AB-4FE4-9B8D-96E61233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40" y="4762440"/>
            <a:ext cx="2714400" cy="666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80" b="0" u="none">
                <a:solidFill>
                  <a:srgbClr val="C9C7C0"/>
                </a:solidFill>
                <a:latin typeface="Georgia"/>
                <a:ea typeface="Georgia"/>
                <a:cs typeface="Georgia"/>
              </a:rPr>
              <a:t>What signal enters the system?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2637C02-E912-4DB2-9018-7840292C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120" y="3333600"/>
            <a:ext cx="685440" cy="685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2F86"/>
          </a:solidFill>
          <a:ln xmlns:a="http://schemas.openxmlformats.org/drawingml/2006/main" w="19050">
            <a:solidFill>
              <a:srgbClr val="FFFF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86663EC-584E-4860-8877-FBA24E2B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120" y="3533760"/>
            <a:ext cx="685440" cy="24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5B3F553-FA19-4528-8F2C-B268A03B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040" y="4305240"/>
            <a:ext cx="247608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950" b="0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DECIDE</a:t>
            </a:r>
            <a:endParaRPr sz="19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FB01D9E-3DD1-4968-B343-F5D15DBE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040" y="4762440"/>
            <a:ext cx="2714400" cy="666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80" b="0" u="none">
                <a:solidFill>
                  <a:srgbClr val="C9C7C0"/>
                </a:solidFill>
                <a:latin typeface="Georgia"/>
                <a:ea typeface="Georgia"/>
                <a:cs typeface="Georgia"/>
              </a:rPr>
              <a:t>What reasoning or model changes the outcome?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CA35D56-D147-42D8-B64C-A92B96A7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160" y="3333600"/>
            <a:ext cx="685440" cy="685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19050">
            <a:solidFill>
              <a:srgbClr val="FFFF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D0F61BD-960E-414F-9F0A-9CA9939F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160" y="3533760"/>
            <a:ext cx="685440" cy="24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A1D5EFD-16B5-4FB3-881F-A0F6B8DA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080" y="4305240"/>
            <a:ext cx="247608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950" b="0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VERIFY</a:t>
            </a:r>
            <a:endParaRPr sz="19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0D2CFA8-22A3-47DD-9976-48E14E52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080" y="4762440"/>
            <a:ext cx="2714400" cy="666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80" b="0" u="none">
                <a:solidFill>
                  <a:srgbClr val="C9C7C0"/>
                </a:solidFill>
                <a:latin typeface="Georgia"/>
                <a:ea typeface="Georgia"/>
                <a:cs typeface="Georgia"/>
              </a:rPr>
              <a:t>How does the system know it worked?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7821119-F3E2-41B5-9E13-35334760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6114960"/>
            <a:ext cx="838152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80" b="1" u="none">
                <a:solidFill>
                  <a:srgbClr val="9B2F86"/>
                </a:solidFill>
                <a:latin typeface="Aptos"/>
                <a:ea typeface="Aptos"/>
                <a:cs typeface="Aptos"/>
              </a:rPr>
              <a:t>ONE LINE ON THE DELIGHTFUL DIFFERENCE</a:t>
            </a:r>
            <a:endParaRPr sz="9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1328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top-bar">
            <a:extLst xmlns:a="http://schemas.openxmlformats.org/drawingml/2006/main">
              <a:ext uri="{FF2B5EF4-FFF2-40B4-BE49-F238E27FC236}">
                <a16:creationId xmlns:a16="http://schemas.microsoft.com/office/drawing/2014/main" id="{C4A04375-2120-46B8-A5A6-F4C44E89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552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F1190BC-7276-4A2D-8254-22DBADB7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40" y="171360"/>
            <a:ext cx="247608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✦  BUILD DAY ENTRY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EAA2DEC-D559-4243-9263-079526E4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60" y="171360"/>
            <a:ext cx="314280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0" u="none">
                <a:solidFill>
                  <a:srgbClr val="C9C7C0"/>
                </a:solidFill>
                <a:latin typeface="Aptos"/>
                <a:ea typeface="Aptos"/>
                <a:cs typeface="Aptos"/>
              </a:rPr>
              <a:t>DEMO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9EE7095-338D-4A5C-95BD-ABD88A50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60" y="171360"/>
            <a:ext cx="66636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8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A531265-92CE-43EE-9159-3DDF76AD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876240"/>
            <a:ext cx="4762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80" b="1" u="none">
                <a:solidFill>
                  <a:srgbClr val="6D6B65"/>
                </a:solidFill>
                <a:latin typeface="Aptos"/>
                <a:ea typeface="Aptos"/>
                <a:cs typeface="Aptos"/>
              </a:rPr>
              <a:t>04 / PRODUCT DEMO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demo-title">
            <a:extLst xmlns:a="http://schemas.openxmlformats.org/drawingml/2006/main">
              <a:ext uri="{FF2B5EF4-FFF2-40B4-BE49-F238E27FC236}">
                <a16:creationId xmlns:a16="http://schemas.microsoft.com/office/drawing/2014/main" id="{AE609A34-1E04-4F1D-A589-1979D446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57480"/>
            <a:ext cx="8857800" cy="59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230" b="0" u="none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Show the product doing the hard part.</a:t>
            </a:r>
            <a:endParaRPr sz="32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roduct-demo-placeholder">
            <a:extLst xmlns:a="http://schemas.openxmlformats.org/drawingml/2006/main">
              <a:ext uri="{FF2B5EF4-FFF2-40B4-BE49-F238E27FC236}">
                <a16:creationId xmlns:a16="http://schemas.microsoft.com/office/drawing/2014/main" id="{EF026189-20B3-4CEC-BE03-7461BD89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2095560"/>
            <a:ext cx="10972440" cy="367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4C4"/>
          </a:solidFill>
          <a:ln xmlns:a="http://schemas.openxmlformats.org/drawingml/2006/main" w="9525">
            <a:solidFill>
              <a:srgbClr val="0A0A0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E423A76-D519-467A-826D-D7BD6648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60" y="3295800"/>
            <a:ext cx="571464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320" b="0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DROP PRODUCT DEMO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320" b="0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OR SCREENSHOT HERE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22F527C-FC3A-4121-B11C-4CC67317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280" y="2305080"/>
            <a:ext cx="47592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8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A3244B4-C6C2-4A93-A25B-6DF82CA0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981760"/>
            <a:ext cx="800064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Caption the moment judges should notice. Keep it specific.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0266BC0-0188-4DD2-BBE6-0B6CDC85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680" y="5981760"/>
            <a:ext cx="186660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80" b="1" u="none">
                <a:solidFill>
                  <a:srgbClr val="9B2F86"/>
                </a:solidFill>
                <a:latin typeface="Aptos"/>
                <a:ea typeface="Aptos"/>
                <a:cs typeface="Aptos"/>
              </a:rPr>
              <a:t>LIVE DEMO →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33274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top-bar">
            <a:extLst xmlns:a="http://schemas.openxmlformats.org/drawingml/2006/main">
              <a:ext uri="{FF2B5EF4-FFF2-40B4-BE49-F238E27FC236}">
                <a16:creationId xmlns:a16="http://schemas.microsoft.com/office/drawing/2014/main" id="{9C923B3F-7C58-41FF-80AB-5749AFB8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552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4C5AC2D-4096-47DC-B268-57982F13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40" y="171360"/>
            <a:ext cx="247608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✦  BUILD DAY ENTRY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C1E5B9D-A26E-4E66-8953-8BFD27C8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60" y="171360"/>
            <a:ext cx="314280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0" u="none">
                <a:solidFill>
                  <a:srgbClr val="C9C7C0"/>
                </a:solidFill>
                <a:latin typeface="Aptos"/>
                <a:ea typeface="Aptos"/>
                <a:cs typeface="Aptos"/>
              </a:rPr>
              <a:t>ARCHITECTURE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C882516-B6BD-4CDB-A76A-42C5FB57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60" y="171360"/>
            <a:ext cx="66636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8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AF402DA-00BE-4C76-BA96-C4B6401F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876240"/>
            <a:ext cx="4762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80" b="1" u="none">
                <a:solidFill>
                  <a:srgbClr val="6D6B65"/>
                </a:solidFill>
                <a:latin typeface="Aptos"/>
                <a:ea typeface="Aptos"/>
                <a:cs typeface="Aptos"/>
              </a:rPr>
              <a:t>05 / SYSTEM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1AD2A7B0-A0A5-4580-AA94-CB2798B5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95280"/>
            <a:ext cx="5333760" cy="110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</a:pPr>
            <a:r>
              <a:rPr sz="3150" b="0" u="none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The architecture protects</a:t>
            </a:r>
            <a:endParaRPr sz="3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94000"/>
              </a:lnSpc>
              <a:buNone/>
            </a:pPr>
            <a:r>
              <a:rPr sz="3150" b="0" u="none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the product promise.</a:t>
            </a:r>
            <a:endParaRPr sz="3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D6ABB71-5C86-49F1-84FD-2BC00FE4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2666880"/>
            <a:ext cx="4381200" cy="1123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</a:pPr>
            <a:r>
              <a:rPr sz="1580" b="0" u="none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Name the one technical choice that makes the demo credible: persistence, verification, latency, data access, or safety.</a:t>
            </a:r>
            <a:endParaRPr sz="15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234A148-1C28-44F1-8DB3-8EFFDB81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4334040"/>
            <a:ext cx="171432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1" u="none">
                <a:solidFill>
                  <a:srgbClr val="9B2F86"/>
                </a:solidFill>
                <a:latin typeface="Aptos"/>
                <a:ea typeface="Aptos"/>
                <a:cs typeface="Aptos"/>
              </a:rPr>
              <a:t>TECHNICAL EDGE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BB0F0AB-857E-4474-B3F5-EBCFC8B0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4648320"/>
            <a:ext cx="4095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80" b="0" u="none">
                <a:solidFill>
                  <a:srgbClr val="6D6B65"/>
                </a:solidFill>
                <a:latin typeface="Aptos"/>
                <a:ea typeface="Aptos"/>
                <a:cs typeface="Aptos"/>
              </a:rPr>
              <a:t>One concise sentence on what is genuinely hard to reproduce.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connector-1">
            <a:extLst xmlns:a="http://schemas.openxmlformats.org/drawingml/2006/main">
              <a:ext uri="{FF2B5EF4-FFF2-40B4-BE49-F238E27FC236}">
                <a16:creationId xmlns:a16="http://schemas.microsoft.com/office/drawing/2014/main" id="{397EC20A-3A3A-4981-A1FF-7954B54A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60" y="2009880"/>
            <a:ext cx="18720" cy="39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A94C4FA-C5D0-4683-B230-EDB4CBCC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160" y="1419120"/>
            <a:ext cx="666360" cy="666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3EE"/>
          </a:solidFill>
          <a:ln xmlns:a="http://schemas.openxmlformats.org/drawingml/2006/main" w="19050">
            <a:solidFill>
              <a:srgbClr val="0A0A0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AF59639-D067-4DFC-91B3-6F689BA8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160" y="1638360"/>
            <a:ext cx="66636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1" u="none">
                <a:solidFill>
                  <a:srgbClr val="0A0A0A"/>
                </a:solidFill>
                <a:latin typeface="Aptos"/>
                <a:ea typeface="Aptos"/>
                <a:cs typeface="Aptos"/>
              </a:rPr>
              <a:t>01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C129049-D16A-431C-B2C7-8D102E44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20" y="1362240"/>
            <a:ext cx="333324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INPUT</a:t>
            </a:r>
            <a:endParaRPr sz="15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7436B1E-A0F1-4D18-AD36-87CC1657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20" y="1704960"/>
            <a:ext cx="3333240" cy="361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Trigger, context, or user intent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rule-1">
            <a:extLst xmlns:a="http://schemas.openxmlformats.org/drawingml/2006/main">
              <a:ext uri="{FF2B5EF4-FFF2-40B4-BE49-F238E27FC236}">
                <a16:creationId xmlns:a16="http://schemas.microsoft.com/office/drawing/2014/main" id="{D2B4D087-3F7A-4D45-8278-8B5C340E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20" y="2143080"/>
            <a:ext cx="333324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DC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5640" rIns="90000" bIns="-35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connector-2">
            <a:extLst xmlns:a="http://schemas.openxmlformats.org/drawingml/2006/main">
              <a:ext uri="{FF2B5EF4-FFF2-40B4-BE49-F238E27FC236}">
                <a16:creationId xmlns:a16="http://schemas.microsoft.com/office/drawing/2014/main" id="{4BE6E90A-208A-4616-B9D8-E6A38680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60" y="3228840"/>
            <a:ext cx="18720" cy="39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F0AEA57-3531-4621-BD8D-FFA2E38D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160" y="2638440"/>
            <a:ext cx="666360" cy="666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3EE"/>
          </a:solidFill>
          <a:ln xmlns:a="http://schemas.openxmlformats.org/drawingml/2006/main" w="19050">
            <a:solidFill>
              <a:srgbClr val="0A0A0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C778489-3DDC-42BD-98D9-D8C6BB77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160" y="2857680"/>
            <a:ext cx="66636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1" u="none">
                <a:solidFill>
                  <a:srgbClr val="0A0A0A"/>
                </a:solidFill>
                <a:latin typeface="Aptos"/>
                <a:ea typeface="Aptos"/>
                <a:cs typeface="Aptos"/>
              </a:rPr>
              <a:t>02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0C37D9A-37A0-45D9-AFF3-6C8C8EA0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20" y="2581200"/>
            <a:ext cx="333324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AGENT LOOP</a:t>
            </a:r>
            <a:endParaRPr sz="15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A9CE943-CC41-418A-92B2-A9102571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20" y="2924280"/>
            <a:ext cx="3333240" cy="361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Plan → tool use → checkpoint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rule-2">
            <a:extLst xmlns:a="http://schemas.openxmlformats.org/drawingml/2006/main">
              <a:ext uri="{FF2B5EF4-FFF2-40B4-BE49-F238E27FC236}">
                <a16:creationId xmlns:a16="http://schemas.microsoft.com/office/drawing/2014/main" id="{4F82E1FF-32C2-48B9-A6BF-C85EAB6B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20" y="3362400"/>
            <a:ext cx="333324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DC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5640" rIns="90000" bIns="-35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connector-3">
            <a:extLst xmlns:a="http://schemas.openxmlformats.org/drawingml/2006/main">
              <a:ext uri="{FF2B5EF4-FFF2-40B4-BE49-F238E27FC236}">
                <a16:creationId xmlns:a16="http://schemas.microsoft.com/office/drawing/2014/main" id="{3FBC7912-89D1-4207-A1FE-62176826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60" y="4448160"/>
            <a:ext cx="18720" cy="39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93ED0AE-EFBD-44A2-BB34-32CA477A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160" y="3857760"/>
            <a:ext cx="666360" cy="666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2F86"/>
          </a:solidFill>
          <a:ln xmlns:a="http://schemas.openxmlformats.org/drawingml/2006/main" w="19050">
            <a:solidFill>
              <a:srgbClr val="0A0A0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C0B728C-41A8-44C6-9F84-BD8FE340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160" y="4076640"/>
            <a:ext cx="66636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5F24844-1E53-4B30-AD32-44F7CCFA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20" y="3800520"/>
            <a:ext cx="333324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VERIFIER</a:t>
            </a:r>
            <a:endParaRPr sz="15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2B9A8AE-413C-436B-8B8C-191B491E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20" y="4143240"/>
            <a:ext cx="3333240" cy="361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Environment state or metric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rule-3">
            <a:extLst xmlns:a="http://schemas.openxmlformats.org/drawingml/2006/main">
              <a:ext uri="{FF2B5EF4-FFF2-40B4-BE49-F238E27FC236}">
                <a16:creationId xmlns:a16="http://schemas.microsoft.com/office/drawing/2014/main" id="{5881543E-EA09-4E51-BE6A-76B34D54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20" y="4581360"/>
            <a:ext cx="333324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DC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5640" rIns="90000" bIns="-35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666572D-196A-42D6-ADA2-966A5166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160" y="5076720"/>
            <a:ext cx="666360" cy="666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3EE"/>
          </a:solidFill>
          <a:ln xmlns:a="http://schemas.openxmlformats.org/drawingml/2006/main" w="19050">
            <a:solidFill>
              <a:srgbClr val="0A0A0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CA89117-1621-4DE3-AEA0-CCF68016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160" y="5295960"/>
            <a:ext cx="66636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1" u="none">
                <a:solidFill>
                  <a:srgbClr val="0A0A0A"/>
                </a:solidFill>
                <a:latin typeface="Aptos"/>
                <a:ea typeface="Aptos"/>
                <a:cs typeface="Aptos"/>
              </a:rPr>
              <a:t>04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E49BD4A-1B05-4C25-9817-DFC2A935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20" y="5019840"/>
            <a:ext cx="333324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OUTCOME</a:t>
            </a:r>
            <a:endParaRPr sz="15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31455AD-C242-46D4-935E-3F6D94A4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20" y="5362560"/>
            <a:ext cx="3333240" cy="361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Action the user can trust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rule-4">
            <a:extLst xmlns:a="http://schemas.openxmlformats.org/drawingml/2006/main">
              <a:ext uri="{FF2B5EF4-FFF2-40B4-BE49-F238E27FC236}">
                <a16:creationId xmlns:a16="http://schemas.microsoft.com/office/drawing/2014/main" id="{DDAA2FCC-9E15-447A-927B-8B556BE2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20" y="5800680"/>
            <a:ext cx="333324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DC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5640" rIns="90000" bIns="-35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65221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top-bar">
            <a:extLst xmlns:a="http://schemas.openxmlformats.org/drawingml/2006/main">
              <a:ext uri="{FF2B5EF4-FFF2-40B4-BE49-F238E27FC236}">
                <a16:creationId xmlns:a16="http://schemas.microsoft.com/office/drawing/2014/main" id="{B3F28A00-AFD5-495E-9892-CB87F8CC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552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629EEEC-1ACB-49DE-8622-7CA934AD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40" y="171360"/>
            <a:ext cx="247608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✦  BUILD DAY ENTRY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658003F-5B1B-494B-83FE-5F5898EE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60" y="171360"/>
            <a:ext cx="314280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0" u="none">
                <a:solidFill>
                  <a:srgbClr val="C9C7C0"/>
                </a:solidFill>
                <a:latin typeface="Aptos"/>
                <a:ea typeface="Aptos"/>
                <a:cs typeface="Aptos"/>
              </a:rPr>
              <a:t>EVIDENCE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683C44D-821B-4B25-9C61-F4FFB6FB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60" y="171360"/>
            <a:ext cx="66636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8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07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8C1CF46-1C29-44FB-A5FA-732BC1AC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876240"/>
            <a:ext cx="4762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80" b="1" u="none">
                <a:solidFill>
                  <a:srgbClr val="6D6B65"/>
                </a:solidFill>
                <a:latin typeface="Aptos"/>
                <a:ea typeface="Aptos"/>
                <a:cs typeface="Aptos"/>
              </a:rPr>
              <a:t>06 / MEASUREMENT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4E37611B-3D22-4DBB-B64A-150BB293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85920"/>
            <a:ext cx="952452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450" b="0" u="none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A credible win in one honest measurement.</a:t>
            </a:r>
            <a:endParaRPr sz="3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63E6E2E-D91C-4353-9BD0-17197BED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2476440"/>
            <a:ext cx="22856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80" b="1" u="none">
                <a:solidFill>
                  <a:srgbClr val="9B2F86"/>
                </a:solidFill>
                <a:latin typeface="Aptos"/>
                <a:ea typeface="Aptos"/>
                <a:cs typeface="Aptos"/>
              </a:rPr>
              <a:t>PRIMARY METRIC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primary-success-metric">
            <a:extLst xmlns:a="http://schemas.openxmlformats.org/drawingml/2006/main">
              <a:ext uri="{FF2B5EF4-FFF2-40B4-BE49-F238E27FC236}">
                <a16:creationId xmlns:a16="http://schemas.microsoft.com/office/drawing/2014/main" id="{FD502C57-E8EB-4843-B60A-4C7633B1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2857680"/>
            <a:ext cx="34286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6600" b="0" u="none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XX%</a:t>
            </a:r>
            <a:endParaRPr sz="6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946F24F-7BFE-4DA7-8189-97D7811F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4172040"/>
            <a:ext cx="400032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</a:pPr>
            <a:r>
              <a:rPr sz="1500" b="0" u="none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Describe what changed, compared with what baseline, over what sample.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metric-divider">
            <a:extLst xmlns:a="http://schemas.openxmlformats.org/drawingml/2006/main">
              <a:ext uri="{FF2B5EF4-FFF2-40B4-BE49-F238E27FC236}">
                <a16:creationId xmlns:a16="http://schemas.microsoft.com/office/drawing/2014/main" id="{C0FFAF7D-9054-4596-9B27-C55A7FCB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680" y="2400480"/>
            <a:ext cx="9000" cy="314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DC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7EBE7EA-2222-4F29-A399-86F6A0D4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2381400"/>
            <a:ext cx="1809360" cy="51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150" b="0" u="none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XX×</a:t>
            </a:r>
            <a:endParaRPr sz="3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29181A7-4524-4A78-865F-D8CE903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60" y="2419200"/>
            <a:ext cx="180936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80" b="1" u="none">
                <a:solidFill>
                  <a:srgbClr val="9B2F86"/>
                </a:solidFill>
                <a:latin typeface="Aptos"/>
                <a:ea typeface="Aptos"/>
                <a:cs typeface="Aptos"/>
              </a:rPr>
              <a:t>FASTER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81C6989-24B9-47C3-8629-A44E29E1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60" y="2705040"/>
            <a:ext cx="333324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Time-to-result versus baseline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7540FEF9-B775-45C1-AFA4-292F72B7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3238560"/>
            <a:ext cx="514332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DC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5640" rIns="90000" bIns="-35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03E7737-A2F8-4A44-9BA2-69FDA819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3448080"/>
            <a:ext cx="1809360" cy="51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150" b="0" u="none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XX</a:t>
            </a:r>
            <a:endParaRPr sz="3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79D58C9-8707-422F-BC97-5ED2ACBA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60" y="3486240"/>
            <a:ext cx="180936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80" b="1" u="none">
                <a:solidFill>
                  <a:srgbClr val="9B2F86"/>
                </a:solidFill>
                <a:latin typeface="Aptos"/>
                <a:ea typeface="Aptos"/>
                <a:cs typeface="Aptos"/>
              </a:rPr>
              <a:t>RUNS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8EC27AC-87C7-4EBA-B2D7-0FC53CEE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60" y="3772080"/>
            <a:ext cx="333324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State the sample size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B0D5EDAA-46E3-4297-9CD6-BCFB75BB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4305240"/>
            <a:ext cx="514332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DC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5640" rIns="90000" bIns="-35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D65B636-7A1C-4F6B-8414-A44A3F2F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4514760"/>
            <a:ext cx="1809360" cy="51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150" b="0" u="none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XX%</a:t>
            </a:r>
            <a:endParaRPr sz="3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E35D096-6A80-4380-B6B5-E64BD14F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60" y="4552920"/>
            <a:ext cx="180936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80" b="1" u="none">
                <a:solidFill>
                  <a:srgbClr val="9B2F86"/>
                </a:solidFill>
                <a:latin typeface="Aptos"/>
                <a:ea typeface="Aptos"/>
                <a:cs typeface="Aptos"/>
              </a:rPr>
              <a:t>SUCCESS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67231B2-BCB9-4657-BAEA-4B2C9190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60" y="4838760"/>
            <a:ext cx="333324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Define success precisely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05B6BEB-6710-49F0-B9D2-0FCB9E00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5619600"/>
            <a:ext cx="514332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1" u="none">
                <a:solidFill>
                  <a:srgbClr val="6D6B65"/>
                </a:solidFill>
                <a:latin typeface="Aptos"/>
                <a:ea typeface="Aptos"/>
                <a:cs typeface="Aptos"/>
              </a:rPr>
              <a:t>REPLACE ALL SAMPLE VALUES · CITE THE SOURCE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147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top-bar">
            <a:extLst xmlns:a="http://schemas.openxmlformats.org/drawingml/2006/main">
              <a:ext uri="{FF2B5EF4-FFF2-40B4-BE49-F238E27FC236}">
                <a16:creationId xmlns:a16="http://schemas.microsoft.com/office/drawing/2014/main" id="{2BB4D22D-5B07-477F-B842-80DB6E83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552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195FC59-1827-4DCB-971D-74449DAC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40" y="171360"/>
            <a:ext cx="247608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✦  BUILD DAY ENTRY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BFFD31F-68BE-47E8-BE9B-9FABCD1B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60" y="171360"/>
            <a:ext cx="314280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0" u="none">
                <a:solidFill>
                  <a:srgbClr val="C9C7C0"/>
                </a:solidFill>
                <a:latin typeface="Aptos"/>
                <a:ea typeface="Aptos"/>
                <a:cs typeface="Aptos"/>
              </a:rPr>
              <a:t>WHY NOW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215F6E8-A592-4365-9E0A-7D545071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60" y="171360"/>
            <a:ext cx="66636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8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08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1CA664C-511A-47F5-A6FE-436FE353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876240"/>
            <a:ext cx="4762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80" b="1" u="none">
                <a:solidFill>
                  <a:srgbClr val="6D6B65"/>
                </a:solidFill>
                <a:latin typeface="Aptos"/>
                <a:ea typeface="Aptos"/>
                <a:cs typeface="Aptos"/>
              </a:rPr>
              <a:t>07 / WHY THIS WINS</a:t>
            </a:r>
            <a:endParaRPr sz="9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why-now-title">
            <a:extLst xmlns:a="http://schemas.openxmlformats.org/drawingml/2006/main">
              <a:ext uri="{FF2B5EF4-FFF2-40B4-BE49-F238E27FC236}">
                <a16:creationId xmlns:a16="http://schemas.microsoft.com/office/drawing/2014/main" id="{E38B48C1-9B59-4B1D-B6B1-9E979970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95280"/>
            <a:ext cx="742932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530" b="0" u="none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Why this idea matters now.</a:t>
            </a:r>
            <a:endParaRPr sz="35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F63CA71-5A64-47A7-BB28-DDB83275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2571840"/>
            <a:ext cx="76176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u="none">
                <a:solidFill>
                  <a:srgbClr val="9B2F86"/>
                </a:solidFill>
                <a:latin typeface="Aptos"/>
                <a:ea typeface="Aptos"/>
                <a:cs typeface="Aptos"/>
              </a:rPr>
              <a:t>01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DAD57CE-3C83-4098-969C-D1E7D544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680" y="2533680"/>
            <a:ext cx="3428640" cy="361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20" b="0" u="none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A capability shift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AE49572-B47F-417F-964C-C653DA3D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160" y="2571840"/>
            <a:ext cx="5619240" cy="51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1350" b="0" u="none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Name the model, platform, or behavior that only recently became possible.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reason-rule-1">
            <a:extLst xmlns:a="http://schemas.openxmlformats.org/drawingml/2006/main">
              <a:ext uri="{FF2B5EF4-FFF2-40B4-BE49-F238E27FC236}">
                <a16:creationId xmlns:a16="http://schemas.microsoft.com/office/drawing/2014/main" id="{796065EC-57F8-4C35-96B0-5DEE1DE5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314880"/>
            <a:ext cx="1043892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DC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5640" rIns="90000" bIns="-35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CB038ED-D9CE-4680-8341-3168A48E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714840"/>
            <a:ext cx="76176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u="none">
                <a:solidFill>
                  <a:srgbClr val="9B2F86"/>
                </a:solidFill>
                <a:latin typeface="Aptos"/>
                <a:ea typeface="Aptos"/>
                <a:cs typeface="Aptos"/>
              </a:rPr>
              <a:t>02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FB44114-EFB3-4C53-A4AA-736E9B09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680" y="3676680"/>
            <a:ext cx="3428640" cy="361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20" b="0" u="none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A distribution advantage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34066A6-8321-43F3-A279-5D9916B7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160" y="3714840"/>
            <a:ext cx="5619240" cy="51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1350" b="0" u="none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Explain how this reaches users faster than a technically similar product.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reason-rule-2">
            <a:extLst xmlns:a="http://schemas.openxmlformats.org/drawingml/2006/main">
              <a:ext uri="{FF2B5EF4-FFF2-40B4-BE49-F238E27FC236}">
                <a16:creationId xmlns:a16="http://schemas.microsoft.com/office/drawing/2014/main" id="{A6436FA6-A124-465A-B82B-763D397B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4457880"/>
            <a:ext cx="1043892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DC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5640" rIns="90000" bIns="-35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944C527-8786-4E10-9CAF-B2B6E8A8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4857840"/>
            <a:ext cx="76176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u="none">
                <a:solidFill>
                  <a:srgbClr val="9B2F86"/>
                </a:solidFill>
                <a:latin typeface="Aptos"/>
                <a:ea typeface="Aptos"/>
                <a:cs typeface="Aptos"/>
              </a:rPr>
              <a:t>03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0852FE0-3518-42FE-8BFC-4E0FED63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680" y="4819680"/>
            <a:ext cx="3428640" cy="361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20" b="0" u="none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A compounding moat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46126AB-754E-4265-AAFB-8F548D94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160" y="4857840"/>
            <a:ext cx="5619240" cy="51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1350" b="0" u="none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Identify the data, workflow, or feedback loop that improves with every use.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reason-rule-3">
            <a:extLst xmlns:a="http://schemas.openxmlformats.org/drawingml/2006/main">
              <a:ext uri="{FF2B5EF4-FFF2-40B4-BE49-F238E27FC236}">
                <a16:creationId xmlns:a16="http://schemas.microsoft.com/office/drawing/2014/main" id="{98586E54-BE90-48B9-9E76-B57C533B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600880"/>
            <a:ext cx="1043892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DC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5640" rIns="90000" bIns="-35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4478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top-bar">
            <a:extLst xmlns:a="http://schemas.openxmlformats.org/drawingml/2006/main">
              <a:ext uri="{FF2B5EF4-FFF2-40B4-BE49-F238E27FC236}">
                <a16:creationId xmlns:a16="http://schemas.microsoft.com/office/drawing/2014/main" id="{DD5F391F-81ED-4555-B4D0-14624CDE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552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E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5978813F-2538-4DE6-BE67-1B94D68F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40" y="171360"/>
            <a:ext cx="247608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 u="none">
                <a:solidFill>
                  <a:srgbClr val="0A0A0A"/>
                </a:solidFill>
                <a:latin typeface="Aptos"/>
                <a:ea typeface="Aptos"/>
                <a:cs typeface="Aptos"/>
              </a:rPr>
              <a:t>✦  BUILD DAY ENTRY</a:t>
            </a:r>
            <a:endParaRPr sz="10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27D4AF0-F73D-498C-94D5-44C57C92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60" y="171360"/>
            <a:ext cx="314280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0" u="none">
                <a:solidFill>
                  <a:srgbClr val="6D6B65"/>
                </a:solidFill>
                <a:latin typeface="Aptos"/>
                <a:ea typeface="Aptos"/>
                <a:cs typeface="Aptos"/>
              </a:rPr>
              <a:t>TEAM + NEXT STEP</a:t>
            </a:r>
            <a:endParaRPr sz="9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B1AE481D-BA03-4A88-995E-F1AE66D1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60" y="171360"/>
            <a:ext cx="66636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80" b="1" u="none">
                <a:solidFill>
                  <a:srgbClr val="0A0A0A"/>
                </a:solidFill>
                <a:latin typeface="Aptos"/>
                <a:ea typeface="Aptos"/>
                <a:cs typeface="Aptos"/>
              </a:rPr>
              <a:t>09</a:t>
            </a:r>
            <a:endParaRPr sz="9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961259F-F448-45EB-9A12-A0E6027C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914400"/>
            <a:ext cx="4762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80" b="1" u="none">
                <a:solidFill>
                  <a:srgbClr val="BDBBB4"/>
                </a:solidFill>
                <a:latin typeface="Aptos"/>
                <a:ea typeface="Aptos"/>
                <a:cs typeface="Aptos"/>
              </a:rPr>
              <a:t>08 / CLOSE</a:t>
            </a:r>
            <a:endParaRPr sz="9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9A743B6A-8AAC-4839-A38C-8E26E295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333440"/>
            <a:ext cx="7429320" cy="1428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</a:pPr>
            <a:r>
              <a:rPr sz="3970" b="0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team can ship</a:t>
            </a:r>
            <a:endParaRPr sz="397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92000"/>
              </a:lnSpc>
              <a:buNone/>
            </a:pPr>
            <a:r>
              <a:rPr sz="3970" b="0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next version.</a:t>
            </a:r>
            <a:endParaRPr sz="397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B235B1F-375F-474E-93EB-52E3E8FE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40" y="3333600"/>
            <a:ext cx="285732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NAME / ROLE</a:t>
            </a:r>
            <a:endParaRPr sz="13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F51B5C4-8754-4EB5-9548-281179D2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40" y="3733920"/>
            <a:ext cx="31428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80" b="0" u="none">
                <a:solidFill>
                  <a:srgbClr val="BDBBB4"/>
                </a:solidFill>
                <a:latin typeface="Georgia"/>
                <a:ea typeface="Georgia"/>
                <a:cs typeface="Georgia"/>
              </a:rPr>
              <a:t>One line of unusually relevant experience.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9DEF8A9-1F60-47EA-BFF2-F834E2D7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33600"/>
            <a:ext cx="285732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NAME / ROLE</a:t>
            </a:r>
            <a:endParaRPr sz="13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29AD556-2381-4A23-90DD-7C9D6317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33920"/>
            <a:ext cx="31428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80" b="0" u="none">
                <a:solidFill>
                  <a:srgbClr val="BDBBB4"/>
                </a:solidFill>
                <a:latin typeface="Georgia"/>
                <a:ea typeface="Georgia"/>
                <a:cs typeface="Georgia"/>
              </a:rPr>
              <a:t>One line of unusually relevant experience.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45EFDD0-46D2-49D0-986C-7A648A54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60" y="3333600"/>
            <a:ext cx="285732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NAME / ROLE</a:t>
            </a:r>
            <a:endParaRPr sz="13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5FB66B3-8E5E-4935-86F7-F34A4B70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60" y="3733920"/>
            <a:ext cx="31428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80" b="0" u="none">
                <a:solidFill>
                  <a:srgbClr val="BDBBB4"/>
                </a:solidFill>
                <a:latin typeface="Georgia"/>
                <a:ea typeface="Georgia"/>
                <a:cs typeface="Georgia"/>
              </a:rPr>
              <a:t>One line of unusually relevant experience.</a:t>
            </a:r>
            <a:endParaRPr sz="12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3808C748-F7A7-4382-AA1C-3E91F663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4705200"/>
            <a:ext cx="10438920" cy="1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2F8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25920" rIns="90000" bIns="-259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1BF2698-42F3-448F-B516-E703D2B3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095800"/>
            <a:ext cx="266652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80" b="1" u="none">
                <a:solidFill>
                  <a:srgbClr val="9B2F86"/>
                </a:solidFill>
                <a:latin typeface="Aptos"/>
                <a:ea typeface="Aptos"/>
                <a:cs typeface="Aptos"/>
              </a:rPr>
              <a:t>WHAT WE NEED NEXT</a:t>
            </a:r>
            <a:endParaRPr sz="98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CE82E118-EC79-42CD-83FC-46805BE9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448240"/>
            <a:ext cx="73339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 pilot partner, a technical collaborator, or one concrete decision.</a:t>
            </a: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B1F7A5DF-EFD3-426B-BEC6-DC657C4E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120" y="5467320"/>
            <a:ext cx="22856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5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 URL / QR</a:t>
            </a:r>
            <a:endParaRPr sz="10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AC909F77-CFC4-4DF0-AABA-734E6DD5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120" y="5810400"/>
            <a:ext cx="228564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50" b="0" u="none">
                <a:solidFill>
                  <a:srgbClr val="BDBBB4"/>
                </a:solidFill>
                <a:latin typeface="Georgia"/>
                <a:ea typeface="Georgia"/>
                <a:cs typeface="Georgia"/>
              </a:rPr>
              <a:t>Make the final request easy to answer.</a:t>
            </a:r>
            <a:endParaRPr sz="10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04653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2026-08-23T01:15:30.6230000Z</dcterms:created>
  <dcterms:modified xsi:type="dcterms:W3CDTF">2026-08-23T01:15:30.6230000Z</dcterms:modified>
</coreProperties>
</file>